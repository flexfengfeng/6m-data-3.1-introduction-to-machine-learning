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5"/>
  </p:sldMasterIdLst>
  <p:notesMasterIdLst>
    <p:notesMasterId r:id="rId6"/>
  </p:notesMasterIdLst>
  <p:sldIdLst>
    <p:sldId id="256" r:id="rId7"/>
    <p:sldId id="259" r:id="rId10"/>
    <p:sldId id="260" r:id="rId11"/>
    <p:sldId id="262" r:id="rId13"/>
    <p:sldId id="264" r:id="rId15"/>
    <p:sldId id="266" r:id="rId17"/>
    <p:sldId id="267" r:id="rId18"/>
    <p:sldId id="269" r:id="rId20"/>
    <p:sldId id="271" r:id="rId22"/>
    <p:sldId id="272" r:id="rId23"/>
    <p:sldId id="273" r:id="rId24"/>
    <p:sldId id="275" r:id="rId26"/>
    <p:sldId id="278" r:id="rId29"/>
    <p:sldId id="280" r:id="rId31"/>
    <p:sldId id="282" r:id="rId33"/>
  </p:sldIdLst>
  <p:sldSz cy="5143500" cx="9144000"/>
  <p:notesSz cx="6858000" cy="9144000"/>
  <p:embeddedFontLst>
    <p:embeddedFont>
      <p:font typeface="Open Sans Light"/>
      <p:regular r:id="rId34"/>
      <p:bold r:id="rId35"/>
      <p:italic r:id="rId36"/>
      <p:boldItalic r:id="rId37"/>
    </p:embeddedFont>
    <p:embeddedFont>
      <p:font typeface="Open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35">
          <p15:clr>
            <a:srgbClr val="747775"/>
          </p15:clr>
        </p15:guide>
        <p15:guide id="2" pos="2880">
          <p15:clr>
            <a:srgbClr val="747775"/>
          </p15:clr>
        </p15:guide>
        <p15:guide id="3" orient="horz" pos="153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11A3841-763E-4CBF-895E-1A5ECF4A727F}">
  <a:tblStyle styleId="{211A3841-763E-4CBF-895E-1A5ECF4A727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35" orient="horz"/>
        <p:guide pos="2880"/>
        <p:guide pos="1534"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3" Type="http://schemas.openxmlformats.org/officeDocument/2006/relationships/slide" Target="slides/slide4.xml"/><Relationship Id="rId15"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20"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6" Type="http://schemas.openxmlformats.org/officeDocument/2006/relationships/slide" Target="slides/slide12.xml"/><Relationship Id="rId29" Type="http://schemas.openxmlformats.org/officeDocument/2006/relationships/slide" Target="slides/slide13.xml"/><Relationship Id="rId31" Type="http://schemas.openxmlformats.org/officeDocument/2006/relationships/slide" Target="slides/slide14.xml"/><Relationship Id="rId33" Type="http://schemas.openxmlformats.org/officeDocument/2006/relationships/slide" Target="slides/slide15.xml"/><Relationship Id="rId34" Type="http://schemas.openxmlformats.org/officeDocument/2006/relationships/font" Target="fonts/OpenSansLight-regular.fntdata"/><Relationship Id="rId35" Type="http://schemas.openxmlformats.org/officeDocument/2006/relationships/font" Target="fonts/OpenSansLight-bold.fntdata"/><Relationship Id="rId36" Type="http://schemas.openxmlformats.org/officeDocument/2006/relationships/font" Target="fonts/OpenSansLight-italic.fntdata"/><Relationship Id="rId37" Type="http://schemas.openxmlformats.org/officeDocument/2006/relationships/font" Target="fonts/OpenSansLight-boldItalic.fntdata"/><Relationship Id="rId38" Type="http://schemas.openxmlformats.org/officeDocument/2006/relationships/font" Target="fonts/OpenSans-regular.fntdata"/><Relationship Id="rId39" Type="http://schemas.openxmlformats.org/officeDocument/2006/relationships/font" Target="fonts/OpenSans-bold.fntdata"/><Relationship Id="rId40" Type="http://schemas.openxmlformats.org/officeDocument/2006/relationships/font" Target="fonts/OpenSans-italic.fntdata"/><Relationship Id="rId41" Type="http://schemas.openxmlformats.org/officeDocument/2006/relationships/font" Target="fonts/Open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345d6ec7d82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g345d6ec7d82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51" name="Google Shape;51;g345d6ec7d82_0_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a6e000d1c_0_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 name="Google Shape;74;g3ea6e000d1c_0_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75" name="Google Shape;75;g3ea6e000d1c_0_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a6e000d1c_0_1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g3ea6e000d1c_0_1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Think of this as a natural progression from our earlier modules: Module 1, Module 2, and now Module 3.</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We’ll still use the same core tools, but the questions we’re trying to answer change completely.</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GB" sz="1200">
                <a:solidFill>
                  <a:schemeClr val="dk1"/>
                </a:solidFill>
              </a:rPr>
              <a:t>Module 1: Data Analytics</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GB" sz="1200">
                <a:solidFill>
                  <a:schemeClr val="dk1"/>
                </a:solidFill>
              </a:rPr>
              <a:t>Its main job is looking back at the past — we summarise data and explain what already happened.</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GB" sz="1200">
                <a:solidFill>
                  <a:schemeClr val="dk1"/>
                </a:solidFill>
              </a:rPr>
              <a:t>Module 2: Data Engineering</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GB" sz="1200">
                <a:solidFill>
                  <a:schemeClr val="dk1"/>
                </a:solidFill>
              </a:rPr>
              <a:t>Here, we focus on moving and storing data reliably, and building stable data pipelines between different systems.</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GB" sz="1200">
                <a:solidFill>
                  <a:schemeClr val="dk1"/>
                </a:solidFill>
              </a:rPr>
              <a:t>Module 3: Machine Learning (where we are now)</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GB" sz="1200">
                <a:solidFill>
                  <a:schemeClr val="dk1"/>
                </a:solidFill>
              </a:rPr>
              <a:t>This is where we make predictions for things we haven’t seen before. We can label unknown data or forecast future outcomes that no one has manually reviewed.</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Let’s use Sarah’s daily work to illustrate this:</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She might say, “Customer reviews dropped 12% last month.” That’s classic data analytics.</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Or, “New reviews come into our warehouse system every single night.” That ties to data engineering.</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Then her manager gives her a new task: “Label 10,000 customer reviews as positive or negative.” This is where machine learning steps in.</a:t>
            </a:r>
            <a:endParaRPr sz="1200">
              <a:solidFill>
                <a:schemeClr val="dk1"/>
              </a:solidFill>
            </a:endParaRPr>
          </a:p>
          <a:p>
            <a:pPr indent="0" lvl="0" marL="0" marR="0" rtl="0" algn="l">
              <a:spcBef>
                <a:spcPts val="0"/>
              </a:spcBef>
              <a:spcAft>
                <a:spcPts val="0"/>
              </a:spcAft>
              <a:buNone/>
            </a:pPr>
            <a:r>
              <a:t/>
            </a:r>
            <a:endParaRPr sz="1200">
              <a:solidFill>
                <a:schemeClr val="dk1"/>
              </a:solidFill>
            </a:endParaRPr>
          </a:p>
        </p:txBody>
      </p:sp>
      <p:sp>
        <p:nvSpPr>
          <p:cNvPr id="85" name="Google Shape;85;g3ea6e000d1c_0_1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ea6e000d1c_0_7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g3ea6e000d1c_0_7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Let’s meet our main example for this entire module: Sarah Chen. She’s a Customer Experience Analyst at NorthStar Retail.</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Sarah is smart, motivated, and a little nervous this week — she’s about to tackle her very first real machine learning project. Her manager Priya gives her an urgent request:</a:t>
            </a:r>
            <a:endParaRPr sz="1200">
              <a:solidFill>
                <a:schemeClr val="dk1"/>
              </a:solidFill>
            </a:endParaRPr>
          </a:p>
          <a:p>
            <a:pPr indent="0" lvl="0" marL="0" rtl="0" algn="l">
              <a:lnSpc>
                <a:spcPct val="150000"/>
              </a:lnSpc>
              <a:spcBef>
                <a:spcPts val="0"/>
              </a:spcBef>
              <a:spcAft>
                <a:spcPts val="0"/>
              </a:spcAft>
              <a:buSzPts val="1100"/>
              <a:buNone/>
            </a:pPr>
            <a:r>
              <a:rPr lang="en-GB" sz="1200">
                <a:solidFill>
                  <a:schemeClr val="dk1"/>
                </a:solidFill>
              </a:rPr>
              <a:t>“By Friday, I need you to sort 10,000 customer reviews into positive and negative feedback. Reading all of these by hand would take a full work week, so find a better way.”</a:t>
            </a:r>
            <a:endParaRPr sz="1200">
              <a:solidFill>
                <a:schemeClr val="dk1"/>
              </a:solidFill>
            </a:endParaRPr>
          </a:p>
        </p:txBody>
      </p:sp>
      <p:sp>
        <p:nvSpPr>
          <p:cNvPr id="149" name="Google Shape;149;g3ea6e000d1c_0_7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ea6e000d1c_0_126: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g3ea6e000d1c_0_126: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Approach 1: Rule-Based Programming</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This is the traditional way of coding, before machine learning became widespread.</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The Workflow for Rule-Based Labeling</a:t>
            </a:r>
            <a:endParaRPr sz="1200">
              <a:solidFill>
                <a:schemeClr val="dk1"/>
              </a:solidFill>
            </a:endParaRPr>
          </a:p>
          <a:p>
            <a:pPr indent="-304800" lvl="0" marL="457200" rtl="0" algn="l">
              <a:lnSpc>
                <a:spcPct val="150000"/>
              </a:lnSpc>
              <a:spcBef>
                <a:spcPts val="0"/>
              </a:spcBef>
              <a:spcAft>
                <a:spcPts val="0"/>
              </a:spcAft>
              <a:buClr>
                <a:schemeClr val="dk1"/>
              </a:buClr>
              <a:buSzPts val="1200"/>
              <a:buAutoNum type="arabicPeriod"/>
            </a:pPr>
            <a:r>
              <a:rPr lang="en-GB" sz="1200">
                <a:solidFill>
                  <a:schemeClr val="dk1"/>
                </a:solidFill>
              </a:rPr>
              <a:t>Make a list of positive words: love, perfect, great, nice, and so on.</a:t>
            </a:r>
            <a:endParaRPr sz="1200">
              <a:solidFill>
                <a:schemeClr val="dk1"/>
              </a:solidFill>
            </a:endParaRPr>
          </a:p>
          <a:p>
            <a:pPr indent="-304800" lvl="0" marL="457200" rtl="0" algn="l">
              <a:lnSpc>
                <a:spcPct val="150000"/>
              </a:lnSpc>
              <a:spcBef>
                <a:spcPts val="0"/>
              </a:spcBef>
              <a:spcAft>
                <a:spcPts val="0"/>
              </a:spcAft>
              <a:buClr>
                <a:schemeClr val="dk1"/>
              </a:buClr>
              <a:buSzPts val="1200"/>
              <a:buAutoNum type="arabicPeriod"/>
            </a:pPr>
            <a:r>
              <a:rPr lang="en-GB" sz="1200">
                <a:solidFill>
                  <a:schemeClr val="dk1"/>
                </a:solidFill>
              </a:rPr>
              <a:t>Make a list of negative words: terrible, cheap, bad, awful, and more.</a:t>
            </a:r>
            <a:endParaRPr sz="1200">
              <a:solidFill>
                <a:schemeClr val="dk1"/>
              </a:solidFill>
            </a:endParaRPr>
          </a:p>
          <a:p>
            <a:pPr indent="-304800" lvl="0" marL="457200" rtl="0" algn="l">
              <a:lnSpc>
                <a:spcPct val="150000"/>
              </a:lnSpc>
              <a:spcBef>
                <a:spcPts val="0"/>
              </a:spcBef>
              <a:spcAft>
                <a:spcPts val="0"/>
              </a:spcAft>
              <a:buClr>
                <a:schemeClr val="dk1"/>
              </a:buClr>
              <a:buSzPts val="1200"/>
              <a:buAutoNum type="arabicPeriod"/>
            </a:pPr>
            <a:r>
              <a:rPr lang="en-GB" sz="1200">
                <a:solidFill>
                  <a:schemeClr val="dk1"/>
                </a:solidFill>
              </a:rPr>
              <a:t>For every review, count how many positive and negative words appear.</a:t>
            </a:r>
            <a:endParaRPr sz="1200">
              <a:solidFill>
                <a:schemeClr val="dk1"/>
              </a:solidFill>
            </a:endParaRPr>
          </a:p>
          <a:p>
            <a:pPr indent="-304800" lvl="0" marL="457200" rtl="0" algn="l">
              <a:lnSpc>
                <a:spcPct val="150000"/>
              </a:lnSpc>
              <a:spcBef>
                <a:spcPts val="0"/>
              </a:spcBef>
              <a:spcAft>
                <a:spcPts val="0"/>
              </a:spcAft>
              <a:buClr>
                <a:schemeClr val="dk1"/>
              </a:buClr>
              <a:buSzPts val="1200"/>
              <a:buAutoNum type="arabicPeriod"/>
            </a:pPr>
            <a:r>
              <a:rPr lang="en-GB" sz="1200">
                <a:solidFill>
                  <a:schemeClr val="dk1"/>
                </a:solidFill>
              </a:rPr>
              <a:t>Label the review based on which word count is higher.</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Traits of Rule-Based Code</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GB" sz="1200">
                <a:solidFill>
                  <a:schemeClr val="dk1"/>
                </a:solidFill>
              </a:rPr>
              <a:t>You write all the rules yourself, and the computer follows them exactly.</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GB" sz="1200">
                <a:solidFill>
                  <a:schemeClr val="dk1"/>
                </a:solidFill>
              </a:rPr>
              <a:t>Results are fixed: the same input will always give the same output.</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Major Downsides</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GB" sz="1200">
                <a:solidFill>
                  <a:schemeClr val="dk1"/>
                </a:solidFill>
              </a:rPr>
              <a:t>It only works for cases your pre-written rules cover.</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GB" sz="1200">
                <a:solidFill>
                  <a:schemeClr val="dk1"/>
                </a:solidFill>
              </a:rPr>
              <a:t>Maintaining these rules becomes an endless game of fixing new problems.</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GB" sz="1200">
                <a:solidFill>
                  <a:schemeClr val="dk1"/>
                </a:solidFill>
              </a:rPr>
              <a:t>It can never tell you how confident it is about a result.</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The code for this method is short and easy to read, but it’s very fragile. Let’s test it with a sample sentence:</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i="1" lang="en-GB" sz="1200">
                <a:solidFill>
                  <a:schemeClr val="dk1"/>
                </a:solidFill>
              </a:rPr>
              <a:t>“Terrible shipping - product itself is fine.”</a:t>
            </a:r>
            <a:endParaRPr i="1"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What result do you think this simple rule-based code will give?</a:t>
            </a:r>
            <a:endParaRPr sz="1200">
              <a:solidFill>
                <a:schemeClr val="dk1"/>
              </a:solidFill>
            </a:endParaRPr>
          </a:p>
          <a:p>
            <a:pPr indent="0" lvl="0" marL="0" marR="0" rtl="0" algn="l">
              <a:spcBef>
                <a:spcPts val="0"/>
              </a:spcBef>
              <a:spcAft>
                <a:spcPts val="0"/>
              </a:spcAft>
              <a:buNone/>
            </a:pPr>
            <a:r>
              <a:t/>
            </a:r>
            <a:endParaRPr sz="1200">
              <a:solidFill>
                <a:schemeClr val="dk1"/>
              </a:solidFill>
            </a:endParaRPr>
          </a:p>
        </p:txBody>
      </p:sp>
      <p:sp>
        <p:nvSpPr>
          <p:cNvPr id="208" name="Google Shape;208;g3ea6e000d1c_0_126: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ea6e000d1c_0_183: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g3ea6e000d1c_0_183: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Why Rule-Based Systems Fail</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Rule-based logic breaks down in three common ways, and these issues stack up to make the system unreliable:</a:t>
            </a:r>
            <a:endParaRPr sz="1200">
              <a:solidFill>
                <a:schemeClr val="dk1"/>
              </a:solidFill>
            </a:endParaRPr>
          </a:p>
          <a:p>
            <a:pPr indent="-304800" lvl="0" marL="457200" rtl="0" algn="l">
              <a:lnSpc>
                <a:spcPct val="150000"/>
              </a:lnSpc>
              <a:spcBef>
                <a:spcPts val="0"/>
              </a:spcBef>
              <a:spcAft>
                <a:spcPts val="0"/>
              </a:spcAft>
              <a:buClr>
                <a:schemeClr val="dk1"/>
              </a:buClr>
              <a:buSzPts val="1200"/>
              <a:buAutoNum type="arabicPeriod"/>
            </a:pPr>
            <a:r>
              <a:rPr lang="en-GB" sz="1200">
                <a:solidFill>
                  <a:schemeClr val="dk1"/>
                </a:solidFill>
              </a:rPr>
              <a:t>No understanding of context</a:t>
            </a:r>
            <a:endParaRPr sz="1200">
              <a:solidFill>
                <a:schemeClr val="dk1"/>
              </a:solidFill>
            </a:endParaRPr>
          </a:p>
          <a:p>
            <a:pPr indent="-304800" lvl="0" marL="457200" rtl="0" algn="l">
              <a:lnSpc>
                <a:spcPct val="150000"/>
              </a:lnSpc>
              <a:spcBef>
                <a:spcPts val="0"/>
              </a:spcBef>
              <a:spcAft>
                <a:spcPts val="0"/>
              </a:spcAft>
              <a:buClr>
                <a:schemeClr val="dk1"/>
              </a:buClr>
              <a:buSzPts val="1200"/>
              <a:buAutoNum type="arabicPeriod"/>
            </a:pPr>
            <a:r>
              <a:rPr lang="en-GB" sz="1200">
                <a:solidFill>
                  <a:schemeClr val="dk1"/>
                </a:solidFill>
              </a:rPr>
              <a:t xml:space="preserve">Take the example: </a:t>
            </a:r>
            <a:r>
              <a:rPr i="1" lang="en-GB" sz="1200">
                <a:solidFill>
                  <a:schemeClr val="dk1"/>
                </a:solidFill>
              </a:rPr>
              <a:t>“Terrible shipping - product itself is fine.”</a:t>
            </a:r>
            <a:endParaRPr i="1" sz="1200">
              <a:solidFill>
                <a:schemeClr val="dk1"/>
              </a:solidFill>
            </a:endParaRPr>
          </a:p>
          <a:p>
            <a:pPr indent="-304800" lvl="0" marL="457200" rtl="0" algn="l">
              <a:lnSpc>
                <a:spcPct val="150000"/>
              </a:lnSpc>
              <a:spcBef>
                <a:spcPts val="0"/>
              </a:spcBef>
              <a:spcAft>
                <a:spcPts val="0"/>
              </a:spcAft>
              <a:buClr>
                <a:schemeClr val="dk1"/>
              </a:buClr>
              <a:buSzPts val="1200"/>
              <a:buAutoNum type="arabicPeriod"/>
            </a:pPr>
            <a:r>
              <a:rPr lang="en-GB" sz="1200">
                <a:solidFill>
                  <a:schemeClr val="dk1"/>
                </a:solidFill>
              </a:rPr>
              <a:t>The code spots the words “terrible” and “fine”, but it cannot tell which part of the sentence each word describes. It will wrongly mark this review as negative.</a:t>
            </a:r>
            <a:endParaRPr sz="1200">
              <a:solidFill>
                <a:schemeClr val="dk1"/>
              </a:solidFill>
            </a:endParaRPr>
          </a:p>
          <a:p>
            <a:pPr indent="-304800" lvl="0" marL="457200" rtl="0" algn="l">
              <a:lnSpc>
                <a:spcPct val="150000"/>
              </a:lnSpc>
              <a:spcBef>
                <a:spcPts val="0"/>
              </a:spcBef>
              <a:spcAft>
                <a:spcPts val="0"/>
              </a:spcAft>
              <a:buClr>
                <a:schemeClr val="dk1"/>
              </a:buClr>
              <a:buSzPts val="1200"/>
              <a:buAutoNum type="arabicPeriod"/>
            </a:pPr>
            <a:r>
              <a:rPr lang="en-GB" sz="1200">
                <a:solidFill>
                  <a:schemeClr val="dk1"/>
                </a:solidFill>
              </a:rPr>
              <a:t>Negation flips the original meaning</a:t>
            </a:r>
            <a:endParaRPr sz="1200">
              <a:solidFill>
                <a:schemeClr val="dk1"/>
              </a:solidFill>
            </a:endParaRPr>
          </a:p>
          <a:p>
            <a:pPr indent="-304800" lvl="0" marL="457200" rtl="0" algn="l">
              <a:lnSpc>
                <a:spcPct val="150000"/>
              </a:lnSpc>
              <a:spcBef>
                <a:spcPts val="0"/>
              </a:spcBef>
              <a:spcAft>
                <a:spcPts val="0"/>
              </a:spcAft>
              <a:buClr>
                <a:schemeClr val="dk1"/>
              </a:buClr>
              <a:buSzPts val="1200"/>
              <a:buAutoNum type="arabicPeriod"/>
            </a:pPr>
            <a:r>
              <a:rPr lang="en-GB" sz="1200">
                <a:solidFill>
                  <a:schemeClr val="dk1"/>
                </a:solidFill>
              </a:rPr>
              <a:t xml:space="preserve">Look at this review: </a:t>
            </a:r>
            <a:r>
              <a:rPr i="1" lang="en-GB" sz="1200">
                <a:solidFill>
                  <a:schemeClr val="dk1"/>
                </a:solidFill>
              </a:rPr>
              <a:t>“Not what I expected - actually really nice in person!”</a:t>
            </a:r>
            <a:endParaRPr i="1" sz="1200">
              <a:solidFill>
                <a:schemeClr val="dk1"/>
              </a:solidFill>
            </a:endParaRPr>
          </a:p>
          <a:p>
            <a:pPr indent="-304800" lvl="0" marL="457200" rtl="0" algn="l">
              <a:lnSpc>
                <a:spcPct val="150000"/>
              </a:lnSpc>
              <a:spcBef>
                <a:spcPts val="0"/>
              </a:spcBef>
              <a:spcAft>
                <a:spcPts val="0"/>
              </a:spcAft>
              <a:buClr>
                <a:schemeClr val="dk1"/>
              </a:buClr>
              <a:buSzPts val="1200"/>
              <a:buAutoNum type="arabicPeriod"/>
            </a:pPr>
            <a:r>
              <a:rPr lang="en-GB" sz="1200">
                <a:solidFill>
                  <a:schemeClr val="dk1"/>
                </a:solidFill>
              </a:rPr>
              <a:t>The word “not” completely changes the tone, but a simple word count misses this nuance. The code will label this as neutral or even negative, which is wrong.</a:t>
            </a:r>
            <a:endParaRPr sz="1200">
              <a:solidFill>
                <a:schemeClr val="dk1"/>
              </a:solidFill>
            </a:endParaRPr>
          </a:p>
          <a:p>
            <a:pPr indent="-304800" lvl="0" marL="457200" rtl="0" algn="l">
              <a:lnSpc>
                <a:spcPct val="150000"/>
              </a:lnSpc>
              <a:spcBef>
                <a:spcPts val="0"/>
              </a:spcBef>
              <a:spcAft>
                <a:spcPts val="0"/>
              </a:spcAft>
              <a:buClr>
                <a:schemeClr val="dk1"/>
              </a:buClr>
              <a:buSzPts val="1200"/>
              <a:buAutoNum type="arabicPeriod"/>
            </a:pPr>
            <a:r>
              <a:rPr lang="en-GB" sz="1200">
                <a:solidFill>
                  <a:schemeClr val="dk1"/>
                </a:solidFill>
              </a:rPr>
              <a:t>Endless maintenance work</a:t>
            </a:r>
            <a:endParaRPr sz="1200">
              <a:solidFill>
                <a:schemeClr val="dk1"/>
              </a:solidFill>
            </a:endParaRPr>
          </a:p>
          <a:p>
            <a:pPr indent="-304800" lvl="0" marL="457200" rtl="0" algn="l">
              <a:lnSpc>
                <a:spcPct val="150000"/>
              </a:lnSpc>
              <a:spcBef>
                <a:spcPts val="0"/>
              </a:spcBef>
              <a:spcAft>
                <a:spcPts val="0"/>
              </a:spcAft>
              <a:buClr>
                <a:schemeClr val="dk1"/>
              </a:buClr>
              <a:buSzPts val="1200"/>
              <a:buAutoNum type="arabicPeriod"/>
            </a:pPr>
            <a:r>
              <a:rPr lang="en-GB" sz="1200">
                <a:solidFill>
                  <a:schemeClr val="dk1"/>
                </a:solidFill>
              </a:rPr>
              <a:t>Every new review brings new edge cases you didn’t plan for. Your word lists grow from 10 entries to 100, then 1,000. Eventually, rules start conflicting with each other, and upkeep becomes extremely time-consuming.</a:t>
            </a:r>
            <a:endParaRPr sz="1200">
              <a:solidFill>
                <a:schemeClr val="dk1"/>
              </a:solidFill>
            </a:endParaRPr>
          </a:p>
          <a:p>
            <a:pPr indent="0" lvl="0" marL="0" marR="0" rtl="0" algn="l">
              <a:spcBef>
                <a:spcPts val="0"/>
              </a:spcBef>
              <a:spcAft>
                <a:spcPts val="0"/>
              </a:spcAft>
              <a:buNone/>
            </a:pPr>
            <a:r>
              <a:t/>
            </a:r>
            <a:endParaRPr sz="1200">
              <a:solidFill>
                <a:schemeClr val="dk1"/>
              </a:solidFill>
            </a:endParaRPr>
          </a:p>
        </p:txBody>
      </p:sp>
      <p:sp>
        <p:nvSpPr>
          <p:cNvPr id="267" name="Google Shape;267;g3ea6e000d1c_0_183: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ea6e000d1c_0_217: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g3ea6e000d1c_0_217: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With machine learning, we flip the process entirely: stop writing rules, and start providing real examples instead.</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Traditional Programming</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You create a set of rules, feed in data, and the computer follows those rules to give a fixed answer.</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Input: Rules + Data → Output: Fixed result</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Machine Learning</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You share real examples (raw data + the correct answers), and the computer learns the hidden rules on its own.</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Input: Labelled examples → Output: A prediction, plus a confidence score</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GB" sz="1200">
                <a:solidFill>
                  <a:schemeClr val="dk1"/>
                </a:solidFill>
              </a:rPr>
              <a:t>To put it simply: In traditional coding, you write the rules. In machine learning, you supply examples, and the computer figures out the rules for you.</a:t>
            </a:r>
            <a:endParaRPr sz="1200">
              <a:solidFill>
                <a:schemeClr val="dk1"/>
              </a:solidFill>
            </a:endParaRPr>
          </a:p>
          <a:p>
            <a:pPr indent="0" lvl="0" marL="0" marR="0" rtl="0" algn="l">
              <a:spcBef>
                <a:spcPts val="0"/>
              </a:spcBef>
              <a:spcAft>
                <a:spcPts val="0"/>
              </a:spcAft>
              <a:buNone/>
            </a:pPr>
            <a:r>
              <a:t/>
            </a:r>
            <a:endParaRPr sz="1200">
              <a:solidFill>
                <a:schemeClr val="dk1"/>
              </a:solidFill>
            </a:endParaRPr>
          </a:p>
        </p:txBody>
      </p:sp>
      <p:sp>
        <p:nvSpPr>
          <p:cNvPr id="301" name="Google Shape;301;g3ea6e000d1c_0_217: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ea6e000d1c_0_26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 name="Google Shape;348;g3ea6e000d1c_0_26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rPr>
              <a:t>This activity will take around 30 minutes. Stop when you reach the extension section; those extra tasks are for you to work on after class at your own pace.</a:t>
            </a:r>
            <a:endParaRPr/>
          </a:p>
        </p:txBody>
      </p:sp>
      <p:sp>
        <p:nvSpPr>
          <p:cNvPr id="349" name="Google Shape;349;g3ea6e000d1c_0_26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ea6e000d1c_0_28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0" name="Google Shape;380;g3ea6e000d1c_0_285: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en-GB" sz="1200">
                <a:solidFill>
                  <a:srgbClr val="1C1F23"/>
                </a:solidFill>
              </a:rPr>
              <a:t xml:space="preserve">In plain terms: You give the model input data </a:t>
            </a:r>
            <a:r>
              <a:rPr i="1" lang="en-GB" sz="1200">
                <a:solidFill>
                  <a:srgbClr val="1C1F23"/>
                </a:solidFill>
              </a:rPr>
              <a:t>and</a:t>
            </a:r>
            <a:r>
              <a:rPr lang="en-GB" sz="1200">
                <a:solidFill>
                  <a:srgbClr val="1C1F23"/>
                </a:solidFill>
              </a:rPr>
              <a:t xml:space="preserve"> the correct answers. It learns patterns to predict answers for new, unseen data.</a:t>
            </a:r>
            <a:endParaRPr sz="1200">
              <a:solidFill>
                <a:srgbClr val="1C1F23"/>
              </a:solidFill>
            </a:endParaRPr>
          </a:p>
          <a:p>
            <a:pPr indent="0" lvl="0" marL="0" rtl="0" algn="l">
              <a:lnSpc>
                <a:spcPct val="150000"/>
              </a:lnSpc>
              <a:spcBef>
                <a:spcPts val="0"/>
              </a:spcBef>
              <a:spcAft>
                <a:spcPts val="0"/>
              </a:spcAft>
              <a:buClr>
                <a:schemeClr val="dk1"/>
              </a:buClr>
              <a:buSzPts val="1100"/>
              <a:buFont typeface="Arial"/>
              <a:buNone/>
            </a:pPr>
            <a:r>
              <a:rPr lang="en-GB" sz="1200">
                <a:solidFill>
                  <a:srgbClr val="1C1F23"/>
                </a:solidFill>
              </a:rPr>
              <a:t>Real-life analogy: A student studying past exam papers with answer keys. After practicing lots of questions, they learn the patterns and can solve brand-new questions on their own.</a:t>
            </a:r>
            <a:endParaRPr sz="1200">
              <a:solidFill>
                <a:srgbClr val="1C1F23"/>
              </a:solidFill>
            </a:endParaRPr>
          </a:p>
          <a:p>
            <a:pPr indent="0" lvl="0" marL="0" rtl="0" algn="l">
              <a:lnSpc>
                <a:spcPct val="150000"/>
              </a:lnSpc>
              <a:spcBef>
                <a:spcPts val="0"/>
              </a:spcBef>
              <a:spcAft>
                <a:spcPts val="0"/>
              </a:spcAft>
              <a:buClr>
                <a:schemeClr val="dk1"/>
              </a:buClr>
              <a:buSzPts val="1100"/>
              <a:buFont typeface="Arial"/>
              <a:buNone/>
            </a:pPr>
            <a:r>
              <a:rPr lang="en-GB" sz="1200">
                <a:solidFill>
                  <a:srgbClr val="1C1F23"/>
                </a:solidFill>
              </a:rPr>
              <a:t>Common business uses:</a:t>
            </a:r>
            <a:endParaRPr sz="1200">
              <a:solidFill>
                <a:srgbClr val="1C1F23"/>
              </a:solidFill>
            </a:endParaRPr>
          </a:p>
          <a:p>
            <a:pPr indent="-304800" lvl="0" marL="457200" rtl="0" algn="l">
              <a:lnSpc>
                <a:spcPct val="150000"/>
              </a:lnSpc>
              <a:spcBef>
                <a:spcPts val="0"/>
              </a:spcBef>
              <a:spcAft>
                <a:spcPts val="0"/>
              </a:spcAft>
              <a:buClr>
                <a:srgbClr val="1C1F23"/>
              </a:buClr>
              <a:buSzPts val="1200"/>
              <a:buChar char="●"/>
            </a:pPr>
            <a:r>
              <a:rPr lang="en-GB" sz="1200">
                <a:solidFill>
                  <a:srgbClr val="1C1F23"/>
                </a:solidFill>
              </a:rPr>
              <a:t>Predicting customer churn</a:t>
            </a:r>
            <a:endParaRPr sz="1200">
              <a:solidFill>
                <a:srgbClr val="1C1F23"/>
              </a:solidFill>
            </a:endParaRPr>
          </a:p>
          <a:p>
            <a:pPr indent="-304800" lvl="0" marL="457200" rtl="0" algn="l">
              <a:lnSpc>
                <a:spcPct val="150000"/>
              </a:lnSpc>
              <a:spcBef>
                <a:spcPts val="0"/>
              </a:spcBef>
              <a:spcAft>
                <a:spcPts val="0"/>
              </a:spcAft>
              <a:buClr>
                <a:srgbClr val="1C1F23"/>
              </a:buClr>
              <a:buSzPts val="1200"/>
              <a:buChar char="●"/>
            </a:pPr>
            <a:r>
              <a:rPr lang="en-GB" sz="1200">
                <a:solidFill>
                  <a:srgbClr val="1C1F23"/>
                </a:solidFill>
              </a:rPr>
              <a:t>Fraud detection</a:t>
            </a:r>
            <a:endParaRPr sz="1200">
              <a:solidFill>
                <a:srgbClr val="1C1F23"/>
              </a:solidFill>
            </a:endParaRPr>
          </a:p>
          <a:p>
            <a:pPr indent="-304800" lvl="0" marL="457200" rtl="0" algn="l">
              <a:lnSpc>
                <a:spcPct val="150000"/>
              </a:lnSpc>
              <a:spcBef>
                <a:spcPts val="0"/>
              </a:spcBef>
              <a:spcAft>
                <a:spcPts val="0"/>
              </a:spcAft>
              <a:buClr>
                <a:srgbClr val="1C1F23"/>
              </a:buClr>
              <a:buSzPts val="1200"/>
              <a:buChar char="●"/>
            </a:pPr>
            <a:r>
              <a:rPr lang="en-GB" sz="1200">
                <a:solidFill>
                  <a:srgbClr val="1C1F23"/>
                </a:solidFill>
              </a:rPr>
              <a:t>Demand forecasting</a:t>
            </a:r>
            <a:endParaRPr sz="1200">
              <a:solidFill>
                <a:srgbClr val="1C1F23"/>
              </a:solidFill>
            </a:endParaRPr>
          </a:p>
          <a:p>
            <a:pPr indent="-304800" lvl="0" marL="457200" rtl="0" algn="l">
              <a:lnSpc>
                <a:spcPct val="150000"/>
              </a:lnSpc>
              <a:spcBef>
                <a:spcPts val="0"/>
              </a:spcBef>
              <a:spcAft>
                <a:spcPts val="0"/>
              </a:spcAft>
              <a:buClr>
                <a:srgbClr val="1C1F23"/>
              </a:buClr>
              <a:buSzPts val="1200"/>
              <a:buChar char="●"/>
            </a:pPr>
            <a:r>
              <a:rPr lang="en-GB" sz="1200">
                <a:solidFill>
                  <a:srgbClr val="1C1F23"/>
                </a:solidFill>
              </a:rPr>
              <a:t>Sentiment and text classification</a:t>
            </a:r>
            <a:endParaRPr sz="1200">
              <a:solidFill>
                <a:srgbClr val="1C1F23"/>
              </a:solidFill>
            </a:endParaRPr>
          </a:p>
          <a:p>
            <a:pPr indent="-304800" lvl="0" marL="457200" rtl="0" algn="l">
              <a:lnSpc>
                <a:spcPct val="150000"/>
              </a:lnSpc>
              <a:spcBef>
                <a:spcPts val="0"/>
              </a:spcBef>
              <a:spcAft>
                <a:spcPts val="0"/>
              </a:spcAft>
              <a:buClr>
                <a:srgbClr val="1C1F23"/>
              </a:buClr>
              <a:buSzPts val="1200"/>
              <a:buChar char="●"/>
            </a:pPr>
            <a:r>
              <a:rPr lang="en-GB" sz="1200">
                <a:solidFill>
                  <a:srgbClr val="1C1F23"/>
                </a:solidFill>
              </a:rPr>
              <a:t>Medical risk assessment</a:t>
            </a:r>
            <a:endParaRPr sz="1200">
              <a:solidFill>
                <a:srgbClr val="1C1F23"/>
              </a:solidFill>
            </a:endParaRPr>
          </a:p>
          <a:p>
            <a:pPr indent="-304800" lvl="0" marL="457200" rtl="0" algn="l">
              <a:lnSpc>
                <a:spcPct val="150000"/>
              </a:lnSpc>
              <a:spcBef>
                <a:spcPts val="0"/>
              </a:spcBef>
              <a:spcAft>
                <a:spcPts val="0"/>
              </a:spcAft>
              <a:buClr>
                <a:srgbClr val="1C1F23"/>
              </a:buClr>
              <a:buSzPts val="1200"/>
              <a:buChar char="●"/>
            </a:pPr>
            <a:r>
              <a:rPr lang="en-GB" sz="1200">
                <a:solidFill>
                  <a:srgbClr val="1C1F23"/>
                </a:solidFill>
              </a:rPr>
              <a:t>Image labeling (such as telling cats apart from dogs)</a:t>
            </a:r>
            <a:endParaRPr sz="1200">
              <a:solidFill>
                <a:srgbClr val="1C1F23"/>
              </a:solidFill>
            </a:endParaRPr>
          </a:p>
          <a:p>
            <a:pPr indent="0" lvl="0" marL="0" marR="0" rtl="0" algn="l">
              <a:spcBef>
                <a:spcPts val="0"/>
              </a:spcBef>
              <a:spcAft>
                <a:spcPts val="0"/>
              </a:spcAft>
              <a:buNone/>
            </a:pPr>
            <a:r>
              <a:t/>
            </a:r>
            <a:endParaRPr sz="1200">
              <a:solidFill>
                <a:schemeClr val="dk1"/>
              </a:solidFill>
            </a:endParaRPr>
          </a:p>
        </p:txBody>
      </p:sp>
      <p:sp>
        <p:nvSpPr>
          <p:cNvPr id="381" name="Google Shape;381;g3ea6e000d1c_0_285: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ea6e000d1c_0_309: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 name="Google Shape;404;g3ea6e000d1c_0_309: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en-GB" sz="1200">
                <a:solidFill>
                  <a:srgbClr val="1C1F23"/>
                </a:solidFill>
              </a:rPr>
              <a:t>Here, you only give the model raw input data — no correct answers at all. The model finds hidden groups, patterns or unusual data points on its own.</a:t>
            </a:r>
            <a:endParaRPr sz="1200">
              <a:solidFill>
                <a:srgbClr val="1C1F23"/>
              </a:solidFill>
            </a:endParaRPr>
          </a:p>
          <a:p>
            <a:pPr indent="0" lvl="0" marL="0" rtl="0" algn="l">
              <a:lnSpc>
                <a:spcPct val="150000"/>
              </a:lnSpc>
              <a:spcBef>
                <a:spcPts val="0"/>
              </a:spcBef>
              <a:spcAft>
                <a:spcPts val="0"/>
              </a:spcAft>
              <a:buClr>
                <a:schemeClr val="dk1"/>
              </a:buClr>
              <a:buSzPts val="1100"/>
              <a:buFont typeface="Arial"/>
              <a:buNone/>
            </a:pPr>
            <a:r>
              <a:rPr lang="en-GB" sz="1200">
                <a:solidFill>
                  <a:srgbClr val="1C1F23"/>
                </a:solidFill>
              </a:rPr>
              <a:t>Real-life analogy: A librarian sorting a box of unmarked books. They group similar books together (romance, mystery, etc.) without anyone telling them the official genres.</a:t>
            </a:r>
            <a:endParaRPr sz="1200">
              <a:solidFill>
                <a:srgbClr val="1C1F23"/>
              </a:solidFill>
            </a:endParaRPr>
          </a:p>
          <a:p>
            <a:pPr indent="0" lvl="0" marL="0" rtl="0" algn="l">
              <a:lnSpc>
                <a:spcPct val="150000"/>
              </a:lnSpc>
              <a:spcBef>
                <a:spcPts val="0"/>
              </a:spcBef>
              <a:spcAft>
                <a:spcPts val="0"/>
              </a:spcAft>
              <a:buClr>
                <a:schemeClr val="dk1"/>
              </a:buClr>
              <a:buSzPts val="1100"/>
              <a:buFont typeface="Arial"/>
              <a:buNone/>
            </a:pPr>
            <a:r>
              <a:rPr lang="en-GB" sz="1200">
                <a:solidFill>
                  <a:srgbClr val="1C1F23"/>
                </a:solidFill>
              </a:rPr>
              <a:t>Common business uses:</a:t>
            </a:r>
            <a:endParaRPr sz="1200">
              <a:solidFill>
                <a:srgbClr val="1C1F23"/>
              </a:solidFill>
            </a:endParaRPr>
          </a:p>
          <a:p>
            <a:pPr indent="-304800" lvl="0" marL="457200" rtl="0" algn="l">
              <a:lnSpc>
                <a:spcPct val="150000"/>
              </a:lnSpc>
              <a:spcBef>
                <a:spcPts val="0"/>
              </a:spcBef>
              <a:spcAft>
                <a:spcPts val="0"/>
              </a:spcAft>
              <a:buClr>
                <a:srgbClr val="1C1F23"/>
              </a:buClr>
              <a:buSzPts val="1200"/>
              <a:buChar char="●"/>
            </a:pPr>
            <a:r>
              <a:rPr lang="en-GB" sz="1200">
                <a:solidFill>
                  <a:srgbClr val="1C1F23"/>
                </a:solidFill>
              </a:rPr>
              <a:t>Grouping customers into segments</a:t>
            </a:r>
            <a:endParaRPr sz="1200">
              <a:solidFill>
                <a:srgbClr val="1C1F23"/>
              </a:solidFill>
            </a:endParaRPr>
          </a:p>
          <a:p>
            <a:pPr indent="-304800" lvl="0" marL="457200" rtl="0" algn="l">
              <a:lnSpc>
                <a:spcPct val="150000"/>
              </a:lnSpc>
              <a:spcBef>
                <a:spcPts val="0"/>
              </a:spcBef>
              <a:spcAft>
                <a:spcPts val="0"/>
              </a:spcAft>
              <a:buClr>
                <a:srgbClr val="1C1F23"/>
              </a:buClr>
              <a:buSzPts val="1200"/>
              <a:buChar char="●"/>
            </a:pPr>
            <a:r>
              <a:rPr lang="en-GB" sz="1200">
                <a:solidFill>
                  <a:srgbClr val="1C1F23"/>
                </a:solidFill>
              </a:rPr>
              <a:t>Finding unusual activity in system logs</a:t>
            </a:r>
            <a:endParaRPr sz="1200">
              <a:solidFill>
                <a:srgbClr val="1C1F23"/>
              </a:solidFill>
            </a:endParaRPr>
          </a:p>
          <a:p>
            <a:pPr indent="-304800" lvl="0" marL="457200" rtl="0" algn="l">
              <a:lnSpc>
                <a:spcPct val="150000"/>
              </a:lnSpc>
              <a:spcBef>
                <a:spcPts val="0"/>
              </a:spcBef>
              <a:spcAft>
                <a:spcPts val="0"/>
              </a:spcAft>
              <a:buClr>
                <a:srgbClr val="1C1F23"/>
              </a:buClr>
              <a:buSzPts val="1200"/>
              <a:buChar char="●"/>
            </a:pPr>
            <a:r>
              <a:rPr lang="en-GB" sz="1200">
                <a:solidFill>
                  <a:srgbClr val="1C1F23"/>
                </a:solidFill>
              </a:rPr>
              <a:t>Picking out main topics from reviews or support tickets</a:t>
            </a:r>
            <a:endParaRPr sz="1200">
              <a:solidFill>
                <a:srgbClr val="1C1F23"/>
              </a:solidFill>
            </a:endParaRPr>
          </a:p>
          <a:p>
            <a:pPr indent="-304800" lvl="0" marL="457200" rtl="0" algn="l">
              <a:lnSpc>
                <a:spcPct val="150000"/>
              </a:lnSpc>
              <a:spcBef>
                <a:spcPts val="0"/>
              </a:spcBef>
              <a:spcAft>
                <a:spcPts val="0"/>
              </a:spcAft>
              <a:buClr>
                <a:srgbClr val="1C1F23"/>
              </a:buClr>
              <a:buSzPts val="1200"/>
              <a:buChar char="●"/>
            </a:pPr>
            <a:r>
              <a:rPr lang="en-GB" sz="1200">
                <a:solidFill>
                  <a:srgbClr val="1C1F23"/>
                </a:solidFill>
              </a:rPr>
              <a:t>Building user recommendation groups</a:t>
            </a:r>
            <a:endParaRPr sz="1200">
              <a:solidFill>
                <a:srgbClr val="1C1F23"/>
              </a:solidFill>
            </a:endParaRPr>
          </a:p>
          <a:p>
            <a:pPr indent="-304800" lvl="0" marL="457200" rtl="0" algn="l">
              <a:lnSpc>
                <a:spcPct val="150000"/>
              </a:lnSpc>
              <a:spcBef>
                <a:spcPts val="0"/>
              </a:spcBef>
              <a:spcAft>
                <a:spcPts val="0"/>
              </a:spcAft>
              <a:buClr>
                <a:srgbClr val="1C1F23"/>
              </a:buClr>
              <a:buSzPts val="1200"/>
              <a:buChar char="●"/>
            </a:pPr>
            <a:r>
              <a:rPr lang="en-GB" sz="1200">
                <a:solidFill>
                  <a:srgbClr val="1C1F23"/>
                </a:solidFill>
              </a:rPr>
              <a:t>Preparing data for supervised learning models later on</a:t>
            </a:r>
            <a:endParaRPr sz="1200">
              <a:solidFill>
                <a:srgbClr val="1C1F23"/>
              </a:solidFill>
            </a:endParaRPr>
          </a:p>
          <a:p>
            <a:pPr indent="0" lvl="0" marL="0" marR="0" rtl="0" algn="l">
              <a:spcBef>
                <a:spcPts val="0"/>
              </a:spcBef>
              <a:spcAft>
                <a:spcPts val="0"/>
              </a:spcAft>
              <a:buNone/>
            </a:pPr>
            <a:r>
              <a:t/>
            </a:r>
            <a:endParaRPr sz="1200">
              <a:solidFill>
                <a:schemeClr val="dk1"/>
              </a:solidFill>
            </a:endParaRPr>
          </a:p>
        </p:txBody>
      </p:sp>
      <p:sp>
        <p:nvSpPr>
          <p:cNvPr id="405" name="Google Shape;405;g3ea6e000d1c_0_309: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ea6e000d1c_0_333: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 name="Google Shape;428;g3ea6e000d1c_0_333: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Reinforcement — agent + reward. Behind AlphaGo, RLHF. We recognise it; we don't build one in M3.</a:t>
            </a:r>
            <a:endParaRPr/>
          </a:p>
        </p:txBody>
      </p:sp>
      <p:sp>
        <p:nvSpPr>
          <p:cNvPr id="429" name="Google Shape;429;g3ea6e000d1c_0_333: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ea6e000d1c_0_38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g3ea6e000d1c_0_38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en-GB" sz="1200">
                <a:solidFill>
                  <a:srgbClr val="1C1F23"/>
                </a:solidFill>
              </a:rPr>
              <a:t>Every real-world machine learning project follows this standard 7-step process, in order.</a:t>
            </a:r>
            <a:endParaRPr sz="1200">
              <a:solidFill>
                <a:srgbClr val="1C1F23"/>
              </a:solidFill>
            </a:endParaRPr>
          </a:p>
          <a:p>
            <a:pPr indent="-304800" lvl="0" marL="457200" rtl="0" algn="l">
              <a:lnSpc>
                <a:spcPct val="150000"/>
              </a:lnSpc>
              <a:spcBef>
                <a:spcPts val="0"/>
              </a:spcBef>
              <a:spcAft>
                <a:spcPts val="0"/>
              </a:spcAft>
              <a:buClr>
                <a:srgbClr val="1C1F23"/>
              </a:buClr>
              <a:buSzPts val="1200"/>
              <a:buAutoNum type="arabicPeriod"/>
            </a:pPr>
            <a:r>
              <a:rPr lang="en-GB" sz="1200">
                <a:solidFill>
                  <a:srgbClr val="1C1F23"/>
                </a:solidFill>
              </a:rPr>
              <a:t>Frame the problem</a:t>
            </a:r>
            <a:endParaRPr sz="1200">
              <a:solidFill>
                <a:srgbClr val="1C1F23"/>
              </a:solidFill>
            </a:endParaRPr>
          </a:p>
          <a:p>
            <a:pPr indent="-304800" lvl="0" marL="457200" rtl="0" algn="l">
              <a:lnSpc>
                <a:spcPct val="150000"/>
              </a:lnSpc>
              <a:spcBef>
                <a:spcPts val="0"/>
              </a:spcBef>
              <a:spcAft>
                <a:spcPts val="0"/>
              </a:spcAft>
              <a:buClr>
                <a:srgbClr val="1C1F23"/>
              </a:buClr>
              <a:buSzPts val="1200"/>
              <a:buAutoNum type="arabicPeriod"/>
            </a:pPr>
            <a:r>
              <a:rPr lang="en-GB" sz="1200">
                <a:solidFill>
                  <a:srgbClr val="1C1F23"/>
                </a:solidFill>
              </a:rPr>
              <a:t>Collect data</a:t>
            </a:r>
            <a:endParaRPr sz="1200">
              <a:solidFill>
                <a:srgbClr val="1C1F23"/>
              </a:solidFill>
            </a:endParaRPr>
          </a:p>
          <a:p>
            <a:pPr indent="-304800" lvl="0" marL="457200" rtl="0" algn="l">
              <a:lnSpc>
                <a:spcPct val="150000"/>
              </a:lnSpc>
              <a:spcBef>
                <a:spcPts val="0"/>
              </a:spcBef>
              <a:spcAft>
                <a:spcPts val="0"/>
              </a:spcAft>
              <a:buClr>
                <a:srgbClr val="1C1F23"/>
              </a:buClr>
              <a:buSzPts val="1200"/>
              <a:buAutoNum type="arabicPeriod"/>
            </a:pPr>
            <a:r>
              <a:rPr lang="en-GB" sz="1200">
                <a:solidFill>
                  <a:srgbClr val="1C1F23"/>
                </a:solidFill>
              </a:rPr>
              <a:t>Clean data</a:t>
            </a:r>
            <a:endParaRPr sz="1200">
              <a:solidFill>
                <a:srgbClr val="1C1F23"/>
              </a:solidFill>
            </a:endParaRPr>
          </a:p>
          <a:p>
            <a:pPr indent="-304800" lvl="0" marL="457200" rtl="0" algn="l">
              <a:lnSpc>
                <a:spcPct val="150000"/>
              </a:lnSpc>
              <a:spcBef>
                <a:spcPts val="0"/>
              </a:spcBef>
              <a:spcAft>
                <a:spcPts val="0"/>
              </a:spcAft>
              <a:buClr>
                <a:srgbClr val="1C1F23"/>
              </a:buClr>
              <a:buSzPts val="1200"/>
              <a:buAutoNum type="arabicPeriod"/>
            </a:pPr>
            <a:r>
              <a:rPr lang="en-GB" sz="1200">
                <a:solidFill>
                  <a:srgbClr val="1C1F23"/>
                </a:solidFill>
              </a:rPr>
              <a:t>Train the model</a:t>
            </a:r>
            <a:endParaRPr sz="1200">
              <a:solidFill>
                <a:srgbClr val="1C1F23"/>
              </a:solidFill>
            </a:endParaRPr>
          </a:p>
          <a:p>
            <a:pPr indent="-304800" lvl="0" marL="457200" rtl="0" algn="l">
              <a:lnSpc>
                <a:spcPct val="150000"/>
              </a:lnSpc>
              <a:spcBef>
                <a:spcPts val="0"/>
              </a:spcBef>
              <a:spcAft>
                <a:spcPts val="0"/>
              </a:spcAft>
              <a:buClr>
                <a:srgbClr val="1C1F23"/>
              </a:buClr>
              <a:buSzPts val="1200"/>
              <a:buAutoNum type="arabicPeriod"/>
            </a:pPr>
            <a:r>
              <a:rPr lang="en-GB" sz="1200">
                <a:solidFill>
                  <a:srgbClr val="1C1F23"/>
                </a:solidFill>
              </a:rPr>
              <a:t>Evaluate performance</a:t>
            </a:r>
            <a:endParaRPr sz="1200">
              <a:solidFill>
                <a:srgbClr val="1C1F23"/>
              </a:solidFill>
            </a:endParaRPr>
          </a:p>
          <a:p>
            <a:pPr indent="-304800" lvl="0" marL="457200" rtl="0" algn="l">
              <a:lnSpc>
                <a:spcPct val="150000"/>
              </a:lnSpc>
              <a:spcBef>
                <a:spcPts val="0"/>
              </a:spcBef>
              <a:spcAft>
                <a:spcPts val="0"/>
              </a:spcAft>
              <a:buClr>
                <a:srgbClr val="1C1F23"/>
              </a:buClr>
              <a:buSzPts val="1200"/>
              <a:buAutoNum type="arabicPeriod"/>
            </a:pPr>
            <a:r>
              <a:rPr lang="en-GB" sz="1200">
                <a:solidFill>
                  <a:srgbClr val="1C1F23"/>
                </a:solidFill>
              </a:rPr>
              <a:t>Deploy the model</a:t>
            </a:r>
            <a:endParaRPr sz="1200">
              <a:solidFill>
                <a:srgbClr val="1C1F23"/>
              </a:solidFill>
            </a:endParaRPr>
          </a:p>
          <a:p>
            <a:pPr indent="-304800" lvl="0" marL="457200" rtl="0" algn="l">
              <a:lnSpc>
                <a:spcPct val="150000"/>
              </a:lnSpc>
              <a:spcBef>
                <a:spcPts val="0"/>
              </a:spcBef>
              <a:spcAft>
                <a:spcPts val="0"/>
              </a:spcAft>
              <a:buClr>
                <a:srgbClr val="1C1F23"/>
              </a:buClr>
              <a:buSzPts val="1200"/>
              <a:buAutoNum type="arabicPeriod"/>
            </a:pPr>
            <a:r>
              <a:rPr lang="en-GB" sz="1200">
                <a:solidFill>
                  <a:srgbClr val="1C1F23"/>
                </a:solidFill>
              </a:rPr>
              <a:t>Monitor the model long-term</a:t>
            </a:r>
            <a:endParaRPr sz="1200">
              <a:solidFill>
                <a:srgbClr val="1C1F23"/>
              </a:solidFill>
            </a:endParaRPr>
          </a:p>
          <a:p>
            <a:pPr indent="0" lvl="0" marL="0" rtl="0" algn="l">
              <a:lnSpc>
                <a:spcPct val="150000"/>
              </a:lnSpc>
              <a:spcBef>
                <a:spcPts val="0"/>
              </a:spcBef>
              <a:spcAft>
                <a:spcPts val="0"/>
              </a:spcAft>
              <a:buNone/>
            </a:pPr>
            <a:r>
              <a:t/>
            </a:r>
            <a:endParaRPr sz="1200">
              <a:solidFill>
                <a:srgbClr val="1C1F23"/>
              </a:solidFill>
            </a:endParaRPr>
          </a:p>
        </p:txBody>
      </p:sp>
      <p:sp>
        <p:nvSpPr>
          <p:cNvPr id="477" name="Google Shape;477;g3ea6e000d1c_0_38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ea6e000d1c_0_46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2" name="Google Shape;562;g3ea6e000d1c_0_465: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en-GB" sz="1200">
                <a:solidFill>
                  <a:srgbClr val="1C1F23"/>
                </a:solidFill>
              </a:rPr>
              <a:t>Step 1: Framing the Problem (Make or Break for Projects)</a:t>
            </a:r>
            <a:endParaRPr sz="1200">
              <a:solidFill>
                <a:srgbClr val="1C1F23"/>
              </a:solidFill>
            </a:endParaRPr>
          </a:p>
          <a:p>
            <a:pPr indent="0" lvl="0" marL="0" rtl="0" algn="l">
              <a:lnSpc>
                <a:spcPct val="150000"/>
              </a:lnSpc>
              <a:spcBef>
                <a:spcPts val="0"/>
              </a:spcBef>
              <a:spcAft>
                <a:spcPts val="0"/>
              </a:spcAft>
              <a:buClr>
                <a:schemeClr val="dk1"/>
              </a:buClr>
              <a:buSzPts val="1100"/>
              <a:buFont typeface="Arial"/>
              <a:buNone/>
            </a:pPr>
            <a:r>
              <a:rPr lang="en-GB" sz="1200">
                <a:solidFill>
                  <a:srgbClr val="1C1F23"/>
                </a:solidFill>
              </a:rPr>
              <a:t>You cannot fix a poorly framed project later on. A perfectly trained model that solves the wrong problem is completely useless.</a:t>
            </a:r>
            <a:endParaRPr sz="1200">
              <a:solidFill>
                <a:srgbClr val="1C1F23"/>
              </a:solidFill>
            </a:endParaRPr>
          </a:p>
          <a:p>
            <a:pPr indent="0" lvl="0" marL="0" rtl="0" algn="l">
              <a:lnSpc>
                <a:spcPct val="150000"/>
              </a:lnSpc>
              <a:spcBef>
                <a:spcPts val="0"/>
              </a:spcBef>
              <a:spcAft>
                <a:spcPts val="0"/>
              </a:spcAft>
              <a:buClr>
                <a:schemeClr val="dk1"/>
              </a:buClr>
              <a:buSzPts val="1100"/>
              <a:buFont typeface="Arial"/>
              <a:buNone/>
            </a:pPr>
            <a:r>
              <a:rPr lang="en-GB" sz="1200">
                <a:solidFill>
                  <a:srgbClr val="1C1F23"/>
                </a:solidFill>
              </a:rPr>
              <a:t>Before you touch any data, answer these four key questions:</a:t>
            </a:r>
            <a:endParaRPr sz="1200">
              <a:solidFill>
                <a:srgbClr val="1C1F23"/>
              </a:solidFill>
            </a:endParaRPr>
          </a:p>
          <a:p>
            <a:pPr indent="-304800" lvl="0" marL="457200" rtl="0" algn="l">
              <a:lnSpc>
                <a:spcPct val="150000"/>
              </a:lnSpc>
              <a:spcBef>
                <a:spcPts val="0"/>
              </a:spcBef>
              <a:spcAft>
                <a:spcPts val="0"/>
              </a:spcAft>
              <a:buClr>
                <a:srgbClr val="1C1F23"/>
              </a:buClr>
              <a:buSzPts val="1200"/>
              <a:buAutoNum type="arabicPeriod"/>
            </a:pPr>
            <a:r>
              <a:rPr lang="en-GB" sz="1200">
                <a:solidFill>
                  <a:srgbClr val="1C1F23"/>
                </a:solidFill>
              </a:rPr>
              <a:t>What is your exact question?</a:t>
            </a:r>
            <a:endParaRPr sz="1200">
              <a:solidFill>
                <a:srgbClr val="1C1F23"/>
              </a:solidFill>
            </a:endParaRPr>
          </a:p>
          <a:p>
            <a:pPr indent="-304800" lvl="0" marL="457200" rtl="0" algn="l">
              <a:lnSpc>
                <a:spcPct val="150000"/>
              </a:lnSpc>
              <a:spcBef>
                <a:spcPts val="0"/>
              </a:spcBef>
              <a:spcAft>
                <a:spcPts val="0"/>
              </a:spcAft>
              <a:buClr>
                <a:srgbClr val="1C1F23"/>
              </a:buClr>
              <a:buSzPts val="1200"/>
              <a:buAutoNum type="arabicPeriod"/>
            </a:pPr>
            <a:r>
              <a:rPr lang="en-GB" sz="1200">
                <a:solidFill>
                  <a:srgbClr val="1C1F23"/>
                </a:solidFill>
              </a:rPr>
              <a:t>Be specific. “Reduce customer churn” is too vague. “Predict which customers will cancel their service within 30 days” is clear and actionable.</a:t>
            </a:r>
            <a:endParaRPr sz="1200">
              <a:solidFill>
                <a:srgbClr val="1C1F23"/>
              </a:solidFill>
            </a:endParaRPr>
          </a:p>
          <a:p>
            <a:pPr indent="-304800" lvl="0" marL="457200" rtl="0" algn="l">
              <a:lnSpc>
                <a:spcPct val="150000"/>
              </a:lnSpc>
              <a:spcBef>
                <a:spcPts val="0"/>
              </a:spcBef>
              <a:spcAft>
                <a:spcPts val="0"/>
              </a:spcAft>
              <a:buClr>
                <a:srgbClr val="1C1F23"/>
              </a:buClr>
              <a:buSzPts val="1200"/>
              <a:buAutoNum type="arabicPeriod"/>
            </a:pPr>
            <a:r>
              <a:rPr lang="en-GB" sz="1200">
                <a:solidFill>
                  <a:srgbClr val="1C1F23"/>
                </a:solidFill>
              </a:rPr>
              <a:t>Who will act on these results?</a:t>
            </a:r>
            <a:endParaRPr sz="1200">
              <a:solidFill>
                <a:srgbClr val="1C1F23"/>
              </a:solidFill>
            </a:endParaRPr>
          </a:p>
          <a:p>
            <a:pPr indent="-304800" lvl="0" marL="457200" rtl="0" algn="l">
              <a:lnSpc>
                <a:spcPct val="150000"/>
              </a:lnSpc>
              <a:spcBef>
                <a:spcPts val="0"/>
              </a:spcBef>
              <a:spcAft>
                <a:spcPts val="0"/>
              </a:spcAft>
              <a:buClr>
                <a:srgbClr val="1C1F23"/>
              </a:buClr>
              <a:buSzPts val="1200"/>
              <a:buAutoNum type="arabicPeriod"/>
            </a:pPr>
            <a:r>
              <a:rPr lang="en-GB" sz="1200">
                <a:solidFill>
                  <a:srgbClr val="1C1F23"/>
                </a:solidFill>
              </a:rPr>
              <a:t>If no one uses your model’s output, the model serves no purpose. The intended action also defines what “good results” look like.</a:t>
            </a:r>
            <a:endParaRPr sz="1200">
              <a:solidFill>
                <a:srgbClr val="1C1F23"/>
              </a:solidFill>
            </a:endParaRPr>
          </a:p>
          <a:p>
            <a:pPr indent="-304800" lvl="0" marL="457200" rtl="0" algn="l">
              <a:lnSpc>
                <a:spcPct val="150000"/>
              </a:lnSpc>
              <a:spcBef>
                <a:spcPts val="0"/>
              </a:spcBef>
              <a:spcAft>
                <a:spcPts val="0"/>
              </a:spcAft>
              <a:buClr>
                <a:srgbClr val="1C1F23"/>
              </a:buClr>
              <a:buSzPts val="1200"/>
              <a:buAutoNum type="arabicPeriod"/>
            </a:pPr>
            <a:r>
              <a:rPr lang="en-GB" sz="1200">
                <a:solidFill>
                  <a:srgbClr val="1C1F23"/>
                </a:solidFill>
              </a:rPr>
              <a:t>What is your success metric?</a:t>
            </a:r>
            <a:endParaRPr sz="1200">
              <a:solidFill>
                <a:srgbClr val="1C1F23"/>
              </a:solidFill>
            </a:endParaRPr>
          </a:p>
          <a:p>
            <a:pPr indent="-304800" lvl="0" marL="457200" rtl="0" algn="l">
              <a:lnSpc>
                <a:spcPct val="150000"/>
              </a:lnSpc>
              <a:spcBef>
                <a:spcPts val="0"/>
              </a:spcBef>
              <a:spcAft>
                <a:spcPts val="0"/>
              </a:spcAft>
              <a:buClr>
                <a:srgbClr val="1C1F23"/>
              </a:buClr>
              <a:buSzPts val="1200"/>
              <a:buAutoNum type="arabicPeriod"/>
            </a:pPr>
            <a:r>
              <a:rPr lang="en-GB" sz="1200">
                <a:solidFill>
                  <a:srgbClr val="1C1F23"/>
                </a:solidFill>
              </a:rPr>
              <a:t>Pick one main metric before you start building, and avoid adding extra metrics later.</a:t>
            </a:r>
            <a:endParaRPr sz="1200">
              <a:solidFill>
                <a:srgbClr val="1C1F23"/>
              </a:solidFill>
            </a:endParaRPr>
          </a:p>
          <a:p>
            <a:pPr indent="-304800" lvl="0" marL="457200" rtl="0" algn="l">
              <a:lnSpc>
                <a:spcPct val="150000"/>
              </a:lnSpc>
              <a:spcBef>
                <a:spcPts val="0"/>
              </a:spcBef>
              <a:spcAft>
                <a:spcPts val="0"/>
              </a:spcAft>
              <a:buClr>
                <a:srgbClr val="1C1F23"/>
              </a:buClr>
              <a:buSzPts val="1200"/>
              <a:buAutoNum type="arabicPeriod"/>
            </a:pPr>
            <a:r>
              <a:rPr lang="en-GB" sz="1200">
                <a:solidFill>
                  <a:srgbClr val="1C1F23"/>
                </a:solidFill>
              </a:rPr>
              <a:t>What are the costs of wrong predictions?</a:t>
            </a:r>
            <a:endParaRPr sz="1200">
              <a:solidFill>
                <a:srgbClr val="1C1F23"/>
              </a:solidFill>
            </a:endParaRPr>
          </a:p>
          <a:p>
            <a:pPr indent="-304800" lvl="0" marL="457200" rtl="0" algn="l">
              <a:lnSpc>
                <a:spcPct val="150000"/>
              </a:lnSpc>
              <a:spcBef>
                <a:spcPts val="0"/>
              </a:spcBef>
              <a:spcAft>
                <a:spcPts val="0"/>
              </a:spcAft>
              <a:buClr>
                <a:srgbClr val="1C1F23"/>
              </a:buClr>
              <a:buSzPts val="1200"/>
              <a:buAutoNum type="arabicPeriod"/>
            </a:pPr>
            <a:r>
              <a:rPr lang="en-GB" sz="1200">
                <a:solidFill>
                  <a:srgbClr val="1C1F23"/>
                </a:solidFill>
              </a:rPr>
              <a:t>Figure out if false positives or false negatives cause bigger problems. Most real work has unequal risks for different types of errors.</a:t>
            </a:r>
            <a:endParaRPr sz="1200">
              <a:solidFill>
                <a:srgbClr val="1C1F23"/>
              </a:solidFill>
            </a:endParaRPr>
          </a:p>
          <a:p>
            <a:pPr indent="0" lvl="0" marL="0" marR="0" rtl="0" algn="l">
              <a:spcBef>
                <a:spcPts val="0"/>
              </a:spcBef>
              <a:spcAft>
                <a:spcPts val="0"/>
              </a:spcAft>
              <a:buNone/>
            </a:pPr>
            <a:r>
              <a:t/>
            </a:r>
            <a:endParaRPr sz="1200">
              <a:solidFill>
                <a:schemeClr val="dk1"/>
              </a:solidFill>
            </a:endParaRPr>
          </a:p>
        </p:txBody>
      </p:sp>
      <p:sp>
        <p:nvSpPr>
          <p:cNvPr id="563" name="Google Shape;563;g3ea6e000d1c_0_465: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ea6e000d1c_0_523: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0" name="Google Shape;620;g3ea6e000d1c_0_523: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en-GB" sz="1200">
                <a:solidFill>
                  <a:srgbClr val="1C1F23"/>
                </a:solidFill>
              </a:rPr>
              <a:t>After reviewing Sarah’s results, her manager Priya asks a critical question:</a:t>
            </a:r>
            <a:endParaRPr sz="1200">
              <a:solidFill>
                <a:srgbClr val="1C1F23"/>
              </a:solidFill>
            </a:endParaRPr>
          </a:p>
          <a:p>
            <a:pPr indent="0" lvl="0" marL="0" rtl="0" algn="l">
              <a:lnSpc>
                <a:spcPct val="150000"/>
              </a:lnSpc>
              <a:spcBef>
                <a:spcPts val="0"/>
              </a:spcBef>
              <a:spcAft>
                <a:spcPts val="0"/>
              </a:spcAft>
              <a:buClr>
                <a:schemeClr val="dk1"/>
              </a:buClr>
              <a:buSzPts val="1100"/>
              <a:buFont typeface="Arial"/>
              <a:buNone/>
            </a:pPr>
            <a:r>
              <a:rPr lang="en-GB" sz="1200">
                <a:solidFill>
                  <a:srgbClr val="1C1F23"/>
                </a:solidFill>
              </a:rPr>
              <a:t>“Your numbers look great, but how certain are we? The model labeled every review — how do we know it isn’t confidently wrong in ways we can’t see from this report?”</a:t>
            </a:r>
            <a:endParaRPr sz="1200">
              <a:solidFill>
                <a:srgbClr val="1C1F23"/>
              </a:solidFill>
            </a:endParaRPr>
          </a:p>
          <a:p>
            <a:pPr indent="0" lvl="0" marL="0" rtl="0" algn="l">
              <a:lnSpc>
                <a:spcPct val="150000"/>
              </a:lnSpc>
              <a:spcBef>
                <a:spcPts val="0"/>
              </a:spcBef>
              <a:spcAft>
                <a:spcPts val="0"/>
              </a:spcAft>
              <a:buSzPts val="1100"/>
              <a:buNone/>
            </a:pPr>
            <a:r>
              <a:rPr lang="en-GB" sz="1200">
                <a:solidFill>
                  <a:srgbClr val="1C1F23"/>
                </a:solidFill>
              </a:rPr>
              <a:t>Our next lesson (Lesson 2) covers Probability and Statistics for ML. We’ll learn about data distributions, confidence intervals and hypothesis testing — all tools to help Sarah answer Priya’s question. Come ready to dive in!</a:t>
            </a:r>
            <a:endParaRPr sz="1200">
              <a:solidFill>
                <a:schemeClr val="dk1"/>
              </a:solidFill>
            </a:endParaRPr>
          </a:p>
        </p:txBody>
      </p:sp>
      <p:sp>
        <p:nvSpPr>
          <p:cNvPr id="621" name="Google Shape;621;g3ea6e000d1c_0_523: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3e6a5a0b6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3e6a5a0b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g33e6a5a0b6e_0_0: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376550" y="147875"/>
            <a:ext cx="8310000" cy="7599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 name="Google Shape;15;p3"/>
          <p:cNvSpPr txBox="1"/>
          <p:nvPr>
            <p:ph idx="1" type="body"/>
          </p:nvPr>
        </p:nvSpPr>
        <p:spPr>
          <a:xfrm>
            <a:off x="376850" y="987925"/>
            <a:ext cx="8310000" cy="3607500"/>
          </a:xfrm>
          <a:prstGeom prst="rect">
            <a:avLst/>
          </a:prstGeom>
          <a:noFill/>
          <a:ln>
            <a:noFill/>
          </a:ln>
        </p:spPr>
        <p:txBody>
          <a:bodyPr anchorCtr="0" anchor="t" bIns="34275" lIns="68575" spcFirstLastPara="1" rIns="68575" wrap="square" tIns="34275">
            <a:normAutofit/>
          </a:bodyPr>
          <a:lstStyle>
            <a:lvl1pPr indent="-317500" lvl="0" marL="457200" algn="l">
              <a:lnSpc>
                <a:spcPct val="115000"/>
              </a:lnSpc>
              <a:spcBef>
                <a:spcPts val="0"/>
              </a:spcBef>
              <a:spcAft>
                <a:spcPts val="0"/>
              </a:spcAft>
              <a:buClr>
                <a:schemeClr val="dk1"/>
              </a:buClr>
              <a:buSzPts val="1400"/>
              <a:buChar char="•"/>
              <a:defRPr/>
            </a:lvl1pPr>
            <a:lvl2pPr indent="-317500" lvl="1" marL="914400" algn="l">
              <a:lnSpc>
                <a:spcPct val="115000"/>
              </a:lnSpc>
              <a:spcBef>
                <a:spcPts val="1000"/>
              </a:spcBef>
              <a:spcAft>
                <a:spcPts val="0"/>
              </a:spcAft>
              <a:buClr>
                <a:schemeClr val="dk1"/>
              </a:buClr>
              <a:buSzPts val="1400"/>
              <a:buChar char="–"/>
              <a:defRPr/>
            </a:lvl2pPr>
            <a:lvl3pPr indent="-317500" lvl="2" marL="1371600" algn="l">
              <a:lnSpc>
                <a:spcPct val="115000"/>
              </a:lnSpc>
              <a:spcBef>
                <a:spcPts val="1000"/>
              </a:spcBef>
              <a:spcAft>
                <a:spcPts val="0"/>
              </a:spcAft>
              <a:buClr>
                <a:schemeClr val="dk1"/>
              </a:buClr>
              <a:buSzPts val="1400"/>
              <a:buChar char="•"/>
              <a:defRPr/>
            </a:lvl3pPr>
            <a:lvl4pPr indent="-317500" lvl="3" marL="1828800" algn="l">
              <a:lnSpc>
                <a:spcPct val="115000"/>
              </a:lnSpc>
              <a:spcBef>
                <a:spcPts val="1000"/>
              </a:spcBef>
              <a:spcAft>
                <a:spcPts val="0"/>
              </a:spcAft>
              <a:buClr>
                <a:schemeClr val="dk1"/>
              </a:buClr>
              <a:buSzPts val="1400"/>
              <a:buChar char="–"/>
              <a:defRPr/>
            </a:lvl4pPr>
            <a:lvl5pPr indent="-317500" lvl="4" marL="2286000" algn="l">
              <a:lnSpc>
                <a:spcPct val="115000"/>
              </a:lnSpc>
              <a:spcBef>
                <a:spcPts val="1000"/>
              </a:spcBef>
              <a:spcAft>
                <a:spcPts val="0"/>
              </a:spcAft>
              <a:buClr>
                <a:schemeClr val="dk1"/>
              </a:buClr>
              <a:buSzPts val="1400"/>
              <a:buChar char="»"/>
              <a:defRPr/>
            </a:lvl5pPr>
            <a:lvl6pPr indent="-317500" lvl="5" marL="2743200" algn="l">
              <a:lnSpc>
                <a:spcPct val="115000"/>
              </a:lnSpc>
              <a:spcBef>
                <a:spcPts val="1000"/>
              </a:spcBef>
              <a:spcAft>
                <a:spcPts val="0"/>
              </a:spcAft>
              <a:buClr>
                <a:schemeClr val="dk1"/>
              </a:buClr>
              <a:buSzPts val="1400"/>
              <a:buChar char="•"/>
              <a:defRPr/>
            </a:lvl6pPr>
            <a:lvl7pPr indent="-317500" lvl="6" marL="3200400" algn="l">
              <a:lnSpc>
                <a:spcPct val="115000"/>
              </a:lnSpc>
              <a:spcBef>
                <a:spcPts val="1000"/>
              </a:spcBef>
              <a:spcAft>
                <a:spcPts val="0"/>
              </a:spcAft>
              <a:buClr>
                <a:schemeClr val="dk1"/>
              </a:buClr>
              <a:buSzPts val="1400"/>
              <a:buChar char="•"/>
              <a:defRPr/>
            </a:lvl7pPr>
            <a:lvl8pPr indent="-317500" lvl="7" marL="3657600" algn="l">
              <a:lnSpc>
                <a:spcPct val="115000"/>
              </a:lnSpc>
              <a:spcBef>
                <a:spcPts val="1000"/>
              </a:spcBef>
              <a:spcAft>
                <a:spcPts val="0"/>
              </a:spcAft>
              <a:buClr>
                <a:schemeClr val="dk1"/>
              </a:buClr>
              <a:buSzPts val="1400"/>
              <a:buChar char="•"/>
              <a:defRPr/>
            </a:lvl8pPr>
            <a:lvl9pPr indent="-317500" lvl="8" marL="4114800" algn="l">
              <a:lnSpc>
                <a:spcPct val="115000"/>
              </a:lnSpc>
              <a:spcBef>
                <a:spcPts val="1000"/>
              </a:spcBef>
              <a:spcAft>
                <a:spcPts val="1000"/>
              </a:spcAft>
              <a:buClr>
                <a:schemeClr val="dk1"/>
              </a:buClr>
              <a:buSzPts val="1400"/>
              <a:buChar char="•"/>
              <a:defRPr/>
            </a:lvl9pPr>
          </a:lstStyle>
          <a:p/>
        </p:txBody>
      </p:sp>
      <p:sp>
        <p:nvSpPr>
          <p:cNvPr id="16" name="Google Shape;16;p3"/>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3 Content" type="secHead">
  <p:cSld name="SECTION_HEADER">
    <p:spTree>
      <p:nvGrpSpPr>
        <p:cNvPr id="17" name="Shape 17"/>
        <p:cNvGrpSpPr/>
        <p:nvPr/>
      </p:nvGrpSpPr>
      <p:grpSpPr>
        <a:xfrm>
          <a:off x="0" y="0"/>
          <a:ext cx="0" cy="0"/>
          <a:chOff x="0" y="0"/>
          <a:chExt cx="0" cy="0"/>
        </a:xfrm>
      </p:grpSpPr>
      <p:sp>
        <p:nvSpPr>
          <p:cNvPr id="18" name="Google Shape;18;p4"/>
          <p:cNvSpPr/>
          <p:nvPr/>
        </p:nvSpPr>
        <p:spPr>
          <a:xfrm>
            <a:off x="0" y="0"/>
            <a:ext cx="3191700" cy="4927800"/>
          </a:xfrm>
          <a:prstGeom prst="rect">
            <a:avLst/>
          </a:prstGeom>
          <a:solidFill>
            <a:srgbClr val="181C6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 name="Google Shape;19;p4"/>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20" name="Google Shape;20;p4"/>
          <p:cNvSpPr txBox="1"/>
          <p:nvPr>
            <p:ph type="title"/>
          </p:nvPr>
        </p:nvSpPr>
        <p:spPr>
          <a:xfrm>
            <a:off x="277025" y="344075"/>
            <a:ext cx="2914800" cy="913800"/>
          </a:xfrm>
          <a:prstGeom prst="rect">
            <a:avLst/>
          </a:prstGeom>
        </p:spPr>
        <p:txBody>
          <a:bodyPr anchorCtr="0" anchor="t" bIns="34275" lIns="68575" spcFirstLastPara="1" rIns="68575" wrap="square" tIns="34275">
            <a:noAutofit/>
          </a:bodyPr>
          <a:lstStyle>
            <a:lvl1pPr lvl="0">
              <a:spcBef>
                <a:spcPts val="0"/>
              </a:spcBef>
              <a:spcAft>
                <a:spcPts val="0"/>
              </a:spcAft>
              <a:buClr>
                <a:schemeClr val="lt1"/>
              </a:buClr>
              <a:buSzPts val="2200"/>
              <a:buNone/>
              <a:defRPr sz="22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 name="Google Shape;21;p4"/>
          <p:cNvSpPr txBox="1"/>
          <p:nvPr>
            <p:ph idx="1" type="subTitle"/>
          </p:nvPr>
        </p:nvSpPr>
        <p:spPr>
          <a:xfrm>
            <a:off x="204500" y="1423350"/>
            <a:ext cx="2987100" cy="3322500"/>
          </a:xfrm>
          <a:prstGeom prst="rect">
            <a:avLst/>
          </a:prstGeom>
        </p:spPr>
        <p:txBody>
          <a:bodyPr anchorCtr="0" anchor="t" bIns="34275" lIns="68575" spcFirstLastPara="1" rIns="68575" wrap="square" tIns="34275">
            <a:normAutofit/>
          </a:bodyPr>
          <a:lstStyle>
            <a:lvl1pPr lvl="0">
              <a:spcBef>
                <a:spcPts val="0"/>
              </a:spcBef>
              <a:spcAft>
                <a:spcPts val="0"/>
              </a:spcAft>
              <a:buClr>
                <a:schemeClr val="lt1"/>
              </a:buClr>
              <a:buSzPts val="2200"/>
              <a:buNone/>
              <a:defRPr b="1" sz="2200">
                <a:solidFill>
                  <a:schemeClr val="lt1"/>
                </a:solidFill>
              </a:defRPr>
            </a:lvl1pPr>
            <a:lvl2pPr lvl="1">
              <a:spcBef>
                <a:spcPts val="1000"/>
              </a:spcBef>
              <a:spcAft>
                <a:spcPts val="0"/>
              </a:spcAft>
              <a:buSzPts val="2200"/>
              <a:buNone/>
              <a:defRPr/>
            </a:lvl2pPr>
            <a:lvl3pPr lvl="2">
              <a:spcBef>
                <a:spcPts val="1000"/>
              </a:spcBef>
              <a:spcAft>
                <a:spcPts val="0"/>
              </a:spcAft>
              <a:buSzPts val="2000"/>
              <a:buNone/>
              <a:defRPr/>
            </a:lvl3pPr>
            <a:lvl4pPr lvl="3">
              <a:spcBef>
                <a:spcPts val="1000"/>
              </a:spcBef>
              <a:spcAft>
                <a:spcPts val="0"/>
              </a:spcAft>
              <a:buSzPts val="1800"/>
              <a:buNone/>
              <a:defRPr/>
            </a:lvl4pPr>
            <a:lvl5pPr lvl="4">
              <a:spcBef>
                <a:spcPts val="1000"/>
              </a:spcBef>
              <a:spcAft>
                <a:spcPts val="0"/>
              </a:spcAft>
              <a:buSzPts val="1600"/>
              <a:buNone/>
              <a:defRPr/>
            </a:lvl5pPr>
            <a:lvl6pPr lvl="5">
              <a:spcBef>
                <a:spcPts val="1000"/>
              </a:spcBef>
              <a:spcAft>
                <a:spcPts val="0"/>
              </a:spcAft>
              <a:buSzPts val="1400"/>
              <a:buNone/>
              <a:defRPr/>
            </a:lvl6pPr>
            <a:lvl7pPr lvl="6">
              <a:spcBef>
                <a:spcPts val="1000"/>
              </a:spcBef>
              <a:spcAft>
                <a:spcPts val="0"/>
              </a:spcAft>
              <a:buSzPts val="1400"/>
              <a:buNone/>
              <a:defRPr/>
            </a:lvl7pPr>
            <a:lvl8pPr lvl="7">
              <a:spcBef>
                <a:spcPts val="1000"/>
              </a:spcBef>
              <a:spcAft>
                <a:spcPts val="0"/>
              </a:spcAft>
              <a:buSzPts val="1400"/>
              <a:buNone/>
              <a:defRPr/>
            </a:lvl8pPr>
            <a:lvl9pPr lvl="8">
              <a:spcBef>
                <a:spcPts val="1000"/>
              </a:spcBef>
              <a:spcAft>
                <a:spcPts val="1000"/>
              </a:spcAft>
              <a:buSzPts val="1400"/>
              <a:buNone/>
              <a:defRPr/>
            </a:lvl9pPr>
          </a:lstStyle>
          <a:p/>
        </p:txBody>
      </p:sp>
      <p:sp>
        <p:nvSpPr>
          <p:cNvPr id="22" name="Google Shape;22;p4"/>
          <p:cNvSpPr txBox="1"/>
          <p:nvPr>
            <p:ph idx="2" type="body"/>
          </p:nvPr>
        </p:nvSpPr>
        <p:spPr>
          <a:xfrm>
            <a:off x="3345900" y="412575"/>
            <a:ext cx="5537400" cy="44187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5"/>
          <p:cNvSpPr txBox="1"/>
          <p:nvPr>
            <p:ph type="title"/>
          </p:nvPr>
        </p:nvSpPr>
        <p:spPr>
          <a:xfrm>
            <a:off x="376550" y="147875"/>
            <a:ext cx="8310000" cy="7599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Google Shape;25;p5"/>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2/3 Content">
  <p:cSld name="CUSTOM">
    <p:spTree>
      <p:nvGrpSpPr>
        <p:cNvPr id="26" name="Shape 26"/>
        <p:cNvGrpSpPr/>
        <p:nvPr/>
      </p:nvGrpSpPr>
      <p:grpSpPr>
        <a:xfrm>
          <a:off x="0" y="0"/>
          <a:ext cx="0" cy="0"/>
          <a:chOff x="0" y="0"/>
          <a:chExt cx="0" cy="0"/>
        </a:xfrm>
      </p:grpSpPr>
      <p:sp>
        <p:nvSpPr>
          <p:cNvPr id="27" name="Google Shape;27;p6"/>
          <p:cNvSpPr txBox="1"/>
          <p:nvPr>
            <p:ph type="title"/>
          </p:nvPr>
        </p:nvSpPr>
        <p:spPr>
          <a:xfrm>
            <a:off x="3328025" y="147875"/>
            <a:ext cx="5551800" cy="759900"/>
          </a:xfrm>
          <a:prstGeom prst="rect">
            <a:avLst/>
          </a:prstGeom>
          <a:noFill/>
          <a:ln>
            <a:noFill/>
          </a:ln>
        </p:spPr>
        <p:txBody>
          <a:bodyPr anchorCtr="0" anchor="ctr" bIns="34275" lIns="68575" spcFirstLastPara="1" rIns="68575" wrap="square" tIns="34275">
            <a:normAutofit/>
          </a:bodyPr>
          <a:lstStyle>
            <a:lvl1pPr lvl="0" marR="0" algn="l">
              <a:lnSpc>
                <a:spcPct val="115000"/>
              </a:lnSpc>
              <a:spcBef>
                <a:spcPts val="0"/>
              </a:spcBef>
              <a:spcAft>
                <a:spcPts val="0"/>
              </a:spcAft>
              <a:buClr>
                <a:schemeClr val="dk1"/>
              </a:buClr>
              <a:buSzPts val="3000"/>
              <a:buFont typeface="Open Sans Light"/>
              <a:buNone/>
              <a:defRPr i="0" sz="3000" u="none" cap="none" strike="noStrike">
                <a:solidFill>
                  <a:schemeClr val="dk1"/>
                </a:solidFill>
                <a:latin typeface="Open Sans Light"/>
                <a:ea typeface="Open Sans Light"/>
                <a:cs typeface="Open Sans Light"/>
                <a:sym typeface="Open Sans Light"/>
              </a:defRPr>
            </a:lvl1pPr>
            <a:lvl2pPr lvl="1">
              <a:lnSpc>
                <a:spcPct val="115000"/>
              </a:lnSpc>
              <a:spcBef>
                <a:spcPts val="0"/>
              </a:spcBef>
              <a:spcAft>
                <a:spcPts val="0"/>
              </a:spcAft>
              <a:buSzPts val="1100"/>
              <a:buNone/>
              <a:defRPr sz="1400"/>
            </a:lvl2pPr>
            <a:lvl3pPr lvl="2">
              <a:lnSpc>
                <a:spcPct val="115000"/>
              </a:lnSpc>
              <a:spcBef>
                <a:spcPts val="0"/>
              </a:spcBef>
              <a:spcAft>
                <a:spcPts val="0"/>
              </a:spcAft>
              <a:buSzPts val="1100"/>
              <a:buNone/>
              <a:defRPr sz="1400"/>
            </a:lvl3pPr>
            <a:lvl4pPr lvl="3">
              <a:lnSpc>
                <a:spcPct val="115000"/>
              </a:lnSpc>
              <a:spcBef>
                <a:spcPts val="0"/>
              </a:spcBef>
              <a:spcAft>
                <a:spcPts val="0"/>
              </a:spcAft>
              <a:buSzPts val="1100"/>
              <a:buNone/>
              <a:defRPr sz="1400"/>
            </a:lvl4pPr>
            <a:lvl5pPr lvl="4">
              <a:lnSpc>
                <a:spcPct val="115000"/>
              </a:lnSpc>
              <a:spcBef>
                <a:spcPts val="0"/>
              </a:spcBef>
              <a:spcAft>
                <a:spcPts val="0"/>
              </a:spcAft>
              <a:buSzPts val="1100"/>
              <a:buNone/>
              <a:defRPr sz="1400"/>
            </a:lvl5pPr>
            <a:lvl6pPr lvl="5">
              <a:lnSpc>
                <a:spcPct val="115000"/>
              </a:lnSpc>
              <a:spcBef>
                <a:spcPts val="0"/>
              </a:spcBef>
              <a:spcAft>
                <a:spcPts val="0"/>
              </a:spcAft>
              <a:buSzPts val="1100"/>
              <a:buNone/>
              <a:defRPr sz="1400"/>
            </a:lvl6pPr>
            <a:lvl7pPr lvl="6">
              <a:lnSpc>
                <a:spcPct val="115000"/>
              </a:lnSpc>
              <a:spcBef>
                <a:spcPts val="0"/>
              </a:spcBef>
              <a:spcAft>
                <a:spcPts val="0"/>
              </a:spcAft>
              <a:buSzPts val="1100"/>
              <a:buNone/>
              <a:defRPr sz="1400"/>
            </a:lvl7pPr>
            <a:lvl8pPr lvl="7">
              <a:lnSpc>
                <a:spcPct val="115000"/>
              </a:lnSpc>
              <a:spcBef>
                <a:spcPts val="0"/>
              </a:spcBef>
              <a:spcAft>
                <a:spcPts val="0"/>
              </a:spcAft>
              <a:buSzPts val="1100"/>
              <a:buNone/>
              <a:defRPr sz="1400"/>
            </a:lvl8pPr>
            <a:lvl9pPr lvl="8">
              <a:lnSpc>
                <a:spcPct val="115000"/>
              </a:lnSpc>
              <a:spcBef>
                <a:spcPts val="0"/>
              </a:spcBef>
              <a:spcAft>
                <a:spcPts val="0"/>
              </a:spcAft>
              <a:buSzPts val="1100"/>
              <a:buNone/>
              <a:defRPr sz="1400"/>
            </a:lvl9pPr>
          </a:lstStyle>
          <a:p/>
        </p:txBody>
      </p:sp>
      <p:sp>
        <p:nvSpPr>
          <p:cNvPr id="28" name="Google Shape;28;p6"/>
          <p:cNvSpPr/>
          <p:nvPr>
            <p:ph idx="2" type="pic"/>
          </p:nvPr>
        </p:nvSpPr>
        <p:spPr>
          <a:xfrm>
            <a:off x="0" y="0"/>
            <a:ext cx="3063300" cy="4913100"/>
          </a:xfrm>
          <a:prstGeom prst="rect">
            <a:avLst/>
          </a:prstGeom>
          <a:noFill/>
          <a:ln>
            <a:noFill/>
          </a:ln>
        </p:spPr>
      </p:sp>
      <p:sp>
        <p:nvSpPr>
          <p:cNvPr id="29" name="Google Shape;29;p6"/>
          <p:cNvSpPr txBox="1"/>
          <p:nvPr>
            <p:ph idx="1" type="body"/>
          </p:nvPr>
        </p:nvSpPr>
        <p:spPr>
          <a:xfrm>
            <a:off x="3328075" y="975600"/>
            <a:ext cx="5551800" cy="3783300"/>
          </a:xfrm>
          <a:prstGeom prst="rect">
            <a:avLst/>
          </a:prstGeom>
        </p:spPr>
        <p:txBody>
          <a:bodyPr anchorCtr="0" anchor="t" bIns="34275" lIns="68575" spcFirstLastPara="1" rIns="68575" wrap="square" tIns="34275">
            <a:normAutofit/>
          </a:bodyPr>
          <a:lstStyle>
            <a:lvl1pPr indent="-381000" lvl="0" marL="457200">
              <a:spcBef>
                <a:spcPts val="100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0"/>
              </a:spcAft>
              <a:buSzPts val="14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2/3 Content">
  <p:cSld name="CUSTOM_1">
    <p:spTree>
      <p:nvGrpSpPr>
        <p:cNvPr id="30" name="Shape 30"/>
        <p:cNvGrpSpPr/>
        <p:nvPr/>
      </p:nvGrpSpPr>
      <p:grpSpPr>
        <a:xfrm>
          <a:off x="0" y="0"/>
          <a:ext cx="0" cy="0"/>
          <a:chOff x="0" y="0"/>
          <a:chExt cx="0" cy="0"/>
        </a:xfrm>
      </p:grpSpPr>
      <p:sp>
        <p:nvSpPr>
          <p:cNvPr id="31" name="Google Shape;31;p7"/>
          <p:cNvSpPr/>
          <p:nvPr>
            <p:ph idx="2" type="pic"/>
          </p:nvPr>
        </p:nvSpPr>
        <p:spPr>
          <a:xfrm>
            <a:off x="6080700" y="0"/>
            <a:ext cx="3063300" cy="4899900"/>
          </a:xfrm>
          <a:prstGeom prst="rect">
            <a:avLst/>
          </a:prstGeom>
          <a:noFill/>
          <a:ln>
            <a:noFill/>
          </a:ln>
        </p:spPr>
      </p:sp>
      <p:sp>
        <p:nvSpPr>
          <p:cNvPr id="32" name="Google Shape;32;p7"/>
          <p:cNvSpPr txBox="1"/>
          <p:nvPr>
            <p:ph idx="1" type="body"/>
          </p:nvPr>
        </p:nvSpPr>
        <p:spPr>
          <a:xfrm>
            <a:off x="376550" y="1006425"/>
            <a:ext cx="5373000" cy="38937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sp>
        <p:nvSpPr>
          <p:cNvPr id="33" name="Google Shape;33;p7"/>
          <p:cNvSpPr txBox="1"/>
          <p:nvPr>
            <p:ph type="title"/>
          </p:nvPr>
        </p:nvSpPr>
        <p:spPr>
          <a:xfrm>
            <a:off x="376550" y="147875"/>
            <a:ext cx="8310000" cy="759900"/>
          </a:xfrm>
          <a:prstGeom prst="rect">
            <a:avLst/>
          </a:prstGeom>
          <a:noFill/>
          <a:ln>
            <a:noFill/>
          </a:ln>
        </p:spPr>
        <p:txBody>
          <a:bodyPr anchorCtr="0" anchor="ctr" bIns="34275" lIns="68575" spcFirstLastPara="1" rIns="68575" wrap="square" tIns="34275">
            <a:normAutofit/>
          </a:bodyPr>
          <a:lstStyle>
            <a:lvl1pPr lvl="0" marR="0" algn="l">
              <a:lnSpc>
                <a:spcPct val="115000"/>
              </a:lnSpc>
              <a:spcBef>
                <a:spcPts val="0"/>
              </a:spcBef>
              <a:spcAft>
                <a:spcPts val="0"/>
              </a:spcAft>
              <a:buClr>
                <a:schemeClr val="dk1"/>
              </a:buClr>
              <a:buSzPts val="3000"/>
              <a:buFont typeface="Open Sans Light"/>
              <a:buNone/>
              <a:defRPr i="0" sz="3000" u="none" cap="none" strike="noStrike">
                <a:solidFill>
                  <a:schemeClr val="dk1"/>
                </a:solidFill>
                <a:latin typeface="Open Sans Light"/>
                <a:ea typeface="Open Sans Light"/>
                <a:cs typeface="Open Sans Light"/>
                <a:sym typeface="Open Sans Light"/>
              </a:defRPr>
            </a:lvl1pPr>
            <a:lvl2pPr lvl="1">
              <a:lnSpc>
                <a:spcPct val="115000"/>
              </a:lnSpc>
              <a:spcBef>
                <a:spcPts val="0"/>
              </a:spcBef>
              <a:spcAft>
                <a:spcPts val="0"/>
              </a:spcAft>
              <a:buSzPts val="1100"/>
              <a:buNone/>
              <a:defRPr sz="1400"/>
            </a:lvl2pPr>
            <a:lvl3pPr lvl="2">
              <a:lnSpc>
                <a:spcPct val="115000"/>
              </a:lnSpc>
              <a:spcBef>
                <a:spcPts val="0"/>
              </a:spcBef>
              <a:spcAft>
                <a:spcPts val="0"/>
              </a:spcAft>
              <a:buSzPts val="1100"/>
              <a:buNone/>
              <a:defRPr sz="1400"/>
            </a:lvl3pPr>
            <a:lvl4pPr lvl="3">
              <a:lnSpc>
                <a:spcPct val="115000"/>
              </a:lnSpc>
              <a:spcBef>
                <a:spcPts val="0"/>
              </a:spcBef>
              <a:spcAft>
                <a:spcPts val="0"/>
              </a:spcAft>
              <a:buSzPts val="1100"/>
              <a:buNone/>
              <a:defRPr sz="1400"/>
            </a:lvl4pPr>
            <a:lvl5pPr lvl="4">
              <a:lnSpc>
                <a:spcPct val="115000"/>
              </a:lnSpc>
              <a:spcBef>
                <a:spcPts val="0"/>
              </a:spcBef>
              <a:spcAft>
                <a:spcPts val="0"/>
              </a:spcAft>
              <a:buSzPts val="1100"/>
              <a:buNone/>
              <a:defRPr sz="1400"/>
            </a:lvl5pPr>
            <a:lvl6pPr lvl="5">
              <a:lnSpc>
                <a:spcPct val="115000"/>
              </a:lnSpc>
              <a:spcBef>
                <a:spcPts val="0"/>
              </a:spcBef>
              <a:spcAft>
                <a:spcPts val="0"/>
              </a:spcAft>
              <a:buSzPts val="1100"/>
              <a:buNone/>
              <a:defRPr sz="1400"/>
            </a:lvl6pPr>
            <a:lvl7pPr lvl="6">
              <a:lnSpc>
                <a:spcPct val="115000"/>
              </a:lnSpc>
              <a:spcBef>
                <a:spcPts val="0"/>
              </a:spcBef>
              <a:spcAft>
                <a:spcPts val="0"/>
              </a:spcAft>
              <a:buSzPts val="1100"/>
              <a:buNone/>
              <a:defRPr sz="1400"/>
            </a:lvl7pPr>
            <a:lvl8pPr lvl="7">
              <a:lnSpc>
                <a:spcPct val="115000"/>
              </a:lnSpc>
              <a:spcBef>
                <a:spcPts val="0"/>
              </a:spcBef>
              <a:spcAft>
                <a:spcPts val="0"/>
              </a:spcAft>
              <a:buSzPts val="1100"/>
              <a:buNone/>
              <a:defRPr sz="1400"/>
            </a:lvl8pPr>
            <a:lvl9pPr lvl="8">
              <a:lnSpc>
                <a:spcPct val="115000"/>
              </a:lnSpc>
              <a:spcBef>
                <a:spcPts val="0"/>
              </a:spcBef>
              <a:spcAft>
                <a:spcPts val="0"/>
              </a:spcAft>
              <a:buSzPts val="1100"/>
              <a:buNone/>
              <a:defRPr sz="14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Column Content">
  <p:cSld name="CUSTOM_2">
    <p:spTree>
      <p:nvGrpSpPr>
        <p:cNvPr id="34" name="Shape 34"/>
        <p:cNvGrpSpPr/>
        <p:nvPr/>
      </p:nvGrpSpPr>
      <p:grpSpPr>
        <a:xfrm>
          <a:off x="0" y="0"/>
          <a:ext cx="0" cy="0"/>
          <a:chOff x="0" y="0"/>
          <a:chExt cx="0" cy="0"/>
        </a:xfrm>
      </p:grpSpPr>
      <p:sp>
        <p:nvSpPr>
          <p:cNvPr id="35" name="Google Shape;35;p8"/>
          <p:cNvSpPr txBox="1"/>
          <p:nvPr>
            <p:ph type="title"/>
          </p:nvPr>
        </p:nvSpPr>
        <p:spPr>
          <a:xfrm>
            <a:off x="376550" y="147875"/>
            <a:ext cx="8310000" cy="759900"/>
          </a:xfrm>
          <a:prstGeom prst="rect">
            <a:avLst/>
          </a:prstGeom>
        </p:spPr>
        <p:txBody>
          <a:bodyPr anchorCtr="0" anchor="t" bIns="34275" lIns="68575" spcFirstLastPara="1" rIns="68575" wrap="square" tIns="34275">
            <a:normAutofit/>
          </a:bodyPr>
          <a:lstStyle>
            <a:lvl1pPr lvl="0">
              <a:spcBef>
                <a:spcPts val="0"/>
              </a:spcBef>
              <a:spcAft>
                <a:spcPts val="0"/>
              </a:spcAft>
              <a:buSzPts val="30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6" name="Google Shape;36;p8"/>
          <p:cNvSpPr txBox="1"/>
          <p:nvPr>
            <p:ph idx="1" type="body"/>
          </p:nvPr>
        </p:nvSpPr>
        <p:spPr>
          <a:xfrm>
            <a:off x="457200" y="875325"/>
            <a:ext cx="3602400" cy="35679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sp>
        <p:nvSpPr>
          <p:cNvPr id="37" name="Google Shape;37;p8"/>
          <p:cNvSpPr txBox="1"/>
          <p:nvPr>
            <p:ph idx="2" type="body"/>
          </p:nvPr>
        </p:nvSpPr>
        <p:spPr>
          <a:xfrm>
            <a:off x="4990000" y="875325"/>
            <a:ext cx="3696900" cy="36861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cxnSp>
        <p:nvCxnSpPr>
          <p:cNvPr id="38" name="Google Shape;38;p8"/>
          <p:cNvCxnSpPr/>
          <p:nvPr/>
        </p:nvCxnSpPr>
        <p:spPr>
          <a:xfrm>
            <a:off x="4572000" y="1052325"/>
            <a:ext cx="0" cy="3390900"/>
          </a:xfrm>
          <a:prstGeom prst="straightConnector1">
            <a:avLst/>
          </a:prstGeom>
          <a:noFill/>
          <a:ln cap="flat" cmpd="sng" w="9525">
            <a:solidFill>
              <a:srgbClr val="C51A41"/>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9" name="Shape 39"/>
        <p:cNvGrpSpPr/>
        <p:nvPr/>
      </p:nvGrpSpPr>
      <p:grpSpPr>
        <a:xfrm>
          <a:off x="0" y="0"/>
          <a:ext cx="0" cy="0"/>
          <a:chOff x="0" y="0"/>
          <a:chExt cx="0" cy="0"/>
        </a:xfrm>
      </p:grpSpPr>
      <p:sp>
        <p:nvSpPr>
          <p:cNvPr id="40" name="Google Shape;40;p9"/>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41" name="Google Shape;41;p9"/>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1000"/>
              </a:spcBef>
              <a:spcAft>
                <a:spcPts val="0"/>
              </a:spcAft>
              <a:buClr>
                <a:srgbClr val="888888"/>
              </a:buClr>
              <a:buSzPts val="2800"/>
              <a:buNone/>
              <a:defRPr>
                <a:solidFill>
                  <a:srgbClr val="888888"/>
                </a:solidFill>
              </a:defRPr>
            </a:lvl2pPr>
            <a:lvl3pPr lvl="2" algn="ctr">
              <a:spcBef>
                <a:spcPts val="1000"/>
              </a:spcBef>
              <a:spcAft>
                <a:spcPts val="0"/>
              </a:spcAft>
              <a:buClr>
                <a:srgbClr val="888888"/>
              </a:buClr>
              <a:buSzPts val="2400"/>
              <a:buNone/>
              <a:defRPr>
                <a:solidFill>
                  <a:srgbClr val="888888"/>
                </a:solidFill>
              </a:defRPr>
            </a:lvl3pPr>
            <a:lvl4pPr lvl="3" algn="ctr">
              <a:spcBef>
                <a:spcPts val="1000"/>
              </a:spcBef>
              <a:spcAft>
                <a:spcPts val="0"/>
              </a:spcAft>
              <a:buClr>
                <a:srgbClr val="888888"/>
              </a:buClr>
              <a:buSzPts val="2000"/>
              <a:buNone/>
              <a:defRPr>
                <a:solidFill>
                  <a:srgbClr val="888888"/>
                </a:solidFill>
              </a:defRPr>
            </a:lvl4pPr>
            <a:lvl5pPr lvl="4" algn="ctr">
              <a:spcBef>
                <a:spcPts val="1000"/>
              </a:spcBef>
              <a:spcAft>
                <a:spcPts val="0"/>
              </a:spcAft>
              <a:buClr>
                <a:srgbClr val="888888"/>
              </a:buClr>
              <a:buSzPts val="2000"/>
              <a:buNone/>
              <a:defRPr>
                <a:solidFill>
                  <a:srgbClr val="888888"/>
                </a:solidFill>
              </a:defRPr>
            </a:lvl5pPr>
            <a:lvl6pPr lvl="5" algn="ctr">
              <a:spcBef>
                <a:spcPts val="1000"/>
              </a:spcBef>
              <a:spcAft>
                <a:spcPts val="0"/>
              </a:spcAft>
              <a:buClr>
                <a:srgbClr val="888888"/>
              </a:buClr>
              <a:buSzPts val="2000"/>
              <a:buNone/>
              <a:defRPr>
                <a:solidFill>
                  <a:srgbClr val="888888"/>
                </a:solidFill>
              </a:defRPr>
            </a:lvl6pPr>
            <a:lvl7pPr lvl="6" algn="ctr">
              <a:spcBef>
                <a:spcPts val="1000"/>
              </a:spcBef>
              <a:spcAft>
                <a:spcPts val="0"/>
              </a:spcAft>
              <a:buClr>
                <a:srgbClr val="888888"/>
              </a:buClr>
              <a:buSzPts val="2000"/>
              <a:buNone/>
              <a:defRPr>
                <a:solidFill>
                  <a:srgbClr val="888888"/>
                </a:solidFill>
              </a:defRPr>
            </a:lvl7pPr>
            <a:lvl8pPr lvl="7" algn="ctr">
              <a:spcBef>
                <a:spcPts val="1000"/>
              </a:spcBef>
              <a:spcAft>
                <a:spcPts val="0"/>
              </a:spcAft>
              <a:buClr>
                <a:srgbClr val="888888"/>
              </a:buClr>
              <a:buSzPts val="2000"/>
              <a:buNone/>
              <a:defRPr>
                <a:solidFill>
                  <a:srgbClr val="888888"/>
                </a:solidFill>
              </a:defRPr>
            </a:lvl8pPr>
            <a:lvl9pPr lvl="8" algn="ctr">
              <a:spcBef>
                <a:spcPts val="1000"/>
              </a:spcBef>
              <a:spcAft>
                <a:spcPts val="1000"/>
              </a:spcAft>
              <a:buClr>
                <a:srgbClr val="888888"/>
              </a:buClr>
              <a:buSzPts val="2000"/>
              <a:buNone/>
              <a:defRPr>
                <a:solidFill>
                  <a:srgbClr val="888888"/>
                </a:solidFill>
              </a:defRPr>
            </a:lvl9pPr>
          </a:lstStyle>
          <a:p/>
        </p:txBody>
      </p:sp>
      <p:sp>
        <p:nvSpPr>
          <p:cNvPr id="42" name="Google Shape;42;p9"/>
          <p:cNvSpPr txBox="1"/>
          <p:nvPr>
            <p:ph idx="12" type="sldNum"/>
          </p:nvPr>
        </p:nvSpPr>
        <p:spPr>
          <a:xfrm>
            <a:off x="7982222" y="4886307"/>
            <a:ext cx="704700" cy="273900"/>
          </a:xfrm>
          <a:prstGeom prst="rect">
            <a:avLst/>
          </a:prstGeom>
          <a:noFill/>
          <a:ln>
            <a:noFill/>
          </a:ln>
        </p:spPr>
        <p:txBody>
          <a:bodyPr anchorCtr="0" anchor="t" bIns="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3" name="Shape 43"/>
        <p:cNvGrpSpPr/>
        <p:nvPr/>
      </p:nvGrpSpPr>
      <p:grpSpPr>
        <a:xfrm>
          <a:off x="0" y="0"/>
          <a:ext cx="0" cy="0"/>
          <a:chOff x="0" y="0"/>
          <a:chExt cx="0" cy="0"/>
        </a:xfrm>
      </p:grpSpPr>
      <p:sp>
        <p:nvSpPr>
          <p:cNvPr id="44" name="Google Shape;44;p10"/>
          <p:cNvSpPr txBox="1"/>
          <p:nvPr>
            <p:ph type="title"/>
          </p:nvPr>
        </p:nvSpPr>
        <p:spPr>
          <a:xfrm>
            <a:off x="311700" y="445025"/>
            <a:ext cx="8520600" cy="572700"/>
          </a:xfrm>
          <a:prstGeom prst="rect">
            <a:avLst/>
          </a:prstGeom>
        </p:spPr>
        <p:txBody>
          <a:bodyPr anchorCtr="0" anchor="ctr" bIns="34275" lIns="68575" spcFirstLastPara="1" rIns="68575" wrap="square" tIns="34275">
            <a:normAutofit/>
          </a:bodyPr>
          <a:lstStyle>
            <a:lvl1pPr lvl="0">
              <a:spcBef>
                <a:spcPts val="0"/>
              </a:spcBef>
              <a:spcAft>
                <a:spcPts val="0"/>
              </a:spcAft>
              <a:buSzPts val="30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5" name="Google Shape;45;p10"/>
          <p:cNvSpPr txBox="1"/>
          <p:nvPr>
            <p:ph idx="1" type="body"/>
          </p:nvPr>
        </p:nvSpPr>
        <p:spPr>
          <a:xfrm>
            <a:off x="311700" y="1152475"/>
            <a:ext cx="8520600" cy="34164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sp>
        <p:nvSpPr>
          <p:cNvPr id="46" name="Google Shape;46;p10"/>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7" name="Shape 4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rot="5400000">
            <a:off x="4455600" y="455028"/>
            <a:ext cx="232800" cy="9144000"/>
          </a:xfrm>
          <a:prstGeom prst="rect">
            <a:avLst/>
          </a:prstGeom>
          <a:solidFill>
            <a:srgbClr val="C51A4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7" name="Google Shape;7;p1"/>
          <p:cNvSpPr txBox="1"/>
          <p:nvPr>
            <p:ph type="title"/>
          </p:nvPr>
        </p:nvSpPr>
        <p:spPr>
          <a:xfrm>
            <a:off x="376550" y="147875"/>
            <a:ext cx="8310000" cy="759900"/>
          </a:xfrm>
          <a:prstGeom prst="rect">
            <a:avLst/>
          </a:prstGeom>
          <a:noFill/>
          <a:ln>
            <a:noFill/>
          </a:ln>
        </p:spPr>
        <p:txBody>
          <a:bodyPr anchorCtr="0" anchor="ctr" bIns="34275" lIns="68575" spcFirstLastPara="1" rIns="68575" wrap="square" tIns="34275">
            <a:normAutofit/>
          </a:bodyPr>
          <a:lstStyle>
            <a:lvl1pPr lvl="0" marR="0" rtl="0" algn="l">
              <a:lnSpc>
                <a:spcPct val="115000"/>
              </a:lnSpc>
              <a:spcBef>
                <a:spcPts val="0"/>
              </a:spcBef>
              <a:spcAft>
                <a:spcPts val="0"/>
              </a:spcAft>
              <a:buClr>
                <a:schemeClr val="dk1"/>
              </a:buClr>
              <a:buSzPts val="3000"/>
              <a:buFont typeface="Open Sans Light"/>
              <a:buNone/>
              <a:defRPr i="0" sz="3000" u="none" cap="none" strike="noStrike">
                <a:solidFill>
                  <a:schemeClr val="dk1"/>
                </a:solidFill>
                <a:latin typeface="Open Sans Light"/>
                <a:ea typeface="Open Sans Light"/>
                <a:cs typeface="Open Sans Light"/>
                <a:sym typeface="Open Sans Light"/>
              </a:defRPr>
            </a:lvl1pPr>
            <a:lvl2pPr lvl="1">
              <a:lnSpc>
                <a:spcPct val="115000"/>
              </a:lnSpc>
              <a:spcBef>
                <a:spcPts val="0"/>
              </a:spcBef>
              <a:spcAft>
                <a:spcPts val="0"/>
              </a:spcAft>
              <a:buSzPts val="1100"/>
              <a:buNone/>
              <a:defRPr sz="1400"/>
            </a:lvl2pPr>
            <a:lvl3pPr lvl="2">
              <a:lnSpc>
                <a:spcPct val="115000"/>
              </a:lnSpc>
              <a:spcBef>
                <a:spcPts val="0"/>
              </a:spcBef>
              <a:spcAft>
                <a:spcPts val="0"/>
              </a:spcAft>
              <a:buSzPts val="1100"/>
              <a:buNone/>
              <a:defRPr sz="1400"/>
            </a:lvl3pPr>
            <a:lvl4pPr lvl="3">
              <a:lnSpc>
                <a:spcPct val="115000"/>
              </a:lnSpc>
              <a:spcBef>
                <a:spcPts val="0"/>
              </a:spcBef>
              <a:spcAft>
                <a:spcPts val="0"/>
              </a:spcAft>
              <a:buSzPts val="1100"/>
              <a:buNone/>
              <a:defRPr sz="1400"/>
            </a:lvl4pPr>
            <a:lvl5pPr lvl="4">
              <a:lnSpc>
                <a:spcPct val="115000"/>
              </a:lnSpc>
              <a:spcBef>
                <a:spcPts val="0"/>
              </a:spcBef>
              <a:spcAft>
                <a:spcPts val="0"/>
              </a:spcAft>
              <a:buSzPts val="1100"/>
              <a:buNone/>
              <a:defRPr sz="1400"/>
            </a:lvl5pPr>
            <a:lvl6pPr lvl="5">
              <a:lnSpc>
                <a:spcPct val="115000"/>
              </a:lnSpc>
              <a:spcBef>
                <a:spcPts val="0"/>
              </a:spcBef>
              <a:spcAft>
                <a:spcPts val="0"/>
              </a:spcAft>
              <a:buSzPts val="1100"/>
              <a:buNone/>
              <a:defRPr sz="1400"/>
            </a:lvl6pPr>
            <a:lvl7pPr lvl="6">
              <a:lnSpc>
                <a:spcPct val="115000"/>
              </a:lnSpc>
              <a:spcBef>
                <a:spcPts val="0"/>
              </a:spcBef>
              <a:spcAft>
                <a:spcPts val="0"/>
              </a:spcAft>
              <a:buSzPts val="1100"/>
              <a:buNone/>
              <a:defRPr sz="1400"/>
            </a:lvl7pPr>
            <a:lvl8pPr lvl="7">
              <a:lnSpc>
                <a:spcPct val="115000"/>
              </a:lnSpc>
              <a:spcBef>
                <a:spcPts val="0"/>
              </a:spcBef>
              <a:spcAft>
                <a:spcPts val="0"/>
              </a:spcAft>
              <a:buSzPts val="1100"/>
              <a:buNone/>
              <a:defRPr sz="1400"/>
            </a:lvl8pPr>
            <a:lvl9pPr lvl="8">
              <a:lnSpc>
                <a:spcPct val="115000"/>
              </a:lnSpc>
              <a:spcBef>
                <a:spcPts val="0"/>
              </a:spcBef>
              <a:spcAft>
                <a:spcPts val="0"/>
              </a:spcAft>
              <a:buSzPts val="1100"/>
              <a:buNone/>
              <a:defRPr sz="1400"/>
            </a:lvl9pPr>
          </a:lstStyle>
          <a:p/>
        </p:txBody>
      </p:sp>
      <p:sp>
        <p:nvSpPr>
          <p:cNvPr id="8" name="Google Shape;8;p1"/>
          <p:cNvSpPr txBox="1"/>
          <p:nvPr>
            <p:ph idx="1" type="body"/>
          </p:nvPr>
        </p:nvSpPr>
        <p:spPr>
          <a:xfrm>
            <a:off x="376850" y="987925"/>
            <a:ext cx="8310000" cy="3607500"/>
          </a:xfrm>
          <a:prstGeom prst="rect">
            <a:avLst/>
          </a:prstGeom>
          <a:noFill/>
          <a:ln>
            <a:noFill/>
          </a:ln>
        </p:spPr>
        <p:txBody>
          <a:bodyPr anchorCtr="0" anchor="t" bIns="34275" lIns="68575" spcFirstLastPara="1" rIns="68575" wrap="square" tIns="34275">
            <a:normAutofit/>
          </a:bodyPr>
          <a:lstStyle>
            <a:lvl1pPr indent="-381000" lvl="0" marL="457200" marR="0" rtl="0" algn="l">
              <a:lnSpc>
                <a:spcPct val="115000"/>
              </a:lnSpc>
              <a:spcBef>
                <a:spcPts val="0"/>
              </a:spcBef>
              <a:spcAft>
                <a:spcPts val="0"/>
              </a:spcAft>
              <a:buClr>
                <a:schemeClr val="dk1"/>
              </a:buClr>
              <a:buSzPts val="2400"/>
              <a:buFont typeface="Open Sans"/>
              <a:buChar char="•"/>
              <a:defRPr i="0" sz="2400" u="none" cap="none" strike="noStrike">
                <a:solidFill>
                  <a:schemeClr val="dk1"/>
                </a:solidFill>
                <a:latin typeface="Open Sans"/>
                <a:ea typeface="Open Sans"/>
                <a:cs typeface="Open Sans"/>
                <a:sym typeface="Open Sans"/>
              </a:defRPr>
            </a:lvl1pPr>
            <a:lvl2pPr indent="-368300" lvl="1" marL="914400" marR="0" rtl="0" algn="l">
              <a:lnSpc>
                <a:spcPct val="115000"/>
              </a:lnSpc>
              <a:spcBef>
                <a:spcPts val="1000"/>
              </a:spcBef>
              <a:spcAft>
                <a:spcPts val="0"/>
              </a:spcAft>
              <a:buClr>
                <a:schemeClr val="dk1"/>
              </a:buClr>
              <a:buSzPts val="2200"/>
              <a:buFont typeface="Open Sans"/>
              <a:buChar char="–"/>
              <a:defRPr i="0" sz="2200" u="none" cap="none" strike="noStrike">
                <a:solidFill>
                  <a:schemeClr val="dk1"/>
                </a:solidFill>
                <a:latin typeface="Open Sans"/>
                <a:ea typeface="Open Sans"/>
                <a:cs typeface="Open Sans"/>
                <a:sym typeface="Open Sans"/>
              </a:defRPr>
            </a:lvl2pPr>
            <a:lvl3pPr indent="-355600" lvl="2" marL="1371600" marR="0" rtl="0" algn="l">
              <a:lnSpc>
                <a:spcPct val="115000"/>
              </a:lnSpc>
              <a:spcBef>
                <a:spcPts val="1000"/>
              </a:spcBef>
              <a:spcAft>
                <a:spcPts val="0"/>
              </a:spcAft>
              <a:buClr>
                <a:schemeClr val="dk1"/>
              </a:buClr>
              <a:buSzPts val="2000"/>
              <a:buFont typeface="Open Sans"/>
              <a:buChar char="•"/>
              <a:defRPr i="0" sz="2000" u="none" cap="none" strike="noStrike">
                <a:solidFill>
                  <a:schemeClr val="dk1"/>
                </a:solidFill>
                <a:latin typeface="Open Sans"/>
                <a:ea typeface="Open Sans"/>
                <a:cs typeface="Open Sans"/>
                <a:sym typeface="Open Sans"/>
              </a:defRPr>
            </a:lvl3pPr>
            <a:lvl4pPr indent="-342900" lvl="3" marL="1828800" marR="0" rtl="0" algn="l">
              <a:lnSpc>
                <a:spcPct val="115000"/>
              </a:lnSpc>
              <a:spcBef>
                <a:spcPts val="1000"/>
              </a:spcBef>
              <a:spcAft>
                <a:spcPts val="0"/>
              </a:spcAft>
              <a:buClr>
                <a:schemeClr val="dk1"/>
              </a:buClr>
              <a:buSzPts val="1800"/>
              <a:buFont typeface="Open Sans"/>
              <a:buChar char="–"/>
              <a:defRPr i="0" sz="1800" u="none" cap="none" strike="noStrike">
                <a:solidFill>
                  <a:schemeClr val="dk1"/>
                </a:solidFill>
                <a:latin typeface="Open Sans"/>
                <a:ea typeface="Open Sans"/>
                <a:cs typeface="Open Sans"/>
                <a:sym typeface="Open Sans"/>
              </a:defRPr>
            </a:lvl4pPr>
            <a:lvl5pPr indent="-330200" lvl="4" marL="2286000" marR="0" rtl="0" algn="l">
              <a:lnSpc>
                <a:spcPct val="115000"/>
              </a:lnSpc>
              <a:spcBef>
                <a:spcPts val="1000"/>
              </a:spcBef>
              <a:spcAft>
                <a:spcPts val="0"/>
              </a:spcAft>
              <a:buClr>
                <a:schemeClr val="dk1"/>
              </a:buClr>
              <a:buSzPts val="1600"/>
              <a:buFont typeface="Open Sans"/>
              <a:buChar char="»"/>
              <a:defRPr i="0" sz="16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1000"/>
              </a:spcBef>
              <a:spcAft>
                <a:spcPts val="0"/>
              </a:spcAft>
              <a:buClr>
                <a:schemeClr val="dk1"/>
              </a:buClr>
              <a:buSzPts val="1400"/>
              <a:buFont typeface="Open Sans"/>
              <a:buChar char="•"/>
              <a:defRPr i="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1000"/>
              </a:spcBef>
              <a:spcAft>
                <a:spcPts val="0"/>
              </a:spcAft>
              <a:buClr>
                <a:schemeClr val="dk1"/>
              </a:buClr>
              <a:buSzPts val="1400"/>
              <a:buFont typeface="Open Sans"/>
              <a:buChar char="•"/>
              <a:defRPr i="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1000"/>
              </a:spcBef>
              <a:spcAft>
                <a:spcPts val="0"/>
              </a:spcAft>
              <a:buClr>
                <a:schemeClr val="dk1"/>
              </a:buClr>
              <a:buSzPts val="1400"/>
              <a:buFont typeface="Open Sans"/>
              <a:buChar char="•"/>
              <a:defRPr i="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1000"/>
              </a:spcBef>
              <a:spcAft>
                <a:spcPts val="1000"/>
              </a:spcAft>
              <a:buClr>
                <a:schemeClr val="dk1"/>
              </a:buClr>
              <a:buSzPts val="1400"/>
              <a:buFont typeface="Open Sans"/>
              <a:buChar char="•"/>
              <a:defRPr i="0" u="none" cap="none" strike="noStrike">
                <a:solidFill>
                  <a:schemeClr val="dk1"/>
                </a:solidFill>
                <a:latin typeface="Open Sans"/>
                <a:ea typeface="Open Sans"/>
                <a:cs typeface="Open Sans"/>
                <a:sym typeface="Open Sans"/>
              </a:defRPr>
            </a:lvl9pPr>
          </a:lstStyle>
          <a:p/>
        </p:txBody>
      </p:sp>
      <p:sp>
        <p:nvSpPr>
          <p:cNvPr id="9" name="Google Shape;9;p1"/>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i="0" sz="1000" u="none" cap="none" strike="noStrike">
                <a:solidFill>
                  <a:srgbClr val="888888"/>
                </a:solidFill>
                <a:latin typeface="Open Sans Light"/>
                <a:ea typeface="Open Sans Light"/>
                <a:cs typeface="Open Sans Light"/>
                <a:sym typeface="Open Sans Light"/>
              </a:defRPr>
            </a:lvl1pPr>
            <a:lvl2pPr indent="0" lvl="1" marL="0" marR="0" rtl="0" algn="r">
              <a:spcBef>
                <a:spcPts val="0"/>
              </a:spcBef>
              <a:buNone/>
              <a:defRPr i="0" sz="1000" u="none" cap="none" strike="noStrike">
                <a:solidFill>
                  <a:srgbClr val="888888"/>
                </a:solidFill>
                <a:latin typeface="Open Sans Light"/>
                <a:ea typeface="Open Sans Light"/>
                <a:cs typeface="Open Sans Light"/>
                <a:sym typeface="Open Sans Light"/>
              </a:defRPr>
            </a:lvl2pPr>
            <a:lvl3pPr indent="0" lvl="2" marL="0" marR="0" rtl="0" algn="r">
              <a:spcBef>
                <a:spcPts val="0"/>
              </a:spcBef>
              <a:buNone/>
              <a:defRPr i="0" sz="1000" u="none" cap="none" strike="noStrike">
                <a:solidFill>
                  <a:srgbClr val="888888"/>
                </a:solidFill>
                <a:latin typeface="Open Sans Light"/>
                <a:ea typeface="Open Sans Light"/>
                <a:cs typeface="Open Sans Light"/>
                <a:sym typeface="Open Sans Light"/>
              </a:defRPr>
            </a:lvl3pPr>
            <a:lvl4pPr indent="0" lvl="3" marL="0" marR="0" rtl="0" algn="r">
              <a:spcBef>
                <a:spcPts val="0"/>
              </a:spcBef>
              <a:buNone/>
              <a:defRPr i="0" sz="1000" u="none" cap="none" strike="noStrike">
                <a:solidFill>
                  <a:srgbClr val="888888"/>
                </a:solidFill>
                <a:latin typeface="Open Sans Light"/>
                <a:ea typeface="Open Sans Light"/>
                <a:cs typeface="Open Sans Light"/>
                <a:sym typeface="Open Sans Light"/>
              </a:defRPr>
            </a:lvl4pPr>
            <a:lvl5pPr indent="0" lvl="4" marL="0" marR="0" rtl="0" algn="r">
              <a:spcBef>
                <a:spcPts val="0"/>
              </a:spcBef>
              <a:buNone/>
              <a:defRPr i="0" sz="1000" u="none" cap="none" strike="noStrike">
                <a:solidFill>
                  <a:srgbClr val="888888"/>
                </a:solidFill>
                <a:latin typeface="Open Sans Light"/>
                <a:ea typeface="Open Sans Light"/>
                <a:cs typeface="Open Sans Light"/>
                <a:sym typeface="Open Sans Light"/>
              </a:defRPr>
            </a:lvl5pPr>
            <a:lvl6pPr indent="0" lvl="5" marL="0" marR="0" rtl="0" algn="r">
              <a:spcBef>
                <a:spcPts val="0"/>
              </a:spcBef>
              <a:buNone/>
              <a:defRPr i="0" sz="1000" u="none" cap="none" strike="noStrike">
                <a:solidFill>
                  <a:srgbClr val="888888"/>
                </a:solidFill>
                <a:latin typeface="Open Sans Light"/>
                <a:ea typeface="Open Sans Light"/>
                <a:cs typeface="Open Sans Light"/>
                <a:sym typeface="Open Sans Light"/>
              </a:defRPr>
            </a:lvl6pPr>
            <a:lvl7pPr indent="0" lvl="6" marL="0" marR="0" rtl="0" algn="r">
              <a:spcBef>
                <a:spcPts val="0"/>
              </a:spcBef>
              <a:buNone/>
              <a:defRPr i="0" sz="1000" u="none" cap="none" strike="noStrike">
                <a:solidFill>
                  <a:srgbClr val="888888"/>
                </a:solidFill>
                <a:latin typeface="Open Sans Light"/>
                <a:ea typeface="Open Sans Light"/>
                <a:cs typeface="Open Sans Light"/>
                <a:sym typeface="Open Sans Light"/>
              </a:defRPr>
            </a:lvl7pPr>
            <a:lvl8pPr indent="0" lvl="7" marL="0" marR="0" rtl="0" algn="r">
              <a:spcBef>
                <a:spcPts val="0"/>
              </a:spcBef>
              <a:buNone/>
              <a:defRPr i="0" sz="1000" u="none" cap="none" strike="noStrike">
                <a:solidFill>
                  <a:srgbClr val="888888"/>
                </a:solidFill>
                <a:latin typeface="Open Sans Light"/>
                <a:ea typeface="Open Sans Light"/>
                <a:cs typeface="Open Sans Light"/>
                <a:sym typeface="Open Sans Light"/>
              </a:defRPr>
            </a:lvl8pPr>
            <a:lvl9pPr indent="0" lvl="8" marL="0" marR="0" rtl="0" algn="r">
              <a:spcBef>
                <a:spcPts val="0"/>
              </a:spcBef>
              <a:buNone/>
              <a:defRPr i="0" sz="1000" u="none" cap="none" strike="noStrike">
                <a:solidFill>
                  <a:srgbClr val="888888"/>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GB"/>
              <a:t>‹#›</a:t>
            </a:fld>
            <a:endParaRPr/>
          </a:p>
        </p:txBody>
      </p:sp>
      <p:sp>
        <p:nvSpPr>
          <p:cNvPr id="10" name="Google Shape;10;p1"/>
          <p:cNvSpPr txBox="1"/>
          <p:nvPr/>
        </p:nvSpPr>
        <p:spPr>
          <a:xfrm>
            <a:off x="6474250" y="4938050"/>
            <a:ext cx="2670000" cy="1617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GB" sz="600" u="none" cap="none" strike="noStrike">
                <a:solidFill>
                  <a:srgbClr val="FFFFFF"/>
                </a:solidFill>
                <a:latin typeface="Arial"/>
                <a:ea typeface="Arial"/>
                <a:cs typeface="Arial"/>
                <a:sym typeface="Arial"/>
              </a:rPr>
              <a:t>Copyright © 202</a:t>
            </a:r>
            <a:r>
              <a:rPr lang="en-GB" sz="600">
                <a:solidFill>
                  <a:srgbClr val="FFFFFF"/>
                </a:solidFill>
              </a:rPr>
              <a:t>6</a:t>
            </a:r>
            <a:r>
              <a:rPr b="0" i="0" lang="en-GB" sz="600" u="none" cap="none" strike="noStrike">
                <a:solidFill>
                  <a:srgbClr val="FFFFFF"/>
                </a:solidFill>
                <a:latin typeface="Arial"/>
                <a:ea typeface="Arial"/>
                <a:cs typeface="Arial"/>
                <a:sym typeface="Arial"/>
              </a:rPr>
              <a:t xml:space="preserve"> Nanyang Technological University. All rights reserved. </a:t>
            </a:r>
            <a:endParaRPr sz="600">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pic>
        <p:nvPicPr>
          <p:cNvPr descr="A building with a balcony and trees  Description automatically generated" id="53" name="Google Shape;53;p12"/>
          <p:cNvPicPr preferRelativeResize="0"/>
          <p:nvPr/>
        </p:nvPicPr>
        <p:blipFill rotWithShape="1">
          <a:blip r:embed="rId3">
            <a:alphaModFix/>
          </a:blip>
          <a:srcRect b="0" l="0" r="33271" t="0"/>
          <a:stretch/>
        </p:blipFill>
        <p:spPr>
          <a:xfrm>
            <a:off x="4629241" y="0"/>
            <a:ext cx="4572001" cy="5143501"/>
          </a:xfrm>
          <a:prstGeom prst="rect">
            <a:avLst/>
          </a:prstGeom>
          <a:noFill/>
          <a:ln>
            <a:noFill/>
          </a:ln>
        </p:spPr>
      </p:pic>
      <p:sp>
        <p:nvSpPr>
          <p:cNvPr id="54" name="Google Shape;54;p12"/>
          <p:cNvSpPr/>
          <p:nvPr/>
        </p:nvSpPr>
        <p:spPr>
          <a:xfrm>
            <a:off x="4629240" y="4339244"/>
            <a:ext cx="4572000" cy="804300"/>
          </a:xfrm>
          <a:prstGeom prst="rect">
            <a:avLst/>
          </a:prstGeom>
          <a:solidFill>
            <a:srgbClr val="181C62">
              <a:alpha val="8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5" name="Google Shape;55;p12"/>
          <p:cNvSpPr/>
          <p:nvPr/>
        </p:nvSpPr>
        <p:spPr>
          <a:xfrm>
            <a:off x="0" y="4339244"/>
            <a:ext cx="4629300" cy="804300"/>
          </a:xfrm>
          <a:prstGeom prst="rect">
            <a:avLst/>
          </a:prstGeom>
          <a:solidFill>
            <a:srgbClr val="181C6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6" name="Google Shape;56;p12"/>
          <p:cNvSpPr/>
          <p:nvPr/>
        </p:nvSpPr>
        <p:spPr>
          <a:xfrm>
            <a:off x="1" y="0"/>
            <a:ext cx="342900" cy="5143500"/>
          </a:xfrm>
          <a:prstGeom prst="rect">
            <a:avLst/>
          </a:prstGeom>
          <a:solidFill>
            <a:srgbClr val="C51A4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7" name="Google Shape;57;p12"/>
          <p:cNvSpPr txBox="1"/>
          <p:nvPr/>
        </p:nvSpPr>
        <p:spPr>
          <a:xfrm>
            <a:off x="565475" y="1649875"/>
            <a:ext cx="3631800" cy="996900"/>
          </a:xfrm>
          <a:prstGeom prst="rect">
            <a:avLst/>
          </a:prstGeom>
          <a:noFill/>
          <a:ln>
            <a:noFill/>
          </a:ln>
        </p:spPr>
        <p:txBody>
          <a:bodyPr anchorCtr="0" anchor="ctr" bIns="34275" lIns="67500" spcFirstLastPara="1" rIns="68575" wrap="square" tIns="34275">
            <a:noAutofit/>
          </a:bodyPr>
          <a:lstStyle/>
          <a:p>
            <a:pPr indent="0" lvl="0" marL="0" marR="0" rtl="0" algn="l">
              <a:lnSpc>
                <a:spcPct val="115000"/>
              </a:lnSpc>
              <a:spcBef>
                <a:spcPts val="0"/>
              </a:spcBef>
              <a:spcAft>
                <a:spcPts val="0"/>
              </a:spcAft>
              <a:buClr>
                <a:srgbClr val="181C62"/>
              </a:buClr>
              <a:buSzPts val="3000"/>
              <a:buFont typeface="Open Sans Light"/>
              <a:buNone/>
            </a:pPr>
            <a:r>
              <a:rPr lang="en-GB" sz="2400">
                <a:solidFill>
                  <a:srgbClr val="181C62"/>
                </a:solidFill>
                <a:latin typeface="Open Sans Light"/>
                <a:ea typeface="Open Sans Light"/>
                <a:cs typeface="Open Sans Light"/>
                <a:sym typeface="Open Sans Light"/>
              </a:rPr>
              <a:t>(SCTP) Advanced Professional Certificate</a:t>
            </a:r>
            <a:endParaRPr sz="2400"/>
          </a:p>
        </p:txBody>
      </p:sp>
      <p:sp>
        <p:nvSpPr>
          <p:cNvPr id="58" name="Google Shape;58;p12"/>
          <p:cNvSpPr txBox="1"/>
          <p:nvPr/>
        </p:nvSpPr>
        <p:spPr>
          <a:xfrm>
            <a:off x="562516" y="2571750"/>
            <a:ext cx="3892200" cy="604500"/>
          </a:xfrm>
          <a:prstGeom prst="rect">
            <a:avLst/>
          </a:prstGeom>
          <a:noFill/>
          <a:ln>
            <a:noFill/>
          </a:ln>
        </p:spPr>
        <p:txBody>
          <a:bodyPr anchorCtr="0" anchor="ctr" bIns="34275" lIns="67500" spcFirstLastPara="1" rIns="68575" wrap="square" tIns="34275">
            <a:normAutofit/>
          </a:bodyPr>
          <a:lstStyle/>
          <a:p>
            <a:pPr indent="0" lvl="0" marL="0" marR="0" rtl="0" algn="l">
              <a:lnSpc>
                <a:spcPct val="100000"/>
              </a:lnSpc>
              <a:spcBef>
                <a:spcPts val="0"/>
              </a:spcBef>
              <a:spcAft>
                <a:spcPts val="0"/>
              </a:spcAft>
              <a:buClr>
                <a:srgbClr val="181C62"/>
              </a:buClr>
              <a:buSzPts val="1500"/>
              <a:buFont typeface="Open Sans"/>
              <a:buNone/>
            </a:pPr>
            <a:r>
              <a:t/>
            </a:r>
            <a:endParaRPr sz="1100"/>
          </a:p>
          <a:p>
            <a:pPr indent="0" lvl="0" marL="0" marR="0" rtl="0" algn="l">
              <a:lnSpc>
                <a:spcPct val="100000"/>
              </a:lnSpc>
              <a:spcBef>
                <a:spcPts val="0"/>
              </a:spcBef>
              <a:spcAft>
                <a:spcPts val="0"/>
              </a:spcAft>
              <a:buClr>
                <a:srgbClr val="181C62"/>
              </a:buClr>
              <a:buSzPts val="1500"/>
              <a:buFont typeface="Open Sans"/>
              <a:buNone/>
            </a:pPr>
            <a:r>
              <a:rPr b="1" lang="en-GB" sz="2400">
                <a:solidFill>
                  <a:srgbClr val="181C62"/>
                </a:solidFill>
                <a:latin typeface="Open Sans"/>
                <a:ea typeface="Open Sans"/>
                <a:cs typeface="Open Sans"/>
                <a:sym typeface="Open Sans"/>
              </a:rPr>
              <a:t>Data Science and AI</a:t>
            </a:r>
            <a:endParaRPr b="1" sz="2400">
              <a:solidFill>
                <a:srgbClr val="181C62"/>
              </a:solidFill>
              <a:latin typeface="Open Sans"/>
              <a:ea typeface="Open Sans"/>
              <a:cs typeface="Open Sans"/>
              <a:sym typeface="Open Sans"/>
            </a:endParaRPr>
          </a:p>
        </p:txBody>
      </p:sp>
      <p:pic>
        <p:nvPicPr>
          <p:cNvPr id="59" name="Google Shape;59;p12"/>
          <p:cNvPicPr preferRelativeResize="0"/>
          <p:nvPr/>
        </p:nvPicPr>
        <p:blipFill rotWithShape="1">
          <a:blip r:embed="rId4">
            <a:alphaModFix/>
          </a:blip>
          <a:srcRect b="33662" l="0" r="0" t="30759"/>
          <a:stretch/>
        </p:blipFill>
        <p:spPr>
          <a:xfrm>
            <a:off x="342900" y="0"/>
            <a:ext cx="4263655" cy="9968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76" name="Shape 76"/>
        <p:cNvGrpSpPr/>
        <p:nvPr/>
      </p:nvGrpSpPr>
      <p:grpSpPr>
        <a:xfrm>
          <a:off x="0" y="0"/>
          <a:ext cx="0" cy="0"/>
          <a:chOff x="0" y="0"/>
          <a:chExt cx="0" cy="0"/>
        </a:xfrm>
      </p:grpSpPr>
      <p:sp>
        <p:nvSpPr>
          <p:cNvPr id="77" name="Google Shape;77;p15"/>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78" name="Google Shape;78;p15"/>
          <p:cNvSpPr/>
          <p:nvPr/>
        </p:nvSpPr>
        <p:spPr>
          <a:xfrm>
            <a:off x="411480" y="994410"/>
            <a:ext cx="82296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1300"/>
              <a:buFont typeface="Open Sans"/>
              <a:buNone/>
            </a:pPr>
            <a:r>
              <a:rPr b="1" lang="en-GB" sz="1300">
                <a:solidFill>
                  <a:srgbClr val="FFFFFF"/>
                </a:solidFill>
                <a:latin typeface="Open Sans"/>
                <a:ea typeface="Open Sans"/>
                <a:cs typeface="Open Sans"/>
                <a:sym typeface="Open Sans"/>
              </a:rPr>
              <a:t>Module 3  ·  Machine Learning &amp; GenAI</a:t>
            </a:r>
            <a:endParaRPr sz="1300">
              <a:solidFill>
                <a:srgbClr val="FFFFFF"/>
              </a:solidFill>
              <a:latin typeface="Open Sans"/>
              <a:ea typeface="Open Sans"/>
              <a:cs typeface="Open Sans"/>
              <a:sym typeface="Open Sans"/>
            </a:endParaRPr>
          </a:p>
        </p:txBody>
      </p:sp>
      <p:sp>
        <p:nvSpPr>
          <p:cNvPr id="79" name="Google Shape;79;p15"/>
          <p:cNvSpPr/>
          <p:nvPr/>
        </p:nvSpPr>
        <p:spPr>
          <a:xfrm>
            <a:off x="411480" y="1440180"/>
            <a:ext cx="822960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5400"/>
              <a:buFont typeface="Open Sans"/>
              <a:buNone/>
            </a:pPr>
            <a:r>
              <a:rPr lang="en-GB" sz="5400">
                <a:solidFill>
                  <a:schemeClr val="accent6"/>
                </a:solidFill>
                <a:latin typeface="Open Sans"/>
                <a:ea typeface="Open Sans"/>
                <a:cs typeface="Open Sans"/>
                <a:sym typeface="Open Sans"/>
              </a:rPr>
              <a:t>L01</a:t>
            </a:r>
            <a:endParaRPr sz="5400">
              <a:solidFill>
                <a:schemeClr val="accent6"/>
              </a:solidFill>
              <a:latin typeface="Open Sans"/>
              <a:ea typeface="Open Sans"/>
              <a:cs typeface="Open Sans"/>
              <a:sym typeface="Open Sans"/>
            </a:endParaRPr>
          </a:p>
        </p:txBody>
      </p:sp>
      <p:sp>
        <p:nvSpPr>
          <p:cNvPr id="80" name="Google Shape;80;p15"/>
          <p:cNvSpPr/>
          <p:nvPr/>
        </p:nvSpPr>
        <p:spPr>
          <a:xfrm>
            <a:off x="411475" y="2125975"/>
            <a:ext cx="8446200" cy="185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FFFFFF"/>
              </a:buClr>
              <a:buSzPts val="5900"/>
              <a:buFont typeface="Open Sans"/>
              <a:buNone/>
            </a:pPr>
            <a:r>
              <a:rPr lang="en-GB" sz="5500">
                <a:solidFill>
                  <a:schemeClr val="lt1"/>
                </a:solidFill>
                <a:latin typeface="Open Sans"/>
                <a:ea typeface="Open Sans"/>
                <a:cs typeface="Open Sans"/>
                <a:sym typeface="Open Sans"/>
              </a:rPr>
              <a:t xml:space="preserve">How Machines </a:t>
            </a:r>
            <a:r>
              <a:rPr b="1" i="1" lang="en-GB" sz="5500">
                <a:solidFill>
                  <a:schemeClr val="accent6"/>
                </a:solidFill>
                <a:latin typeface="Open Sans"/>
                <a:ea typeface="Open Sans"/>
                <a:cs typeface="Open Sans"/>
                <a:sym typeface="Open Sans"/>
              </a:rPr>
              <a:t>Learn.</a:t>
            </a:r>
            <a:endParaRPr b="1" i="1" sz="5500">
              <a:solidFill>
                <a:schemeClr val="accent6"/>
              </a:solidFill>
              <a:latin typeface="Open Sans"/>
              <a:ea typeface="Open Sans"/>
              <a:cs typeface="Open Sans"/>
              <a:sym typeface="Open Sans"/>
            </a:endParaRPr>
          </a:p>
        </p:txBody>
      </p:sp>
      <p:sp>
        <p:nvSpPr>
          <p:cNvPr id="81" name="Google Shape;81;p15"/>
          <p:cNvSpPr/>
          <p:nvPr/>
        </p:nvSpPr>
        <p:spPr>
          <a:xfrm>
            <a:off x="411480" y="4114800"/>
            <a:ext cx="82296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700"/>
              <a:buFont typeface="Open Sans"/>
              <a:buNone/>
            </a:pPr>
            <a:r>
              <a:rPr i="1" lang="en-GB" sz="1700">
                <a:solidFill>
                  <a:srgbClr val="FFFFFF"/>
                </a:solidFill>
                <a:latin typeface="Open Sans"/>
                <a:ea typeface="Open Sans"/>
                <a:cs typeface="Open Sans"/>
                <a:sym typeface="Open Sans"/>
              </a:rPr>
              <a:t>Sarah's Week at NorthStar Retail</a:t>
            </a:r>
            <a:endParaRPr sz="1700">
              <a:solidFill>
                <a:schemeClr val="dk1"/>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 name="Shape 86"/>
        <p:cNvGrpSpPr/>
        <p:nvPr/>
      </p:nvGrpSpPr>
      <p:grpSpPr>
        <a:xfrm>
          <a:off x="0" y="0"/>
          <a:ext cx="0" cy="0"/>
          <a:chOff x="0" y="0"/>
          <a:chExt cx="0" cy="0"/>
        </a:xfrm>
      </p:grpSpPr>
      <p:sp>
        <p:nvSpPr>
          <p:cNvPr id="87" name="Google Shape;87;p16"/>
          <p:cNvSpPr/>
          <p:nvPr/>
        </p:nvSpPr>
        <p:spPr>
          <a:xfrm>
            <a:off x="0" y="0"/>
            <a:ext cx="9143700" cy="377100"/>
          </a:xfrm>
          <a:prstGeom prst="rect">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8" name="Google Shape;88;p16"/>
          <p:cNvSpPr/>
          <p:nvPr/>
        </p:nvSpPr>
        <p:spPr>
          <a:xfrm>
            <a:off x="274320" y="0"/>
            <a:ext cx="68580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Where Does Machine Learning Fit?</a:t>
            </a:r>
            <a:endParaRPr sz="1300">
              <a:solidFill>
                <a:schemeClr val="dk1"/>
              </a:solidFill>
              <a:latin typeface="Calibri"/>
              <a:ea typeface="Calibri"/>
              <a:cs typeface="Calibri"/>
              <a:sym typeface="Calibri"/>
            </a:endParaRPr>
          </a:p>
        </p:txBody>
      </p:sp>
      <p:sp>
        <p:nvSpPr>
          <p:cNvPr id="89" name="Google Shape;89;p16"/>
          <p:cNvSpPr/>
          <p:nvPr/>
        </p:nvSpPr>
        <p:spPr>
          <a:xfrm>
            <a:off x="0" y="0"/>
            <a:ext cx="54900" cy="51435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 name="Google Shape;90;p16"/>
          <p:cNvSpPr/>
          <p:nvPr/>
        </p:nvSpPr>
        <p:spPr>
          <a:xfrm>
            <a:off x="411480" y="582930"/>
            <a:ext cx="54864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800"/>
              <a:buFont typeface="Open Sans"/>
              <a:buNone/>
            </a:pPr>
            <a:r>
              <a:rPr b="1" lang="en-GB" sz="800">
                <a:solidFill>
                  <a:srgbClr val="C8102E"/>
                </a:solidFill>
                <a:latin typeface="Open Sans"/>
                <a:ea typeface="Open Sans"/>
                <a:cs typeface="Open Sans"/>
                <a:sym typeface="Open Sans"/>
              </a:rPr>
              <a:t>I.  A BRIDGE FROM M1 → M2 → M3</a:t>
            </a:r>
            <a:endParaRPr sz="800">
              <a:solidFill>
                <a:schemeClr val="dk1"/>
              </a:solidFill>
              <a:latin typeface="Calibri"/>
              <a:ea typeface="Calibri"/>
              <a:cs typeface="Calibri"/>
              <a:sym typeface="Calibri"/>
            </a:endParaRPr>
          </a:p>
        </p:txBody>
      </p:sp>
      <p:sp>
        <p:nvSpPr>
          <p:cNvPr id="91" name="Google Shape;91;p16"/>
          <p:cNvSpPr/>
          <p:nvPr/>
        </p:nvSpPr>
        <p:spPr>
          <a:xfrm>
            <a:off x="411480" y="822960"/>
            <a:ext cx="8229600" cy="548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B2A4A"/>
              </a:buClr>
              <a:buSzPts val="2100"/>
              <a:buFont typeface="Open Sans"/>
              <a:buNone/>
            </a:pPr>
            <a:r>
              <a:rPr lang="en-GB" sz="2100">
                <a:solidFill>
                  <a:srgbClr val="1B2A4A"/>
                </a:solidFill>
                <a:latin typeface="Open Sans"/>
                <a:ea typeface="Open Sans"/>
                <a:cs typeface="Open Sans"/>
                <a:sym typeface="Open Sans"/>
              </a:rPr>
              <a:t>Same toolkit. Fundamentally new question.</a:t>
            </a:r>
            <a:endParaRPr sz="2100">
              <a:solidFill>
                <a:schemeClr val="dk1"/>
              </a:solidFill>
              <a:latin typeface="Calibri"/>
              <a:ea typeface="Calibri"/>
              <a:cs typeface="Calibri"/>
              <a:sym typeface="Calibri"/>
            </a:endParaRPr>
          </a:p>
        </p:txBody>
      </p:sp>
      <p:sp>
        <p:nvSpPr>
          <p:cNvPr id="92" name="Google Shape;92;p16"/>
          <p:cNvSpPr/>
          <p:nvPr/>
        </p:nvSpPr>
        <p:spPr>
          <a:xfrm>
            <a:off x="411480" y="1645920"/>
            <a:ext cx="2709000" cy="34200"/>
          </a:xfrm>
          <a:prstGeom prst="rect">
            <a:avLst/>
          </a:prstGeom>
          <a:solidFill>
            <a:srgbClr val="2C5697"/>
          </a:solidFill>
          <a:ln cap="flat" cmpd="sng" w="9525">
            <a:solidFill>
              <a:srgbClr val="2C5697"/>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 name="Google Shape;93;p16"/>
          <p:cNvSpPr/>
          <p:nvPr/>
        </p:nvSpPr>
        <p:spPr>
          <a:xfrm>
            <a:off x="411480" y="1680210"/>
            <a:ext cx="2709000" cy="29832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4" name="Google Shape;94;p16"/>
          <p:cNvSpPr/>
          <p:nvPr/>
        </p:nvSpPr>
        <p:spPr>
          <a:xfrm>
            <a:off x="582930" y="1769364"/>
            <a:ext cx="23661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C5697"/>
              </a:buClr>
              <a:buSzPts val="900"/>
              <a:buFont typeface="Open Sans"/>
              <a:buNone/>
            </a:pPr>
            <a:r>
              <a:rPr b="1" lang="en-GB" sz="900">
                <a:solidFill>
                  <a:srgbClr val="2C5697"/>
                </a:solidFill>
                <a:latin typeface="Open Sans"/>
                <a:ea typeface="Open Sans"/>
                <a:cs typeface="Open Sans"/>
                <a:sym typeface="Open Sans"/>
              </a:rPr>
              <a:t>M1  ·  Data Analytics</a:t>
            </a:r>
            <a:endParaRPr sz="900">
              <a:solidFill>
                <a:schemeClr val="dk1"/>
              </a:solidFill>
              <a:latin typeface="Calibri"/>
              <a:ea typeface="Calibri"/>
              <a:cs typeface="Calibri"/>
              <a:sym typeface="Calibri"/>
            </a:endParaRPr>
          </a:p>
        </p:txBody>
      </p:sp>
      <p:sp>
        <p:nvSpPr>
          <p:cNvPr id="95" name="Google Shape;95;p16"/>
          <p:cNvSpPr/>
          <p:nvPr/>
        </p:nvSpPr>
        <p:spPr>
          <a:xfrm>
            <a:off x="582930" y="2023110"/>
            <a:ext cx="2366100" cy="480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800"/>
              <a:buFont typeface="Open Sans"/>
              <a:buNone/>
            </a:pPr>
            <a:r>
              <a:rPr b="1" lang="en-GB" sz="1800">
                <a:solidFill>
                  <a:srgbClr val="1B2A4A"/>
                </a:solidFill>
                <a:latin typeface="Open Sans"/>
                <a:ea typeface="Open Sans"/>
                <a:cs typeface="Open Sans"/>
                <a:sym typeface="Open Sans"/>
              </a:rPr>
              <a:t>Summarise the past.</a:t>
            </a:r>
            <a:endParaRPr sz="1800">
              <a:solidFill>
                <a:schemeClr val="dk1"/>
              </a:solidFill>
              <a:latin typeface="Calibri"/>
              <a:ea typeface="Calibri"/>
              <a:cs typeface="Calibri"/>
              <a:sym typeface="Calibri"/>
            </a:endParaRPr>
          </a:p>
        </p:txBody>
      </p:sp>
      <p:sp>
        <p:nvSpPr>
          <p:cNvPr id="96" name="Google Shape;96;p16"/>
          <p:cNvSpPr/>
          <p:nvPr/>
        </p:nvSpPr>
        <p:spPr>
          <a:xfrm>
            <a:off x="582925" y="2571750"/>
            <a:ext cx="2366100" cy="614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xml:space="preserve">Describe </a:t>
            </a:r>
            <a:r>
              <a:rPr lang="en-GB" sz="1300">
                <a:solidFill>
                  <a:srgbClr val="333D4D"/>
                </a:solidFill>
                <a:latin typeface="Open Sans"/>
                <a:ea typeface="Open Sans"/>
                <a:cs typeface="Open Sans"/>
                <a:sym typeface="Open Sans"/>
              </a:rPr>
              <a:t>data and explain what already happened.</a:t>
            </a:r>
            <a:r>
              <a:rPr lang="en-GB" sz="1300">
                <a:solidFill>
                  <a:srgbClr val="333D4D"/>
                </a:solidFill>
                <a:latin typeface="Open Sans"/>
                <a:ea typeface="Open Sans"/>
                <a:cs typeface="Open Sans"/>
                <a:sym typeface="Open Sans"/>
              </a:rPr>
              <a:t>.</a:t>
            </a:r>
            <a:endParaRPr sz="1300">
              <a:solidFill>
                <a:schemeClr val="dk1"/>
              </a:solidFill>
              <a:latin typeface="Calibri"/>
              <a:ea typeface="Calibri"/>
              <a:cs typeface="Calibri"/>
              <a:sym typeface="Calibri"/>
            </a:endParaRPr>
          </a:p>
        </p:txBody>
      </p:sp>
      <p:sp>
        <p:nvSpPr>
          <p:cNvPr id="97" name="Google Shape;97;p16"/>
          <p:cNvSpPr/>
          <p:nvPr/>
        </p:nvSpPr>
        <p:spPr>
          <a:xfrm>
            <a:off x="582925" y="3669025"/>
            <a:ext cx="2366100" cy="900900"/>
          </a:xfrm>
          <a:prstGeom prst="rect">
            <a:avLst/>
          </a:prstGeom>
          <a:solidFill>
            <a:srgbClr val="F4F5F7"/>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8" name="Google Shape;98;p16"/>
          <p:cNvSpPr/>
          <p:nvPr/>
        </p:nvSpPr>
        <p:spPr>
          <a:xfrm>
            <a:off x="582926" y="3669025"/>
            <a:ext cx="34200" cy="900900"/>
          </a:xfrm>
          <a:prstGeom prst="rect">
            <a:avLst/>
          </a:prstGeom>
          <a:solidFill>
            <a:srgbClr val="2C5697"/>
          </a:solidFill>
          <a:ln cap="flat" cmpd="sng" w="9525">
            <a:solidFill>
              <a:srgbClr val="2C5697"/>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9" name="Google Shape;99;p16"/>
          <p:cNvSpPr/>
          <p:nvPr/>
        </p:nvSpPr>
        <p:spPr>
          <a:xfrm>
            <a:off x="685800" y="3737610"/>
            <a:ext cx="2229000" cy="17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C5697"/>
              </a:buClr>
              <a:buSzPts val="800"/>
              <a:buFont typeface="Open Sans"/>
              <a:buNone/>
            </a:pPr>
            <a:r>
              <a:rPr b="1" lang="en-GB" sz="800">
                <a:solidFill>
                  <a:srgbClr val="2C5697"/>
                </a:solidFill>
                <a:latin typeface="Open Sans"/>
                <a:ea typeface="Open Sans"/>
                <a:cs typeface="Open Sans"/>
                <a:sym typeface="Open Sans"/>
              </a:rPr>
              <a:t>SARAH</a:t>
            </a:r>
            <a:endParaRPr sz="800">
              <a:solidFill>
                <a:schemeClr val="dk1"/>
              </a:solidFill>
              <a:latin typeface="Calibri"/>
              <a:ea typeface="Calibri"/>
              <a:cs typeface="Calibri"/>
              <a:sym typeface="Calibri"/>
            </a:endParaRPr>
          </a:p>
        </p:txBody>
      </p:sp>
      <p:sp>
        <p:nvSpPr>
          <p:cNvPr id="100" name="Google Shape;100;p16"/>
          <p:cNvSpPr/>
          <p:nvPr/>
        </p:nvSpPr>
        <p:spPr>
          <a:xfrm>
            <a:off x="685800" y="3922776"/>
            <a:ext cx="2229000" cy="562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333D4D"/>
              </a:buClr>
              <a:buSzPts val="1300"/>
              <a:buFont typeface="Open Sans"/>
              <a:buNone/>
            </a:pPr>
            <a:r>
              <a:rPr i="1" lang="en-GB" sz="1300">
                <a:solidFill>
                  <a:srgbClr val="333D4D"/>
                </a:solidFill>
                <a:latin typeface="Open Sans"/>
                <a:ea typeface="Open Sans"/>
                <a:cs typeface="Open Sans"/>
                <a:sym typeface="Open Sans"/>
              </a:rPr>
              <a:t>“Customer reviews dropped 12% last month.”</a:t>
            </a:r>
            <a:endParaRPr sz="1300">
              <a:solidFill>
                <a:schemeClr val="dk1"/>
              </a:solidFill>
              <a:latin typeface="Calibri"/>
              <a:ea typeface="Calibri"/>
              <a:cs typeface="Calibri"/>
              <a:sym typeface="Calibri"/>
            </a:endParaRPr>
          </a:p>
        </p:txBody>
      </p:sp>
      <p:sp>
        <p:nvSpPr>
          <p:cNvPr id="101" name="Google Shape;101;p16"/>
          <p:cNvSpPr/>
          <p:nvPr/>
        </p:nvSpPr>
        <p:spPr>
          <a:xfrm>
            <a:off x="3209544" y="1645920"/>
            <a:ext cx="2709000" cy="34200"/>
          </a:xfrm>
          <a:prstGeom prst="rect">
            <a:avLst/>
          </a:prstGeom>
          <a:solidFill>
            <a:srgbClr val="0E7490"/>
          </a:solidFill>
          <a:ln cap="flat" cmpd="sng" w="9525">
            <a:solidFill>
              <a:srgbClr val="0E7490"/>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2" name="Google Shape;102;p16"/>
          <p:cNvSpPr/>
          <p:nvPr/>
        </p:nvSpPr>
        <p:spPr>
          <a:xfrm>
            <a:off x="3209544" y="1680210"/>
            <a:ext cx="2709000" cy="29832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3" name="Google Shape;103;p16"/>
          <p:cNvSpPr/>
          <p:nvPr/>
        </p:nvSpPr>
        <p:spPr>
          <a:xfrm>
            <a:off x="3380994" y="1769364"/>
            <a:ext cx="23661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E7490"/>
              </a:buClr>
              <a:buSzPts val="900"/>
              <a:buFont typeface="Open Sans"/>
              <a:buNone/>
            </a:pPr>
            <a:r>
              <a:rPr b="1" lang="en-GB" sz="900">
                <a:solidFill>
                  <a:srgbClr val="0E7490"/>
                </a:solidFill>
                <a:latin typeface="Open Sans"/>
                <a:ea typeface="Open Sans"/>
                <a:cs typeface="Open Sans"/>
                <a:sym typeface="Open Sans"/>
              </a:rPr>
              <a:t>M2  ·  Data Engineering</a:t>
            </a:r>
            <a:endParaRPr sz="900">
              <a:solidFill>
                <a:schemeClr val="dk1"/>
              </a:solidFill>
              <a:latin typeface="Calibri"/>
              <a:ea typeface="Calibri"/>
              <a:cs typeface="Calibri"/>
              <a:sym typeface="Calibri"/>
            </a:endParaRPr>
          </a:p>
        </p:txBody>
      </p:sp>
      <p:sp>
        <p:nvSpPr>
          <p:cNvPr id="104" name="Google Shape;104;p16"/>
          <p:cNvSpPr/>
          <p:nvPr/>
        </p:nvSpPr>
        <p:spPr>
          <a:xfrm>
            <a:off x="3380994" y="2023110"/>
            <a:ext cx="2366100" cy="480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800"/>
              <a:buFont typeface="Open Sans"/>
              <a:buNone/>
            </a:pPr>
            <a:r>
              <a:rPr b="1" lang="en-GB" sz="1800">
                <a:solidFill>
                  <a:srgbClr val="1B2A4A"/>
                </a:solidFill>
                <a:latin typeface="Open Sans"/>
                <a:ea typeface="Open Sans"/>
                <a:cs typeface="Open Sans"/>
                <a:sym typeface="Open Sans"/>
              </a:rPr>
              <a:t>Move &amp; store data reliably.</a:t>
            </a:r>
            <a:endParaRPr sz="1800">
              <a:solidFill>
                <a:schemeClr val="dk1"/>
              </a:solidFill>
              <a:latin typeface="Calibri"/>
              <a:ea typeface="Calibri"/>
              <a:cs typeface="Calibri"/>
              <a:sym typeface="Calibri"/>
            </a:endParaRPr>
          </a:p>
        </p:txBody>
      </p:sp>
      <p:sp>
        <p:nvSpPr>
          <p:cNvPr id="105" name="Google Shape;105;p16"/>
          <p:cNvSpPr/>
          <p:nvPr/>
        </p:nvSpPr>
        <p:spPr>
          <a:xfrm>
            <a:off x="3380988" y="2571750"/>
            <a:ext cx="2366100" cy="614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Build stable data pipes between different systems.</a:t>
            </a:r>
            <a:endParaRPr sz="1300">
              <a:solidFill>
                <a:schemeClr val="dk1"/>
              </a:solidFill>
              <a:latin typeface="Calibri"/>
              <a:ea typeface="Calibri"/>
              <a:cs typeface="Calibri"/>
              <a:sym typeface="Calibri"/>
            </a:endParaRPr>
          </a:p>
        </p:txBody>
      </p:sp>
      <p:sp>
        <p:nvSpPr>
          <p:cNvPr id="106" name="Google Shape;106;p16"/>
          <p:cNvSpPr/>
          <p:nvPr/>
        </p:nvSpPr>
        <p:spPr>
          <a:xfrm>
            <a:off x="3381000" y="3669025"/>
            <a:ext cx="2366100" cy="900900"/>
          </a:xfrm>
          <a:prstGeom prst="rect">
            <a:avLst/>
          </a:prstGeom>
          <a:solidFill>
            <a:srgbClr val="F4F5F7"/>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7" name="Google Shape;107;p16"/>
          <p:cNvSpPr/>
          <p:nvPr/>
        </p:nvSpPr>
        <p:spPr>
          <a:xfrm>
            <a:off x="3380998" y="3669025"/>
            <a:ext cx="34200" cy="900900"/>
          </a:xfrm>
          <a:prstGeom prst="rect">
            <a:avLst/>
          </a:prstGeom>
          <a:solidFill>
            <a:srgbClr val="0E7490"/>
          </a:solidFill>
          <a:ln cap="flat" cmpd="sng" w="9525">
            <a:solidFill>
              <a:srgbClr val="0E7490"/>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8" name="Google Shape;108;p16"/>
          <p:cNvSpPr/>
          <p:nvPr/>
        </p:nvSpPr>
        <p:spPr>
          <a:xfrm>
            <a:off x="3483864" y="3737610"/>
            <a:ext cx="2229000" cy="17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E7490"/>
              </a:buClr>
              <a:buSzPts val="800"/>
              <a:buFont typeface="Open Sans"/>
              <a:buNone/>
            </a:pPr>
            <a:r>
              <a:rPr b="1" lang="en-GB" sz="800">
                <a:solidFill>
                  <a:srgbClr val="0E7490"/>
                </a:solidFill>
                <a:latin typeface="Open Sans"/>
                <a:ea typeface="Open Sans"/>
                <a:cs typeface="Open Sans"/>
                <a:sym typeface="Open Sans"/>
              </a:rPr>
              <a:t>SARAH</a:t>
            </a:r>
            <a:endParaRPr sz="800">
              <a:solidFill>
                <a:schemeClr val="dk1"/>
              </a:solidFill>
              <a:latin typeface="Calibri"/>
              <a:ea typeface="Calibri"/>
              <a:cs typeface="Calibri"/>
              <a:sym typeface="Calibri"/>
            </a:endParaRPr>
          </a:p>
        </p:txBody>
      </p:sp>
      <p:sp>
        <p:nvSpPr>
          <p:cNvPr id="109" name="Google Shape;109;p16"/>
          <p:cNvSpPr/>
          <p:nvPr/>
        </p:nvSpPr>
        <p:spPr>
          <a:xfrm>
            <a:off x="3483875" y="3891620"/>
            <a:ext cx="2229000" cy="740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333D4D"/>
              </a:buClr>
              <a:buSzPts val="1300"/>
              <a:buFont typeface="Open Sans"/>
              <a:buNone/>
            </a:pPr>
            <a:r>
              <a:rPr i="1" lang="en-GB" sz="1300">
                <a:solidFill>
                  <a:srgbClr val="333D4D"/>
                </a:solidFill>
                <a:latin typeface="Open Sans"/>
                <a:ea typeface="Open Sans"/>
                <a:cs typeface="Open Sans"/>
                <a:sym typeface="Open Sans"/>
              </a:rPr>
              <a:t>“New reviews come to our data warehouse every night.”</a:t>
            </a:r>
            <a:endParaRPr sz="1300">
              <a:solidFill>
                <a:schemeClr val="dk1"/>
              </a:solidFill>
              <a:latin typeface="Calibri"/>
              <a:ea typeface="Calibri"/>
              <a:cs typeface="Calibri"/>
              <a:sym typeface="Calibri"/>
            </a:endParaRPr>
          </a:p>
        </p:txBody>
      </p:sp>
      <p:sp>
        <p:nvSpPr>
          <p:cNvPr id="110" name="Google Shape;110;p16"/>
          <p:cNvSpPr/>
          <p:nvPr/>
        </p:nvSpPr>
        <p:spPr>
          <a:xfrm>
            <a:off x="6007608" y="1645920"/>
            <a:ext cx="2709000" cy="342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1" name="Google Shape;111;p16"/>
          <p:cNvSpPr/>
          <p:nvPr/>
        </p:nvSpPr>
        <p:spPr>
          <a:xfrm>
            <a:off x="6007608" y="1680210"/>
            <a:ext cx="2709000" cy="29832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2" name="Google Shape;112;p16"/>
          <p:cNvSpPr/>
          <p:nvPr/>
        </p:nvSpPr>
        <p:spPr>
          <a:xfrm>
            <a:off x="6007608" y="1426464"/>
            <a:ext cx="2709000" cy="2058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3" name="Google Shape;113;p16"/>
          <p:cNvSpPr/>
          <p:nvPr/>
        </p:nvSpPr>
        <p:spPr>
          <a:xfrm>
            <a:off x="6007608" y="1426464"/>
            <a:ext cx="27090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Open Sans"/>
              <a:buNone/>
            </a:pPr>
            <a:r>
              <a:rPr b="1" lang="en-GB" sz="800">
                <a:solidFill>
                  <a:srgbClr val="FFFFFF"/>
                </a:solidFill>
                <a:latin typeface="Open Sans"/>
                <a:ea typeface="Open Sans"/>
                <a:cs typeface="Open Sans"/>
                <a:sym typeface="Open Sans"/>
              </a:rPr>
              <a:t>We Are Here Now</a:t>
            </a:r>
            <a:endParaRPr sz="800">
              <a:solidFill>
                <a:schemeClr val="dk1"/>
              </a:solidFill>
              <a:latin typeface="Calibri"/>
              <a:ea typeface="Calibri"/>
              <a:cs typeface="Calibri"/>
              <a:sym typeface="Calibri"/>
            </a:endParaRPr>
          </a:p>
        </p:txBody>
      </p:sp>
      <p:sp>
        <p:nvSpPr>
          <p:cNvPr id="114" name="Google Shape;114;p16"/>
          <p:cNvSpPr/>
          <p:nvPr/>
        </p:nvSpPr>
        <p:spPr>
          <a:xfrm>
            <a:off x="6179058" y="1769364"/>
            <a:ext cx="23661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900"/>
              <a:buFont typeface="Open Sans"/>
              <a:buNone/>
            </a:pPr>
            <a:r>
              <a:rPr b="1" lang="en-GB" sz="900">
                <a:solidFill>
                  <a:srgbClr val="C8102E"/>
                </a:solidFill>
                <a:latin typeface="Open Sans"/>
                <a:ea typeface="Open Sans"/>
                <a:cs typeface="Open Sans"/>
                <a:sym typeface="Open Sans"/>
              </a:rPr>
              <a:t>M3  ·  Machine Learning</a:t>
            </a:r>
            <a:endParaRPr sz="900">
              <a:solidFill>
                <a:schemeClr val="dk1"/>
              </a:solidFill>
              <a:latin typeface="Calibri"/>
              <a:ea typeface="Calibri"/>
              <a:cs typeface="Calibri"/>
              <a:sym typeface="Calibri"/>
            </a:endParaRPr>
          </a:p>
        </p:txBody>
      </p:sp>
      <p:sp>
        <p:nvSpPr>
          <p:cNvPr id="115" name="Google Shape;115;p16"/>
          <p:cNvSpPr/>
          <p:nvPr/>
        </p:nvSpPr>
        <p:spPr>
          <a:xfrm>
            <a:off x="6179058" y="2023110"/>
            <a:ext cx="2366100" cy="480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800"/>
              <a:buFont typeface="Open Sans"/>
              <a:buNone/>
            </a:pPr>
            <a:r>
              <a:rPr b="1" lang="en-GB" sz="1800">
                <a:solidFill>
                  <a:srgbClr val="1B2A4A"/>
                </a:solidFill>
                <a:latin typeface="Open Sans"/>
                <a:ea typeface="Open Sans"/>
                <a:cs typeface="Open Sans"/>
                <a:sym typeface="Open Sans"/>
              </a:rPr>
              <a:t>Predict the unseen.</a:t>
            </a:r>
            <a:endParaRPr sz="1800">
              <a:solidFill>
                <a:schemeClr val="dk1"/>
              </a:solidFill>
              <a:latin typeface="Calibri"/>
              <a:ea typeface="Calibri"/>
              <a:cs typeface="Calibri"/>
              <a:sym typeface="Calibri"/>
            </a:endParaRPr>
          </a:p>
        </p:txBody>
      </p:sp>
      <p:sp>
        <p:nvSpPr>
          <p:cNvPr id="116" name="Google Shape;116;p16"/>
          <p:cNvSpPr/>
          <p:nvPr/>
        </p:nvSpPr>
        <p:spPr>
          <a:xfrm>
            <a:off x="6179051" y="2571750"/>
            <a:ext cx="2366100" cy="614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xml:space="preserve">Label or forecast things no one has </a:t>
            </a:r>
            <a:r>
              <a:rPr lang="en-GB" sz="1300">
                <a:solidFill>
                  <a:srgbClr val="333D4D"/>
                </a:solidFill>
                <a:latin typeface="Open Sans"/>
                <a:ea typeface="Open Sans"/>
                <a:cs typeface="Open Sans"/>
                <a:sym typeface="Open Sans"/>
              </a:rPr>
              <a:t>seen</a:t>
            </a:r>
            <a:r>
              <a:rPr lang="en-GB" sz="1300">
                <a:solidFill>
                  <a:srgbClr val="333D4D"/>
                </a:solidFill>
                <a:latin typeface="Open Sans"/>
                <a:ea typeface="Open Sans"/>
                <a:cs typeface="Open Sans"/>
                <a:sym typeface="Open Sans"/>
              </a:rPr>
              <a:t xml:space="preserve"> yet.</a:t>
            </a:r>
            <a:endParaRPr sz="1300">
              <a:solidFill>
                <a:schemeClr val="dk1"/>
              </a:solidFill>
              <a:latin typeface="Calibri"/>
              <a:ea typeface="Calibri"/>
              <a:cs typeface="Calibri"/>
              <a:sym typeface="Calibri"/>
            </a:endParaRPr>
          </a:p>
        </p:txBody>
      </p:sp>
      <p:sp>
        <p:nvSpPr>
          <p:cNvPr id="117" name="Google Shape;117;p16"/>
          <p:cNvSpPr/>
          <p:nvPr/>
        </p:nvSpPr>
        <p:spPr>
          <a:xfrm>
            <a:off x="6179050" y="3669025"/>
            <a:ext cx="2366100" cy="900900"/>
          </a:xfrm>
          <a:prstGeom prst="rect">
            <a:avLst/>
          </a:prstGeom>
          <a:solidFill>
            <a:srgbClr val="F4F5F7"/>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8" name="Google Shape;118;p16"/>
          <p:cNvSpPr/>
          <p:nvPr/>
        </p:nvSpPr>
        <p:spPr>
          <a:xfrm>
            <a:off x="6179050" y="3669025"/>
            <a:ext cx="34200" cy="900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9" name="Google Shape;119;p16"/>
          <p:cNvSpPr/>
          <p:nvPr/>
        </p:nvSpPr>
        <p:spPr>
          <a:xfrm>
            <a:off x="6281928" y="3737610"/>
            <a:ext cx="2229000" cy="17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800"/>
              <a:buFont typeface="Open Sans"/>
              <a:buNone/>
            </a:pPr>
            <a:r>
              <a:rPr b="1" lang="en-GB" sz="800">
                <a:solidFill>
                  <a:srgbClr val="C8102E"/>
                </a:solidFill>
                <a:latin typeface="Open Sans"/>
                <a:ea typeface="Open Sans"/>
                <a:cs typeface="Open Sans"/>
                <a:sym typeface="Open Sans"/>
              </a:rPr>
              <a:t>SARAH</a:t>
            </a:r>
            <a:endParaRPr sz="800">
              <a:solidFill>
                <a:schemeClr val="dk1"/>
              </a:solidFill>
              <a:latin typeface="Calibri"/>
              <a:ea typeface="Calibri"/>
              <a:cs typeface="Calibri"/>
              <a:sym typeface="Calibri"/>
            </a:endParaRPr>
          </a:p>
        </p:txBody>
      </p:sp>
      <p:sp>
        <p:nvSpPr>
          <p:cNvPr id="120" name="Google Shape;120;p16"/>
          <p:cNvSpPr/>
          <p:nvPr/>
        </p:nvSpPr>
        <p:spPr>
          <a:xfrm>
            <a:off x="6281928" y="3922776"/>
            <a:ext cx="2229000" cy="562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333D4D"/>
              </a:buClr>
              <a:buSzPts val="1300"/>
              <a:buFont typeface="Open Sans"/>
              <a:buNone/>
            </a:pPr>
            <a:r>
              <a:rPr i="1" lang="en-GB" sz="1300">
                <a:solidFill>
                  <a:srgbClr val="333D4D"/>
                </a:solidFill>
                <a:latin typeface="Open Sans"/>
                <a:ea typeface="Open Sans"/>
                <a:cs typeface="Open Sans"/>
                <a:sym typeface="Open Sans"/>
              </a:rPr>
              <a:t>“Label 10,000 reviews — positive or negative.”</a:t>
            </a:r>
            <a:endParaRPr sz="13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18"/>
          <p:cNvSpPr/>
          <p:nvPr/>
        </p:nvSpPr>
        <p:spPr>
          <a:xfrm>
            <a:off x="0" y="0"/>
            <a:ext cx="9143700" cy="377100"/>
          </a:xfrm>
          <a:prstGeom prst="rect">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2" name="Google Shape;152;p18"/>
          <p:cNvSpPr/>
          <p:nvPr/>
        </p:nvSpPr>
        <p:spPr>
          <a:xfrm>
            <a:off x="274320" y="0"/>
            <a:ext cx="68580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Meet Sarah Chen</a:t>
            </a:r>
            <a:endParaRPr sz="1300">
              <a:solidFill>
                <a:schemeClr val="dk1"/>
              </a:solidFill>
              <a:latin typeface="Calibri"/>
              <a:ea typeface="Calibri"/>
              <a:cs typeface="Calibri"/>
              <a:sym typeface="Calibri"/>
            </a:endParaRPr>
          </a:p>
        </p:txBody>
      </p:sp>
      <p:sp>
        <p:nvSpPr>
          <p:cNvPr id="153" name="Google Shape;153;p18"/>
          <p:cNvSpPr/>
          <p:nvPr/>
        </p:nvSpPr>
        <p:spPr>
          <a:xfrm>
            <a:off x="0" y="0"/>
            <a:ext cx="54900" cy="51435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4" name="Google Shape;154;p18"/>
          <p:cNvSpPr/>
          <p:nvPr/>
        </p:nvSpPr>
        <p:spPr>
          <a:xfrm>
            <a:off x="411480" y="582930"/>
            <a:ext cx="54864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800"/>
              <a:buFont typeface="Open Sans"/>
              <a:buNone/>
            </a:pPr>
            <a:r>
              <a:rPr b="1" lang="en-GB" sz="800">
                <a:solidFill>
                  <a:srgbClr val="C8102E"/>
                </a:solidFill>
                <a:latin typeface="Open Sans"/>
                <a:ea typeface="Open Sans"/>
                <a:cs typeface="Open Sans"/>
                <a:sym typeface="Open Sans"/>
              </a:rPr>
              <a:t>III.  A NORTHSTAR RETAIL CASE STUDY  ·  WEEK 2</a:t>
            </a:r>
            <a:endParaRPr sz="800">
              <a:solidFill>
                <a:schemeClr val="dk1"/>
              </a:solidFill>
              <a:latin typeface="Calibri"/>
              <a:ea typeface="Calibri"/>
              <a:cs typeface="Calibri"/>
              <a:sym typeface="Calibri"/>
            </a:endParaRPr>
          </a:p>
        </p:txBody>
      </p:sp>
      <p:sp>
        <p:nvSpPr>
          <p:cNvPr id="155" name="Google Shape;155;p18"/>
          <p:cNvSpPr/>
          <p:nvPr/>
        </p:nvSpPr>
        <p:spPr>
          <a:xfrm>
            <a:off x="411480" y="822960"/>
            <a:ext cx="8229600" cy="548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B2A4A"/>
              </a:buClr>
              <a:buSzPts val="2100"/>
              <a:buFont typeface="Open Sans"/>
              <a:buNone/>
            </a:pPr>
            <a:r>
              <a:rPr lang="en-GB" sz="2100">
                <a:solidFill>
                  <a:srgbClr val="1B2A4A"/>
                </a:solidFill>
                <a:latin typeface="Open Sans"/>
                <a:ea typeface="Open Sans"/>
                <a:cs typeface="Open Sans"/>
                <a:sym typeface="Open Sans"/>
              </a:rPr>
              <a:t>Meet Sarah Chen.</a:t>
            </a:r>
            <a:endParaRPr sz="2100">
              <a:solidFill>
                <a:schemeClr val="dk1"/>
              </a:solidFill>
              <a:latin typeface="Calibri"/>
              <a:ea typeface="Calibri"/>
              <a:cs typeface="Calibri"/>
              <a:sym typeface="Calibri"/>
            </a:endParaRPr>
          </a:p>
        </p:txBody>
      </p:sp>
      <p:sp>
        <p:nvSpPr>
          <p:cNvPr id="156" name="Google Shape;156;p18"/>
          <p:cNvSpPr/>
          <p:nvPr/>
        </p:nvSpPr>
        <p:spPr>
          <a:xfrm>
            <a:off x="411480" y="1131570"/>
            <a:ext cx="8229600" cy="274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5F6B7A"/>
              </a:buClr>
              <a:buSzPts val="1300"/>
              <a:buFont typeface="Open Sans"/>
              <a:buNone/>
            </a:pPr>
            <a:r>
              <a:rPr i="1" lang="en-GB" sz="1300">
                <a:solidFill>
                  <a:srgbClr val="5F6B7A"/>
                </a:solidFill>
                <a:latin typeface="Open Sans"/>
                <a:ea typeface="Open Sans"/>
                <a:cs typeface="Open Sans"/>
                <a:sym typeface="Open Sans"/>
              </a:rPr>
              <a:t>Customer Experience Analyst, NorthStar Retail — our protagonist for all of M3.</a:t>
            </a:r>
            <a:endParaRPr sz="1300">
              <a:solidFill>
                <a:schemeClr val="dk1"/>
              </a:solidFill>
              <a:latin typeface="Calibri"/>
              <a:ea typeface="Calibri"/>
              <a:cs typeface="Calibri"/>
              <a:sym typeface="Calibri"/>
            </a:endParaRPr>
          </a:p>
        </p:txBody>
      </p:sp>
      <p:sp>
        <p:nvSpPr>
          <p:cNvPr id="157" name="Google Shape;157;p18"/>
          <p:cNvSpPr/>
          <p:nvPr/>
        </p:nvSpPr>
        <p:spPr>
          <a:xfrm>
            <a:off x="411480" y="1714500"/>
            <a:ext cx="2880600" cy="342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8" name="Google Shape;158;p18"/>
          <p:cNvSpPr/>
          <p:nvPr/>
        </p:nvSpPr>
        <p:spPr>
          <a:xfrm>
            <a:off x="411480" y="1748790"/>
            <a:ext cx="2880600" cy="29832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9" name="Google Shape;159;p18"/>
          <p:cNvSpPr/>
          <p:nvPr/>
        </p:nvSpPr>
        <p:spPr>
          <a:xfrm>
            <a:off x="1268730" y="1954530"/>
            <a:ext cx="1166100" cy="1166100"/>
          </a:xfrm>
          <a:prstGeom prst="ellipse">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0" name="Google Shape;160;p18"/>
          <p:cNvSpPr/>
          <p:nvPr/>
        </p:nvSpPr>
        <p:spPr>
          <a:xfrm>
            <a:off x="1268730" y="1954530"/>
            <a:ext cx="1166100" cy="1166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3800"/>
              <a:buFont typeface="Open Sans"/>
              <a:buNone/>
            </a:pPr>
            <a:r>
              <a:rPr b="1" lang="en-GB" sz="3800">
                <a:solidFill>
                  <a:srgbClr val="FFFFFF"/>
                </a:solidFill>
                <a:latin typeface="Open Sans"/>
                <a:ea typeface="Open Sans"/>
                <a:cs typeface="Open Sans"/>
                <a:sym typeface="Open Sans"/>
              </a:rPr>
              <a:t>SC</a:t>
            </a:r>
            <a:endParaRPr sz="3800">
              <a:solidFill>
                <a:schemeClr val="dk1"/>
              </a:solidFill>
              <a:latin typeface="Calibri"/>
              <a:ea typeface="Calibri"/>
              <a:cs typeface="Calibri"/>
              <a:sym typeface="Calibri"/>
            </a:endParaRPr>
          </a:p>
        </p:txBody>
      </p:sp>
      <p:sp>
        <p:nvSpPr>
          <p:cNvPr id="161" name="Google Shape;161;p18"/>
          <p:cNvSpPr/>
          <p:nvPr/>
        </p:nvSpPr>
        <p:spPr>
          <a:xfrm>
            <a:off x="617220" y="3223260"/>
            <a:ext cx="246900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B2A4A"/>
              </a:buClr>
              <a:buSzPts val="2000"/>
              <a:buFont typeface="Open Sans"/>
              <a:buNone/>
            </a:pPr>
            <a:r>
              <a:rPr b="1" lang="en-GB" sz="2000">
                <a:solidFill>
                  <a:srgbClr val="1B2A4A"/>
                </a:solidFill>
                <a:latin typeface="Open Sans"/>
                <a:ea typeface="Open Sans"/>
                <a:cs typeface="Open Sans"/>
                <a:sym typeface="Open Sans"/>
              </a:rPr>
              <a:t>Sarah Chen</a:t>
            </a:r>
            <a:endParaRPr sz="2000">
              <a:solidFill>
                <a:schemeClr val="dk1"/>
              </a:solidFill>
              <a:latin typeface="Calibri"/>
              <a:ea typeface="Calibri"/>
              <a:cs typeface="Calibri"/>
              <a:sym typeface="Calibri"/>
            </a:endParaRPr>
          </a:p>
        </p:txBody>
      </p:sp>
      <p:sp>
        <p:nvSpPr>
          <p:cNvPr id="162" name="Google Shape;162;p18"/>
          <p:cNvSpPr/>
          <p:nvPr/>
        </p:nvSpPr>
        <p:spPr>
          <a:xfrm>
            <a:off x="617220" y="3566160"/>
            <a:ext cx="2469000" cy="2400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Customer Experience Analyst</a:t>
            </a:r>
            <a:endParaRPr sz="1300">
              <a:solidFill>
                <a:schemeClr val="dk1"/>
              </a:solidFill>
              <a:latin typeface="Calibri"/>
              <a:ea typeface="Calibri"/>
              <a:cs typeface="Calibri"/>
              <a:sym typeface="Calibri"/>
            </a:endParaRPr>
          </a:p>
        </p:txBody>
      </p:sp>
      <p:sp>
        <p:nvSpPr>
          <p:cNvPr id="163" name="Google Shape;163;p18"/>
          <p:cNvSpPr/>
          <p:nvPr/>
        </p:nvSpPr>
        <p:spPr>
          <a:xfrm>
            <a:off x="617220" y="3840480"/>
            <a:ext cx="2469000" cy="2400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8102E"/>
              </a:buClr>
              <a:buSzPts val="800"/>
              <a:buFont typeface="Open Sans"/>
              <a:buNone/>
            </a:pPr>
            <a:r>
              <a:rPr b="1" lang="en-GB" sz="800">
                <a:solidFill>
                  <a:srgbClr val="C8102E"/>
                </a:solidFill>
                <a:latin typeface="Open Sans"/>
                <a:ea typeface="Open Sans"/>
                <a:cs typeface="Open Sans"/>
                <a:sym typeface="Open Sans"/>
              </a:rPr>
              <a:t>NORTHSTAR RETAIL  ·  2ND WEEK</a:t>
            </a:r>
            <a:endParaRPr sz="800">
              <a:solidFill>
                <a:schemeClr val="dk1"/>
              </a:solidFill>
              <a:latin typeface="Calibri"/>
              <a:ea typeface="Calibri"/>
              <a:cs typeface="Calibri"/>
              <a:sym typeface="Calibri"/>
            </a:endParaRPr>
          </a:p>
        </p:txBody>
      </p:sp>
      <p:sp>
        <p:nvSpPr>
          <p:cNvPr id="164" name="Google Shape;164;p18"/>
          <p:cNvSpPr/>
          <p:nvPr/>
        </p:nvSpPr>
        <p:spPr>
          <a:xfrm>
            <a:off x="617220" y="4149090"/>
            <a:ext cx="2469000" cy="4803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Clr>
                <a:srgbClr val="5F6B7A"/>
              </a:buClr>
              <a:buSzPts val="1000"/>
              <a:buFont typeface="Open Sans"/>
              <a:buNone/>
            </a:pPr>
            <a:r>
              <a:rPr i="1" lang="en-GB" sz="1000">
                <a:solidFill>
                  <a:srgbClr val="5F6B7A"/>
                </a:solidFill>
                <a:latin typeface="Open Sans"/>
                <a:ea typeface="Open Sans"/>
                <a:cs typeface="Open Sans"/>
                <a:sym typeface="Open Sans"/>
              </a:rPr>
              <a:t>Smart, motivated, a little nervous.</a:t>
            </a:r>
            <a:endParaRPr sz="1000">
              <a:solidFill>
                <a:schemeClr val="dk1"/>
              </a:solidFill>
              <a:latin typeface="Calibri"/>
              <a:ea typeface="Calibri"/>
              <a:cs typeface="Calibri"/>
              <a:sym typeface="Calibri"/>
            </a:endParaRPr>
          </a:p>
          <a:p>
            <a:pPr indent="0" lvl="0" marL="0" marR="0" rtl="0" algn="ctr">
              <a:spcBef>
                <a:spcPts val="0"/>
              </a:spcBef>
              <a:spcAft>
                <a:spcPts val="0"/>
              </a:spcAft>
              <a:buClr>
                <a:srgbClr val="5F6B7A"/>
              </a:buClr>
              <a:buSzPts val="1000"/>
              <a:buFont typeface="Open Sans"/>
              <a:buNone/>
            </a:pPr>
            <a:r>
              <a:rPr i="1" lang="en-GB" sz="1000">
                <a:solidFill>
                  <a:srgbClr val="5F6B7A"/>
                </a:solidFill>
                <a:latin typeface="Open Sans"/>
                <a:ea typeface="Open Sans"/>
                <a:cs typeface="Open Sans"/>
                <a:sym typeface="Open Sans"/>
              </a:rPr>
              <a:t>First real ML task this week.</a:t>
            </a:r>
            <a:endParaRPr sz="1000">
              <a:solidFill>
                <a:schemeClr val="dk1"/>
              </a:solidFill>
              <a:latin typeface="Calibri"/>
              <a:ea typeface="Calibri"/>
              <a:cs typeface="Calibri"/>
              <a:sym typeface="Calibri"/>
            </a:endParaRPr>
          </a:p>
        </p:txBody>
      </p:sp>
      <p:sp>
        <p:nvSpPr>
          <p:cNvPr id="165" name="Google Shape;165;p18"/>
          <p:cNvSpPr/>
          <p:nvPr/>
        </p:nvSpPr>
        <p:spPr>
          <a:xfrm>
            <a:off x="3566160" y="1714500"/>
            <a:ext cx="5143500" cy="3017400"/>
          </a:xfrm>
          <a:prstGeom prst="rect">
            <a:avLst/>
          </a:prstGeom>
          <a:solidFill>
            <a:srgbClr val="F4F5F7"/>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 name="Google Shape;166;p18"/>
          <p:cNvSpPr/>
          <p:nvPr/>
        </p:nvSpPr>
        <p:spPr>
          <a:xfrm>
            <a:off x="3566160" y="1714500"/>
            <a:ext cx="34200" cy="30174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 name="Google Shape;167;p18"/>
          <p:cNvSpPr/>
          <p:nvPr/>
        </p:nvSpPr>
        <p:spPr>
          <a:xfrm>
            <a:off x="3771900" y="1885950"/>
            <a:ext cx="47319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900"/>
              <a:buFont typeface="Open Sans"/>
              <a:buNone/>
            </a:pPr>
            <a:r>
              <a:rPr b="1" lang="en-GB" sz="900">
                <a:solidFill>
                  <a:srgbClr val="C8102E"/>
                </a:solidFill>
                <a:latin typeface="Open Sans"/>
                <a:ea typeface="Open Sans"/>
                <a:cs typeface="Open Sans"/>
                <a:sym typeface="Open Sans"/>
              </a:rPr>
              <a:t>HER FIRST BIG ASK, DROPPED ON HER DESK:</a:t>
            </a:r>
            <a:endParaRPr sz="900">
              <a:solidFill>
                <a:schemeClr val="dk1"/>
              </a:solidFill>
              <a:latin typeface="Calibri"/>
              <a:ea typeface="Calibri"/>
              <a:cs typeface="Calibri"/>
              <a:sym typeface="Calibri"/>
            </a:endParaRPr>
          </a:p>
        </p:txBody>
      </p:sp>
      <p:sp>
        <p:nvSpPr>
          <p:cNvPr id="168" name="Google Shape;168;p18"/>
          <p:cNvSpPr/>
          <p:nvPr/>
        </p:nvSpPr>
        <p:spPr>
          <a:xfrm>
            <a:off x="3771900" y="2194560"/>
            <a:ext cx="4731900" cy="1988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B2A4A"/>
              </a:buClr>
              <a:buSzPts val="1500"/>
              <a:buFont typeface="Open Sans"/>
              <a:buNone/>
            </a:pPr>
            <a:r>
              <a:rPr i="1" lang="en-GB" sz="1500">
                <a:solidFill>
                  <a:srgbClr val="1B2A4A"/>
                </a:solidFill>
                <a:latin typeface="Open Sans"/>
                <a:ea typeface="Open Sans"/>
                <a:cs typeface="Open Sans"/>
                <a:sym typeface="Open Sans"/>
              </a:rPr>
              <a:t xml:space="preserve">“By Friday, I need to know which of these </a:t>
            </a:r>
            <a:r>
              <a:rPr b="1" i="1" lang="en-GB" sz="1500">
                <a:solidFill>
                  <a:srgbClr val="C8102E"/>
                </a:solidFill>
                <a:latin typeface="Open Sans"/>
                <a:ea typeface="Open Sans"/>
                <a:cs typeface="Open Sans"/>
                <a:sym typeface="Open Sans"/>
              </a:rPr>
              <a:t>10,000 customer reviews</a:t>
            </a:r>
            <a:r>
              <a:rPr i="1" lang="en-GB" sz="1500">
                <a:solidFill>
                  <a:srgbClr val="1B2A4A"/>
                </a:solidFill>
                <a:latin typeface="Open Sans"/>
                <a:ea typeface="Open Sans"/>
                <a:cs typeface="Open Sans"/>
                <a:sym typeface="Open Sans"/>
              </a:rPr>
              <a:t xml:space="preserve"> are positive and which are negative.</a:t>
            </a:r>
            <a:endParaRPr sz="15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00"/>
              <a:buFont typeface="Calibri"/>
              <a:buNone/>
            </a:pPr>
            <a:r>
              <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1B2A4A"/>
              </a:buClr>
              <a:buSzPts val="1500"/>
              <a:buFont typeface="Open Sans"/>
              <a:buNone/>
            </a:pPr>
            <a:r>
              <a:rPr i="1" lang="en-GB" sz="1500">
                <a:solidFill>
                  <a:srgbClr val="1B2A4A"/>
                </a:solidFill>
                <a:latin typeface="Open Sans"/>
                <a:ea typeface="Open Sans"/>
                <a:cs typeface="Open Sans"/>
                <a:sym typeface="Open Sans"/>
              </a:rPr>
              <a:t>Hand-reading them would take a full work-week.</a:t>
            </a:r>
            <a:endParaRPr sz="15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00"/>
              <a:buFont typeface="Calibri"/>
              <a:buNone/>
            </a:pPr>
            <a:r>
              <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1B2A4A"/>
              </a:buClr>
              <a:buSzPts val="1500"/>
              <a:buFont typeface="Open Sans"/>
              <a:buNone/>
            </a:pPr>
            <a:r>
              <a:rPr i="1" lang="en-GB" sz="1500">
                <a:solidFill>
                  <a:srgbClr val="1B2A4A"/>
                </a:solidFill>
                <a:latin typeface="Open Sans"/>
                <a:ea typeface="Open Sans"/>
                <a:cs typeface="Open Sans"/>
                <a:sym typeface="Open Sans"/>
              </a:rPr>
              <a:t>Figure something out.”</a:t>
            </a:r>
            <a:endParaRPr sz="1500">
              <a:solidFill>
                <a:schemeClr val="dk1"/>
              </a:solidFill>
              <a:latin typeface="Calibri"/>
              <a:ea typeface="Calibri"/>
              <a:cs typeface="Calibri"/>
              <a:sym typeface="Calibri"/>
            </a:endParaRPr>
          </a:p>
        </p:txBody>
      </p:sp>
      <p:sp>
        <p:nvSpPr>
          <p:cNvPr id="169" name="Google Shape;169;p18"/>
          <p:cNvSpPr/>
          <p:nvPr/>
        </p:nvSpPr>
        <p:spPr>
          <a:xfrm>
            <a:off x="3771900" y="4354830"/>
            <a:ext cx="47319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F6B7A"/>
              </a:buClr>
              <a:buSzPts val="900"/>
              <a:buFont typeface="Open Sans"/>
              <a:buNone/>
            </a:pPr>
            <a:r>
              <a:rPr b="1" lang="en-GB" sz="900">
                <a:solidFill>
                  <a:srgbClr val="5F6B7A"/>
                </a:solidFill>
                <a:latin typeface="Open Sans"/>
                <a:ea typeface="Open Sans"/>
                <a:cs typeface="Open Sans"/>
                <a:sym typeface="Open Sans"/>
              </a:rPr>
              <a:t>— Priya  ·  Sarah's manager</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20"/>
          <p:cNvSpPr/>
          <p:nvPr/>
        </p:nvSpPr>
        <p:spPr>
          <a:xfrm>
            <a:off x="0" y="0"/>
            <a:ext cx="9143700" cy="377100"/>
          </a:xfrm>
          <a:prstGeom prst="rect">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1" name="Google Shape;211;p20"/>
          <p:cNvSpPr/>
          <p:nvPr/>
        </p:nvSpPr>
        <p:spPr>
          <a:xfrm>
            <a:off x="274320" y="0"/>
            <a:ext cx="68580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Approach 1: Rule-Based Programming</a:t>
            </a:r>
            <a:endParaRPr sz="1300">
              <a:solidFill>
                <a:schemeClr val="dk1"/>
              </a:solidFill>
              <a:latin typeface="Calibri"/>
              <a:ea typeface="Calibri"/>
              <a:cs typeface="Calibri"/>
              <a:sym typeface="Calibri"/>
            </a:endParaRPr>
          </a:p>
        </p:txBody>
      </p:sp>
      <p:sp>
        <p:nvSpPr>
          <p:cNvPr id="212" name="Google Shape;212;p20"/>
          <p:cNvSpPr/>
          <p:nvPr/>
        </p:nvSpPr>
        <p:spPr>
          <a:xfrm>
            <a:off x="0" y="0"/>
            <a:ext cx="54900" cy="51435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3" name="Google Shape;213;p20"/>
          <p:cNvSpPr/>
          <p:nvPr/>
        </p:nvSpPr>
        <p:spPr>
          <a:xfrm>
            <a:off x="411480" y="582930"/>
            <a:ext cx="54864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800"/>
              <a:buFont typeface="Open Sans"/>
              <a:buNone/>
            </a:pPr>
            <a:r>
              <a:rPr b="1" lang="en-GB" sz="800">
                <a:solidFill>
                  <a:srgbClr val="C8102E"/>
                </a:solidFill>
                <a:latin typeface="Open Sans"/>
                <a:ea typeface="Open Sans"/>
                <a:cs typeface="Open Sans"/>
                <a:sym typeface="Open Sans"/>
              </a:rPr>
              <a:t>V.  THE WAY PROGRAMMING WORKED BEFORE ML</a:t>
            </a:r>
            <a:endParaRPr sz="800">
              <a:solidFill>
                <a:schemeClr val="dk1"/>
              </a:solidFill>
              <a:latin typeface="Calibri"/>
              <a:ea typeface="Calibri"/>
              <a:cs typeface="Calibri"/>
              <a:sym typeface="Calibri"/>
            </a:endParaRPr>
          </a:p>
        </p:txBody>
      </p:sp>
      <p:sp>
        <p:nvSpPr>
          <p:cNvPr id="214" name="Google Shape;214;p20"/>
          <p:cNvSpPr/>
          <p:nvPr/>
        </p:nvSpPr>
        <p:spPr>
          <a:xfrm>
            <a:off x="411480" y="822960"/>
            <a:ext cx="8229600" cy="548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B2A4A"/>
              </a:buClr>
              <a:buSzPts val="2100"/>
              <a:buFont typeface="Open Sans"/>
              <a:buNone/>
            </a:pPr>
            <a:r>
              <a:rPr lang="en-GB" sz="2100">
                <a:solidFill>
                  <a:srgbClr val="1B2A4A"/>
                </a:solidFill>
                <a:latin typeface="Open Sans"/>
                <a:ea typeface="Open Sans"/>
                <a:cs typeface="Open Sans"/>
                <a:sym typeface="Open Sans"/>
              </a:rPr>
              <a:t>Approach 1 — Rule-based programming.</a:t>
            </a:r>
            <a:endParaRPr sz="2100">
              <a:solidFill>
                <a:schemeClr val="dk1"/>
              </a:solidFill>
              <a:latin typeface="Calibri"/>
              <a:ea typeface="Calibri"/>
              <a:cs typeface="Calibri"/>
              <a:sym typeface="Calibri"/>
            </a:endParaRPr>
          </a:p>
        </p:txBody>
      </p:sp>
      <p:sp>
        <p:nvSpPr>
          <p:cNvPr id="215" name="Google Shape;215;p20"/>
          <p:cNvSpPr/>
          <p:nvPr/>
        </p:nvSpPr>
        <p:spPr>
          <a:xfrm>
            <a:off x="411480" y="1551000"/>
            <a:ext cx="4457700" cy="34200"/>
          </a:xfrm>
          <a:prstGeom prst="rect">
            <a:avLst/>
          </a:prstGeom>
          <a:solidFill>
            <a:srgbClr val="2C5697"/>
          </a:solidFill>
          <a:ln cap="flat" cmpd="sng" w="9525">
            <a:solidFill>
              <a:srgbClr val="2C5697"/>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6" name="Google Shape;216;p20"/>
          <p:cNvSpPr/>
          <p:nvPr/>
        </p:nvSpPr>
        <p:spPr>
          <a:xfrm>
            <a:off x="411480" y="1585290"/>
            <a:ext cx="4457700" cy="29832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7" name="Google Shape;217;p20"/>
          <p:cNvSpPr/>
          <p:nvPr/>
        </p:nvSpPr>
        <p:spPr>
          <a:xfrm>
            <a:off x="617220" y="1688160"/>
            <a:ext cx="41148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C5697"/>
              </a:buClr>
              <a:buSzPts val="900"/>
              <a:buFont typeface="Open Sans"/>
              <a:buNone/>
            </a:pPr>
            <a:r>
              <a:rPr b="1" lang="en-GB" sz="900">
                <a:solidFill>
                  <a:srgbClr val="2C5697"/>
                </a:solidFill>
                <a:latin typeface="Open Sans"/>
                <a:ea typeface="Open Sans"/>
                <a:cs typeface="Open Sans"/>
                <a:sym typeface="Open Sans"/>
              </a:rPr>
              <a:t>THE PLAN</a:t>
            </a:r>
            <a:endParaRPr sz="900">
              <a:solidFill>
                <a:schemeClr val="dk1"/>
              </a:solidFill>
              <a:latin typeface="Calibri"/>
              <a:ea typeface="Calibri"/>
              <a:cs typeface="Calibri"/>
              <a:sym typeface="Calibri"/>
            </a:endParaRPr>
          </a:p>
        </p:txBody>
      </p:sp>
      <p:sp>
        <p:nvSpPr>
          <p:cNvPr id="218" name="Google Shape;218;p20"/>
          <p:cNvSpPr/>
          <p:nvPr/>
        </p:nvSpPr>
        <p:spPr>
          <a:xfrm>
            <a:off x="617220" y="2065350"/>
            <a:ext cx="240000" cy="240000"/>
          </a:xfrm>
          <a:prstGeom prst="ellipse">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9" name="Google Shape;219;p20"/>
          <p:cNvSpPr/>
          <p:nvPr/>
        </p:nvSpPr>
        <p:spPr>
          <a:xfrm>
            <a:off x="617220" y="2065350"/>
            <a:ext cx="240000" cy="2400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1</a:t>
            </a:r>
            <a:endParaRPr sz="1300">
              <a:solidFill>
                <a:schemeClr val="dk1"/>
              </a:solidFill>
              <a:latin typeface="Calibri"/>
              <a:ea typeface="Calibri"/>
              <a:cs typeface="Calibri"/>
              <a:sym typeface="Calibri"/>
            </a:endParaRPr>
          </a:p>
        </p:txBody>
      </p:sp>
      <p:sp>
        <p:nvSpPr>
          <p:cNvPr id="220" name="Google Shape;220;p20"/>
          <p:cNvSpPr/>
          <p:nvPr/>
        </p:nvSpPr>
        <p:spPr>
          <a:xfrm>
            <a:off x="925830" y="2031060"/>
            <a:ext cx="37719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xml:space="preserve">List </a:t>
            </a:r>
            <a:r>
              <a:rPr b="1" lang="en-GB" sz="1300">
                <a:solidFill>
                  <a:srgbClr val="38761D"/>
                </a:solidFill>
                <a:latin typeface="Open Sans"/>
                <a:ea typeface="Open Sans"/>
                <a:cs typeface="Open Sans"/>
                <a:sym typeface="Open Sans"/>
              </a:rPr>
              <a:t>positive</a:t>
            </a:r>
            <a:r>
              <a:rPr lang="en-GB" sz="1300">
                <a:solidFill>
                  <a:srgbClr val="333D4D"/>
                </a:solidFill>
                <a:latin typeface="Open Sans"/>
                <a:ea typeface="Open Sans"/>
                <a:cs typeface="Open Sans"/>
                <a:sym typeface="Open Sans"/>
              </a:rPr>
              <a:t xml:space="preserve"> words:  love, perfect, great, nice…</a:t>
            </a:r>
            <a:endParaRPr sz="1300">
              <a:solidFill>
                <a:schemeClr val="dk1"/>
              </a:solidFill>
              <a:latin typeface="Calibri"/>
              <a:ea typeface="Calibri"/>
              <a:cs typeface="Calibri"/>
              <a:sym typeface="Calibri"/>
            </a:endParaRPr>
          </a:p>
        </p:txBody>
      </p:sp>
      <p:sp>
        <p:nvSpPr>
          <p:cNvPr id="221" name="Google Shape;221;p20"/>
          <p:cNvSpPr/>
          <p:nvPr/>
        </p:nvSpPr>
        <p:spPr>
          <a:xfrm>
            <a:off x="617220" y="2600274"/>
            <a:ext cx="240000" cy="240000"/>
          </a:xfrm>
          <a:prstGeom prst="ellipse">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2" name="Google Shape;222;p20"/>
          <p:cNvSpPr/>
          <p:nvPr/>
        </p:nvSpPr>
        <p:spPr>
          <a:xfrm>
            <a:off x="617220" y="2600274"/>
            <a:ext cx="240000" cy="2400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2</a:t>
            </a:r>
            <a:endParaRPr sz="1300">
              <a:solidFill>
                <a:schemeClr val="dk1"/>
              </a:solidFill>
              <a:latin typeface="Calibri"/>
              <a:ea typeface="Calibri"/>
              <a:cs typeface="Calibri"/>
              <a:sym typeface="Calibri"/>
            </a:endParaRPr>
          </a:p>
        </p:txBody>
      </p:sp>
      <p:sp>
        <p:nvSpPr>
          <p:cNvPr id="223" name="Google Shape;223;p20"/>
          <p:cNvSpPr/>
          <p:nvPr/>
        </p:nvSpPr>
        <p:spPr>
          <a:xfrm>
            <a:off x="925825" y="2565975"/>
            <a:ext cx="39435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xml:space="preserve">List </a:t>
            </a:r>
            <a:r>
              <a:rPr b="1" lang="en-GB" sz="1300">
                <a:solidFill>
                  <a:srgbClr val="FF0000"/>
                </a:solidFill>
                <a:latin typeface="Open Sans"/>
                <a:ea typeface="Open Sans"/>
                <a:cs typeface="Open Sans"/>
                <a:sym typeface="Open Sans"/>
              </a:rPr>
              <a:t>negative</a:t>
            </a:r>
            <a:r>
              <a:rPr lang="en-GB" sz="1300">
                <a:solidFill>
                  <a:srgbClr val="FF0000"/>
                </a:solidFill>
                <a:latin typeface="Open Sans"/>
                <a:ea typeface="Open Sans"/>
                <a:cs typeface="Open Sans"/>
                <a:sym typeface="Open Sans"/>
              </a:rPr>
              <a:t xml:space="preserve"> </a:t>
            </a:r>
            <a:r>
              <a:rPr lang="en-GB" sz="1300">
                <a:solidFill>
                  <a:srgbClr val="333D4D"/>
                </a:solidFill>
                <a:latin typeface="Open Sans"/>
                <a:ea typeface="Open Sans"/>
                <a:cs typeface="Open Sans"/>
                <a:sym typeface="Open Sans"/>
              </a:rPr>
              <a:t>words:  terrible, cheap, bad, awful…</a:t>
            </a:r>
            <a:endParaRPr sz="1300">
              <a:solidFill>
                <a:schemeClr val="dk1"/>
              </a:solidFill>
              <a:latin typeface="Calibri"/>
              <a:ea typeface="Calibri"/>
              <a:cs typeface="Calibri"/>
              <a:sym typeface="Calibri"/>
            </a:endParaRPr>
          </a:p>
        </p:txBody>
      </p:sp>
      <p:sp>
        <p:nvSpPr>
          <p:cNvPr id="224" name="Google Shape;224;p20"/>
          <p:cNvSpPr/>
          <p:nvPr/>
        </p:nvSpPr>
        <p:spPr>
          <a:xfrm>
            <a:off x="617220" y="3135198"/>
            <a:ext cx="240000" cy="240000"/>
          </a:xfrm>
          <a:prstGeom prst="ellipse">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5" name="Google Shape;225;p20"/>
          <p:cNvSpPr/>
          <p:nvPr/>
        </p:nvSpPr>
        <p:spPr>
          <a:xfrm>
            <a:off x="617220" y="3135198"/>
            <a:ext cx="240000" cy="2400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3</a:t>
            </a:r>
            <a:endParaRPr sz="1300">
              <a:solidFill>
                <a:schemeClr val="dk1"/>
              </a:solidFill>
              <a:latin typeface="Calibri"/>
              <a:ea typeface="Calibri"/>
              <a:cs typeface="Calibri"/>
              <a:sym typeface="Calibri"/>
            </a:endParaRPr>
          </a:p>
        </p:txBody>
      </p:sp>
      <p:sp>
        <p:nvSpPr>
          <p:cNvPr id="226" name="Google Shape;226;p20"/>
          <p:cNvSpPr/>
          <p:nvPr/>
        </p:nvSpPr>
        <p:spPr>
          <a:xfrm>
            <a:off x="925830" y="3100908"/>
            <a:ext cx="37719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For each review, count hits on each list.</a:t>
            </a:r>
            <a:endParaRPr sz="1300">
              <a:solidFill>
                <a:schemeClr val="dk1"/>
              </a:solidFill>
              <a:latin typeface="Calibri"/>
              <a:ea typeface="Calibri"/>
              <a:cs typeface="Calibri"/>
              <a:sym typeface="Calibri"/>
            </a:endParaRPr>
          </a:p>
        </p:txBody>
      </p:sp>
      <p:sp>
        <p:nvSpPr>
          <p:cNvPr id="227" name="Google Shape;227;p20"/>
          <p:cNvSpPr/>
          <p:nvPr/>
        </p:nvSpPr>
        <p:spPr>
          <a:xfrm>
            <a:off x="617220" y="3670122"/>
            <a:ext cx="240000" cy="240000"/>
          </a:xfrm>
          <a:prstGeom prst="ellipse">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8" name="Google Shape;228;p20"/>
          <p:cNvSpPr/>
          <p:nvPr/>
        </p:nvSpPr>
        <p:spPr>
          <a:xfrm>
            <a:off x="617220" y="3670122"/>
            <a:ext cx="240000" cy="2400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4</a:t>
            </a:r>
            <a:endParaRPr sz="1300">
              <a:solidFill>
                <a:schemeClr val="dk1"/>
              </a:solidFill>
              <a:latin typeface="Calibri"/>
              <a:ea typeface="Calibri"/>
              <a:cs typeface="Calibri"/>
              <a:sym typeface="Calibri"/>
            </a:endParaRPr>
          </a:p>
        </p:txBody>
      </p:sp>
      <p:sp>
        <p:nvSpPr>
          <p:cNvPr id="229" name="Google Shape;229;p20"/>
          <p:cNvSpPr/>
          <p:nvPr/>
        </p:nvSpPr>
        <p:spPr>
          <a:xfrm>
            <a:off x="925830" y="3635832"/>
            <a:ext cx="37719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Whichever count is bigger wins.</a:t>
            </a:r>
            <a:endParaRPr sz="1300">
              <a:solidFill>
                <a:schemeClr val="dk1"/>
              </a:solidFill>
              <a:latin typeface="Calibri"/>
              <a:ea typeface="Calibri"/>
              <a:cs typeface="Calibri"/>
              <a:sym typeface="Calibri"/>
            </a:endParaRPr>
          </a:p>
        </p:txBody>
      </p:sp>
      <p:sp>
        <p:nvSpPr>
          <p:cNvPr id="230" name="Google Shape;230;p20"/>
          <p:cNvSpPr/>
          <p:nvPr/>
        </p:nvSpPr>
        <p:spPr>
          <a:xfrm>
            <a:off x="5040630" y="1551000"/>
            <a:ext cx="3689400" cy="342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1" name="Google Shape;231;p20"/>
          <p:cNvSpPr/>
          <p:nvPr/>
        </p:nvSpPr>
        <p:spPr>
          <a:xfrm>
            <a:off x="5040630" y="1585290"/>
            <a:ext cx="3689400" cy="29832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2" name="Google Shape;232;p20"/>
          <p:cNvSpPr/>
          <p:nvPr/>
        </p:nvSpPr>
        <p:spPr>
          <a:xfrm>
            <a:off x="5246370" y="1688160"/>
            <a:ext cx="33468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900"/>
              <a:buFont typeface="Open Sans"/>
              <a:buNone/>
            </a:pPr>
            <a:r>
              <a:rPr b="1" lang="en-GB" sz="900">
                <a:solidFill>
                  <a:srgbClr val="C8102E"/>
                </a:solidFill>
                <a:latin typeface="Open Sans"/>
                <a:ea typeface="Open Sans"/>
                <a:cs typeface="Open Sans"/>
                <a:sym typeface="Open Sans"/>
              </a:rPr>
              <a:t>TRAIT</a:t>
            </a:r>
            <a:r>
              <a:rPr b="1" lang="en-GB" sz="900">
                <a:solidFill>
                  <a:srgbClr val="C8102E"/>
                </a:solidFill>
                <a:latin typeface="Open Sans"/>
                <a:ea typeface="Open Sans"/>
                <a:cs typeface="Open Sans"/>
                <a:sym typeface="Open Sans"/>
              </a:rPr>
              <a:t>S OF RULE-BASED CODE</a:t>
            </a:r>
            <a:endParaRPr sz="900">
              <a:solidFill>
                <a:schemeClr val="dk1"/>
              </a:solidFill>
              <a:latin typeface="Calibri"/>
              <a:ea typeface="Calibri"/>
              <a:cs typeface="Calibri"/>
              <a:sym typeface="Calibri"/>
            </a:endParaRPr>
          </a:p>
        </p:txBody>
      </p:sp>
      <p:sp>
        <p:nvSpPr>
          <p:cNvPr id="233" name="Google Shape;233;p20"/>
          <p:cNvSpPr/>
          <p:nvPr/>
        </p:nvSpPr>
        <p:spPr>
          <a:xfrm>
            <a:off x="5246370" y="2065350"/>
            <a:ext cx="240000" cy="274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F6B3A"/>
              </a:buClr>
              <a:buSzPts val="1400"/>
              <a:buFont typeface="Open Sans"/>
              <a:buNone/>
            </a:pPr>
            <a:r>
              <a:rPr b="1" lang="en-GB" sz="1400">
                <a:solidFill>
                  <a:srgbClr val="1F6B3A"/>
                </a:solidFill>
                <a:latin typeface="Open Sans"/>
                <a:ea typeface="Open Sans"/>
                <a:cs typeface="Open Sans"/>
                <a:sym typeface="Open Sans"/>
              </a:rPr>
              <a:t>✓</a:t>
            </a:r>
            <a:endParaRPr sz="1400">
              <a:solidFill>
                <a:schemeClr val="dk1"/>
              </a:solidFill>
              <a:latin typeface="Calibri"/>
              <a:ea typeface="Calibri"/>
              <a:cs typeface="Calibri"/>
              <a:sym typeface="Calibri"/>
            </a:endParaRPr>
          </a:p>
        </p:txBody>
      </p:sp>
      <p:sp>
        <p:nvSpPr>
          <p:cNvPr id="234" name="Google Shape;234;p20"/>
          <p:cNvSpPr/>
          <p:nvPr/>
        </p:nvSpPr>
        <p:spPr>
          <a:xfrm>
            <a:off x="5520690" y="2031060"/>
            <a:ext cx="30723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You write all the rules</a:t>
            </a:r>
            <a:endParaRPr sz="1300">
              <a:solidFill>
                <a:schemeClr val="dk1"/>
              </a:solidFill>
              <a:latin typeface="Calibri"/>
              <a:ea typeface="Calibri"/>
              <a:cs typeface="Calibri"/>
              <a:sym typeface="Calibri"/>
            </a:endParaRPr>
          </a:p>
        </p:txBody>
      </p:sp>
      <p:sp>
        <p:nvSpPr>
          <p:cNvPr id="235" name="Google Shape;235;p20"/>
          <p:cNvSpPr/>
          <p:nvPr/>
        </p:nvSpPr>
        <p:spPr>
          <a:xfrm>
            <a:off x="5246370" y="2408250"/>
            <a:ext cx="240000" cy="274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F6B3A"/>
              </a:buClr>
              <a:buSzPts val="1400"/>
              <a:buFont typeface="Open Sans"/>
              <a:buNone/>
            </a:pPr>
            <a:r>
              <a:rPr b="1" lang="en-GB" sz="1400">
                <a:solidFill>
                  <a:srgbClr val="1F6B3A"/>
                </a:solidFill>
                <a:latin typeface="Open Sans"/>
                <a:ea typeface="Open Sans"/>
                <a:cs typeface="Open Sans"/>
                <a:sym typeface="Open Sans"/>
              </a:rPr>
              <a:t>✓</a:t>
            </a:r>
            <a:endParaRPr sz="1400">
              <a:solidFill>
                <a:schemeClr val="dk1"/>
              </a:solidFill>
              <a:latin typeface="Calibri"/>
              <a:ea typeface="Calibri"/>
              <a:cs typeface="Calibri"/>
              <a:sym typeface="Calibri"/>
            </a:endParaRPr>
          </a:p>
        </p:txBody>
      </p:sp>
      <p:sp>
        <p:nvSpPr>
          <p:cNvPr id="236" name="Google Shape;236;p20"/>
          <p:cNvSpPr/>
          <p:nvPr/>
        </p:nvSpPr>
        <p:spPr>
          <a:xfrm>
            <a:off x="5520690" y="2373960"/>
            <a:ext cx="30723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Computer follows them exactly</a:t>
            </a:r>
            <a:endParaRPr sz="1300">
              <a:solidFill>
                <a:schemeClr val="dk1"/>
              </a:solidFill>
              <a:latin typeface="Calibri"/>
              <a:ea typeface="Calibri"/>
              <a:cs typeface="Calibri"/>
              <a:sym typeface="Calibri"/>
            </a:endParaRPr>
          </a:p>
        </p:txBody>
      </p:sp>
      <p:sp>
        <p:nvSpPr>
          <p:cNvPr id="237" name="Google Shape;237;p20"/>
          <p:cNvSpPr/>
          <p:nvPr/>
        </p:nvSpPr>
        <p:spPr>
          <a:xfrm>
            <a:off x="5246370" y="2751150"/>
            <a:ext cx="240000" cy="274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F6B3A"/>
              </a:buClr>
              <a:buSzPts val="1400"/>
              <a:buFont typeface="Open Sans"/>
              <a:buNone/>
            </a:pPr>
            <a:r>
              <a:rPr b="1" lang="en-GB" sz="1400">
                <a:solidFill>
                  <a:srgbClr val="1F6B3A"/>
                </a:solidFill>
                <a:latin typeface="Open Sans"/>
                <a:ea typeface="Open Sans"/>
                <a:cs typeface="Open Sans"/>
                <a:sym typeface="Open Sans"/>
              </a:rPr>
              <a:t>✓</a:t>
            </a:r>
            <a:endParaRPr sz="1400">
              <a:solidFill>
                <a:schemeClr val="dk1"/>
              </a:solidFill>
              <a:latin typeface="Calibri"/>
              <a:ea typeface="Calibri"/>
              <a:cs typeface="Calibri"/>
              <a:sym typeface="Calibri"/>
            </a:endParaRPr>
          </a:p>
        </p:txBody>
      </p:sp>
      <p:sp>
        <p:nvSpPr>
          <p:cNvPr id="238" name="Google Shape;238;p20"/>
          <p:cNvSpPr/>
          <p:nvPr/>
        </p:nvSpPr>
        <p:spPr>
          <a:xfrm>
            <a:off x="5520700" y="2716850"/>
            <a:ext cx="32094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Deterministic: same input, same output</a:t>
            </a:r>
            <a:endParaRPr sz="1300">
              <a:solidFill>
                <a:schemeClr val="dk1"/>
              </a:solidFill>
              <a:latin typeface="Calibri"/>
              <a:ea typeface="Calibri"/>
              <a:cs typeface="Calibri"/>
              <a:sym typeface="Calibri"/>
            </a:endParaRPr>
          </a:p>
        </p:txBody>
      </p:sp>
      <p:sp>
        <p:nvSpPr>
          <p:cNvPr id="239" name="Google Shape;239;p20"/>
          <p:cNvSpPr/>
          <p:nvPr/>
        </p:nvSpPr>
        <p:spPr>
          <a:xfrm>
            <a:off x="5246370" y="3327225"/>
            <a:ext cx="240000" cy="274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8102E"/>
              </a:buClr>
              <a:buSzPts val="1400"/>
              <a:buFont typeface="Open Sans"/>
              <a:buNone/>
            </a:pPr>
            <a:r>
              <a:rPr b="1" lang="en-GB" sz="1400">
                <a:solidFill>
                  <a:srgbClr val="C8102E"/>
                </a:solidFill>
                <a:latin typeface="Open Sans"/>
                <a:ea typeface="Open Sans"/>
                <a:cs typeface="Open Sans"/>
                <a:sym typeface="Open Sans"/>
              </a:rPr>
              <a:t>✗</a:t>
            </a:r>
            <a:endParaRPr sz="1400">
              <a:solidFill>
                <a:schemeClr val="dk1"/>
              </a:solidFill>
              <a:latin typeface="Calibri"/>
              <a:ea typeface="Calibri"/>
              <a:cs typeface="Calibri"/>
              <a:sym typeface="Calibri"/>
            </a:endParaRPr>
          </a:p>
        </p:txBody>
      </p:sp>
      <p:sp>
        <p:nvSpPr>
          <p:cNvPr id="240" name="Google Shape;240;p20"/>
          <p:cNvSpPr/>
          <p:nvPr/>
        </p:nvSpPr>
        <p:spPr>
          <a:xfrm>
            <a:off x="5520690" y="3292935"/>
            <a:ext cx="30723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F6B7A"/>
              </a:buClr>
              <a:buSzPts val="1300"/>
              <a:buFont typeface="Open Sans"/>
              <a:buNone/>
            </a:pPr>
            <a:r>
              <a:rPr lang="en-GB" sz="1300">
                <a:solidFill>
                  <a:srgbClr val="5F6B7A"/>
                </a:solidFill>
                <a:latin typeface="Open Sans"/>
                <a:ea typeface="Open Sans"/>
                <a:cs typeface="Open Sans"/>
                <a:sym typeface="Open Sans"/>
              </a:rPr>
              <a:t>Only handles cases the rules covered</a:t>
            </a:r>
            <a:endParaRPr sz="1300">
              <a:solidFill>
                <a:schemeClr val="dk1"/>
              </a:solidFill>
              <a:latin typeface="Calibri"/>
              <a:ea typeface="Calibri"/>
              <a:cs typeface="Calibri"/>
              <a:sym typeface="Calibri"/>
            </a:endParaRPr>
          </a:p>
        </p:txBody>
      </p:sp>
      <p:sp>
        <p:nvSpPr>
          <p:cNvPr id="241" name="Google Shape;241;p20"/>
          <p:cNvSpPr/>
          <p:nvPr/>
        </p:nvSpPr>
        <p:spPr>
          <a:xfrm>
            <a:off x="5246370" y="3670125"/>
            <a:ext cx="240000" cy="274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8102E"/>
              </a:buClr>
              <a:buSzPts val="1400"/>
              <a:buFont typeface="Open Sans"/>
              <a:buNone/>
            </a:pPr>
            <a:r>
              <a:rPr b="1" lang="en-GB" sz="1400">
                <a:solidFill>
                  <a:srgbClr val="C8102E"/>
                </a:solidFill>
                <a:latin typeface="Open Sans"/>
                <a:ea typeface="Open Sans"/>
                <a:cs typeface="Open Sans"/>
                <a:sym typeface="Open Sans"/>
              </a:rPr>
              <a:t>✗</a:t>
            </a:r>
            <a:endParaRPr sz="1400">
              <a:solidFill>
                <a:schemeClr val="dk1"/>
              </a:solidFill>
              <a:latin typeface="Calibri"/>
              <a:ea typeface="Calibri"/>
              <a:cs typeface="Calibri"/>
              <a:sym typeface="Calibri"/>
            </a:endParaRPr>
          </a:p>
        </p:txBody>
      </p:sp>
      <p:sp>
        <p:nvSpPr>
          <p:cNvPr id="242" name="Google Shape;242;p20"/>
          <p:cNvSpPr/>
          <p:nvPr/>
        </p:nvSpPr>
        <p:spPr>
          <a:xfrm>
            <a:off x="5520690" y="3635835"/>
            <a:ext cx="30723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F6B7A"/>
              </a:buClr>
              <a:buSzPts val="1300"/>
              <a:buFont typeface="Open Sans"/>
              <a:buNone/>
            </a:pPr>
            <a:r>
              <a:rPr lang="en-GB" sz="1300">
                <a:solidFill>
                  <a:srgbClr val="5F6B7A"/>
                </a:solidFill>
                <a:latin typeface="Open Sans"/>
                <a:ea typeface="Open Sans"/>
                <a:cs typeface="Open Sans"/>
                <a:sym typeface="Open Sans"/>
              </a:rPr>
              <a:t>Maintenance is whack-a-mole</a:t>
            </a:r>
            <a:endParaRPr sz="1300">
              <a:solidFill>
                <a:schemeClr val="dk1"/>
              </a:solidFill>
              <a:latin typeface="Calibri"/>
              <a:ea typeface="Calibri"/>
              <a:cs typeface="Calibri"/>
              <a:sym typeface="Calibri"/>
            </a:endParaRPr>
          </a:p>
        </p:txBody>
      </p:sp>
      <p:sp>
        <p:nvSpPr>
          <p:cNvPr id="243" name="Google Shape;243;p20"/>
          <p:cNvSpPr/>
          <p:nvPr/>
        </p:nvSpPr>
        <p:spPr>
          <a:xfrm>
            <a:off x="5246370" y="4013025"/>
            <a:ext cx="240000" cy="274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8102E"/>
              </a:buClr>
              <a:buSzPts val="1400"/>
              <a:buFont typeface="Open Sans"/>
              <a:buNone/>
            </a:pPr>
            <a:r>
              <a:rPr b="1" lang="en-GB" sz="1400">
                <a:solidFill>
                  <a:srgbClr val="C8102E"/>
                </a:solidFill>
                <a:latin typeface="Open Sans"/>
                <a:ea typeface="Open Sans"/>
                <a:cs typeface="Open Sans"/>
                <a:sym typeface="Open Sans"/>
              </a:rPr>
              <a:t>✗</a:t>
            </a:r>
            <a:endParaRPr sz="1400">
              <a:solidFill>
                <a:schemeClr val="dk1"/>
              </a:solidFill>
              <a:latin typeface="Calibri"/>
              <a:ea typeface="Calibri"/>
              <a:cs typeface="Calibri"/>
              <a:sym typeface="Calibri"/>
            </a:endParaRPr>
          </a:p>
        </p:txBody>
      </p:sp>
      <p:sp>
        <p:nvSpPr>
          <p:cNvPr id="244" name="Google Shape;244;p20"/>
          <p:cNvSpPr/>
          <p:nvPr/>
        </p:nvSpPr>
        <p:spPr>
          <a:xfrm>
            <a:off x="5520690" y="3978735"/>
            <a:ext cx="30723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F6B7A"/>
              </a:buClr>
              <a:buSzPts val="1300"/>
              <a:buFont typeface="Open Sans"/>
              <a:buNone/>
            </a:pPr>
            <a:r>
              <a:rPr lang="en-GB" sz="1300">
                <a:solidFill>
                  <a:srgbClr val="5F6B7A"/>
                </a:solidFill>
                <a:latin typeface="Open Sans"/>
                <a:ea typeface="Open Sans"/>
                <a:cs typeface="Open Sans"/>
                <a:sym typeface="Open Sans"/>
              </a:rPr>
              <a:t>No notion of ‘confidence’</a:t>
            </a:r>
            <a:endParaRPr sz="13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 name="Shape 268"/>
        <p:cNvGrpSpPr/>
        <p:nvPr/>
      </p:nvGrpSpPr>
      <p:grpSpPr>
        <a:xfrm>
          <a:off x="0" y="0"/>
          <a:ext cx="0" cy="0"/>
          <a:chOff x="0" y="0"/>
          <a:chExt cx="0" cy="0"/>
        </a:xfrm>
      </p:grpSpPr>
      <p:sp>
        <p:nvSpPr>
          <p:cNvPr id="269" name="Google Shape;269;p22"/>
          <p:cNvSpPr/>
          <p:nvPr/>
        </p:nvSpPr>
        <p:spPr>
          <a:xfrm>
            <a:off x="0" y="0"/>
            <a:ext cx="9143700" cy="377100"/>
          </a:xfrm>
          <a:prstGeom prst="rect">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0" name="Google Shape;270;p22"/>
          <p:cNvSpPr/>
          <p:nvPr/>
        </p:nvSpPr>
        <p:spPr>
          <a:xfrm>
            <a:off x="274320" y="0"/>
            <a:ext cx="68580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Why Rule-Based Fails</a:t>
            </a:r>
            <a:endParaRPr sz="1300">
              <a:solidFill>
                <a:schemeClr val="dk1"/>
              </a:solidFill>
              <a:latin typeface="Calibri"/>
              <a:ea typeface="Calibri"/>
              <a:cs typeface="Calibri"/>
              <a:sym typeface="Calibri"/>
            </a:endParaRPr>
          </a:p>
        </p:txBody>
      </p:sp>
      <p:sp>
        <p:nvSpPr>
          <p:cNvPr id="271" name="Google Shape;271;p22"/>
          <p:cNvSpPr/>
          <p:nvPr/>
        </p:nvSpPr>
        <p:spPr>
          <a:xfrm>
            <a:off x="0" y="0"/>
            <a:ext cx="54900" cy="51435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2" name="Google Shape;272;p22"/>
          <p:cNvSpPr/>
          <p:nvPr/>
        </p:nvSpPr>
        <p:spPr>
          <a:xfrm>
            <a:off x="411480" y="582930"/>
            <a:ext cx="54864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800"/>
              <a:buFont typeface="Open Sans"/>
              <a:buNone/>
            </a:pPr>
            <a:r>
              <a:rPr b="1" lang="en-GB" sz="800">
                <a:solidFill>
                  <a:srgbClr val="C8102E"/>
                </a:solidFill>
                <a:latin typeface="Open Sans"/>
                <a:ea typeface="Open Sans"/>
                <a:cs typeface="Open Sans"/>
                <a:sym typeface="Open Sans"/>
              </a:rPr>
              <a:t>VII.  THREE FAILURE MODES — AND THEY COMPOUND</a:t>
            </a:r>
            <a:endParaRPr sz="800">
              <a:solidFill>
                <a:schemeClr val="dk1"/>
              </a:solidFill>
              <a:latin typeface="Calibri"/>
              <a:ea typeface="Calibri"/>
              <a:cs typeface="Calibri"/>
              <a:sym typeface="Calibri"/>
            </a:endParaRPr>
          </a:p>
        </p:txBody>
      </p:sp>
      <p:sp>
        <p:nvSpPr>
          <p:cNvPr id="273" name="Google Shape;273;p22"/>
          <p:cNvSpPr/>
          <p:nvPr/>
        </p:nvSpPr>
        <p:spPr>
          <a:xfrm>
            <a:off x="411480" y="822960"/>
            <a:ext cx="8229600" cy="548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B2A4A"/>
              </a:buClr>
              <a:buSzPts val="2100"/>
              <a:buFont typeface="Open Sans"/>
              <a:buNone/>
            </a:pPr>
            <a:r>
              <a:rPr lang="en-GB" sz="2100">
                <a:solidFill>
                  <a:srgbClr val="1B2A4A"/>
                </a:solidFill>
                <a:latin typeface="Open Sans"/>
                <a:ea typeface="Open Sans"/>
                <a:cs typeface="Open Sans"/>
                <a:sym typeface="Open Sans"/>
              </a:rPr>
              <a:t>Three ways rules quietly break.</a:t>
            </a:r>
            <a:endParaRPr sz="2100">
              <a:solidFill>
                <a:schemeClr val="dk1"/>
              </a:solidFill>
              <a:latin typeface="Calibri"/>
              <a:ea typeface="Calibri"/>
              <a:cs typeface="Calibri"/>
              <a:sym typeface="Calibri"/>
            </a:endParaRPr>
          </a:p>
        </p:txBody>
      </p:sp>
      <p:sp>
        <p:nvSpPr>
          <p:cNvPr id="274" name="Google Shape;274;p22"/>
          <p:cNvSpPr/>
          <p:nvPr/>
        </p:nvSpPr>
        <p:spPr>
          <a:xfrm>
            <a:off x="411480" y="1645920"/>
            <a:ext cx="2777400" cy="342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5" name="Google Shape;275;p22"/>
          <p:cNvSpPr/>
          <p:nvPr/>
        </p:nvSpPr>
        <p:spPr>
          <a:xfrm>
            <a:off x="411480" y="1680210"/>
            <a:ext cx="2777400" cy="29148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6" name="Google Shape;276;p22"/>
          <p:cNvSpPr/>
          <p:nvPr/>
        </p:nvSpPr>
        <p:spPr>
          <a:xfrm>
            <a:off x="617220" y="1783080"/>
            <a:ext cx="685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2400"/>
              <a:buFont typeface="Open Sans"/>
              <a:buNone/>
            </a:pPr>
            <a:r>
              <a:rPr lang="en-GB" sz="2400">
                <a:solidFill>
                  <a:srgbClr val="C8102E"/>
                </a:solidFill>
                <a:latin typeface="Open Sans"/>
                <a:ea typeface="Open Sans"/>
                <a:cs typeface="Open Sans"/>
                <a:sym typeface="Open Sans"/>
              </a:rPr>
              <a:t>#1</a:t>
            </a:r>
            <a:endParaRPr sz="2400">
              <a:solidFill>
                <a:schemeClr val="dk1"/>
              </a:solidFill>
              <a:latin typeface="Calibri"/>
              <a:ea typeface="Calibri"/>
              <a:cs typeface="Calibri"/>
              <a:sym typeface="Calibri"/>
            </a:endParaRPr>
          </a:p>
        </p:txBody>
      </p:sp>
      <p:sp>
        <p:nvSpPr>
          <p:cNvPr id="277" name="Google Shape;277;p22"/>
          <p:cNvSpPr/>
          <p:nvPr/>
        </p:nvSpPr>
        <p:spPr>
          <a:xfrm>
            <a:off x="617220" y="2228850"/>
            <a:ext cx="23661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700"/>
              <a:buFont typeface="Open Sans"/>
              <a:buNone/>
            </a:pPr>
            <a:r>
              <a:rPr b="1" lang="en-GB" sz="1700">
                <a:solidFill>
                  <a:srgbClr val="1B2A4A"/>
                </a:solidFill>
                <a:latin typeface="Open Sans"/>
                <a:ea typeface="Open Sans"/>
                <a:cs typeface="Open Sans"/>
                <a:sym typeface="Open Sans"/>
              </a:rPr>
              <a:t>No understanding of c</a:t>
            </a:r>
            <a:r>
              <a:rPr b="1" lang="en-GB" sz="1700">
                <a:solidFill>
                  <a:srgbClr val="1B2A4A"/>
                </a:solidFill>
                <a:latin typeface="Open Sans"/>
                <a:ea typeface="Open Sans"/>
                <a:cs typeface="Open Sans"/>
                <a:sym typeface="Open Sans"/>
              </a:rPr>
              <a:t>ontext</a:t>
            </a:r>
            <a:endParaRPr sz="1700">
              <a:solidFill>
                <a:schemeClr val="dk1"/>
              </a:solidFill>
              <a:latin typeface="Calibri"/>
              <a:ea typeface="Calibri"/>
              <a:cs typeface="Calibri"/>
              <a:sym typeface="Calibri"/>
            </a:endParaRPr>
          </a:p>
        </p:txBody>
      </p:sp>
      <p:sp>
        <p:nvSpPr>
          <p:cNvPr id="278" name="Google Shape;278;p22"/>
          <p:cNvSpPr/>
          <p:nvPr/>
        </p:nvSpPr>
        <p:spPr>
          <a:xfrm>
            <a:off x="617220" y="2674620"/>
            <a:ext cx="2366100" cy="823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B2A4A"/>
              </a:buClr>
              <a:buSzPts val="1300"/>
              <a:buFont typeface="Open Sans"/>
              <a:buNone/>
            </a:pPr>
            <a:r>
              <a:rPr i="1" lang="en-GB" sz="1600">
                <a:solidFill>
                  <a:srgbClr val="1B2A4A"/>
                </a:solidFill>
                <a:latin typeface="Open Sans"/>
                <a:ea typeface="Open Sans"/>
                <a:cs typeface="Open Sans"/>
                <a:sym typeface="Open Sans"/>
              </a:rPr>
              <a:t>“Terrible shipping — product itself is fine.”</a:t>
            </a:r>
            <a:endParaRPr sz="1600">
              <a:solidFill>
                <a:schemeClr val="dk1"/>
              </a:solidFill>
              <a:latin typeface="Open Sans"/>
              <a:ea typeface="Open Sans"/>
              <a:cs typeface="Open Sans"/>
              <a:sym typeface="Open Sans"/>
            </a:endParaRPr>
          </a:p>
        </p:txBody>
      </p:sp>
      <p:sp>
        <p:nvSpPr>
          <p:cNvPr id="279" name="Google Shape;279;p22"/>
          <p:cNvSpPr/>
          <p:nvPr/>
        </p:nvSpPr>
        <p:spPr>
          <a:xfrm>
            <a:off x="617225" y="3619439"/>
            <a:ext cx="2366100" cy="51090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333D4D"/>
              </a:buClr>
              <a:buSzPts val="1000"/>
              <a:buFont typeface="Open Sans"/>
              <a:buNone/>
            </a:pPr>
            <a:r>
              <a:rPr lang="en-GB" sz="1000">
                <a:solidFill>
                  <a:srgbClr val="333D4D"/>
                </a:solidFill>
                <a:latin typeface="Open Sans"/>
                <a:ea typeface="Open Sans"/>
                <a:cs typeface="Open Sans"/>
                <a:sym typeface="Open Sans"/>
              </a:rPr>
              <a:t>Rules see ‘terrible’ and ‘fine’ but don't know what each word refers to.</a:t>
            </a:r>
            <a:endParaRPr sz="1000">
              <a:solidFill>
                <a:schemeClr val="dk1"/>
              </a:solidFill>
              <a:latin typeface="Calibri"/>
              <a:ea typeface="Calibri"/>
              <a:cs typeface="Calibri"/>
              <a:sym typeface="Calibri"/>
            </a:endParaRPr>
          </a:p>
        </p:txBody>
      </p:sp>
      <p:sp>
        <p:nvSpPr>
          <p:cNvPr id="280" name="Google Shape;280;p22"/>
          <p:cNvSpPr/>
          <p:nvPr/>
        </p:nvSpPr>
        <p:spPr>
          <a:xfrm>
            <a:off x="411480" y="4251960"/>
            <a:ext cx="2777400" cy="342900"/>
          </a:xfrm>
          <a:prstGeom prst="rect">
            <a:avLst/>
          </a:prstGeom>
          <a:solidFill>
            <a:srgbClr val="F4F5F7"/>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1" name="Google Shape;281;p22"/>
          <p:cNvSpPr/>
          <p:nvPr/>
        </p:nvSpPr>
        <p:spPr>
          <a:xfrm>
            <a:off x="617220" y="4251960"/>
            <a:ext cx="23661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900"/>
              <a:buFont typeface="Open Sans"/>
              <a:buNone/>
            </a:pPr>
            <a:r>
              <a:rPr lang="en-GB" sz="900">
                <a:solidFill>
                  <a:srgbClr val="C8102E"/>
                </a:solidFill>
                <a:latin typeface="Open Sans"/>
                <a:ea typeface="Open Sans"/>
                <a:cs typeface="Open Sans"/>
                <a:sym typeface="Open Sans"/>
              </a:rPr>
              <a:t>Result:</a:t>
            </a:r>
            <a:r>
              <a:rPr b="1" lang="en-GB" sz="900">
                <a:solidFill>
                  <a:srgbClr val="C8102E"/>
                </a:solidFill>
                <a:latin typeface="Open Sans"/>
                <a:ea typeface="Open Sans"/>
                <a:cs typeface="Open Sans"/>
                <a:sym typeface="Open Sans"/>
              </a:rPr>
              <a:t xml:space="preserve"> Incorrectly tagged NEGATIVE.</a:t>
            </a:r>
            <a:endParaRPr sz="900">
              <a:solidFill>
                <a:schemeClr val="dk1"/>
              </a:solidFill>
              <a:latin typeface="Calibri"/>
              <a:ea typeface="Calibri"/>
              <a:cs typeface="Calibri"/>
              <a:sym typeface="Calibri"/>
            </a:endParaRPr>
          </a:p>
        </p:txBody>
      </p:sp>
      <p:sp>
        <p:nvSpPr>
          <p:cNvPr id="282" name="Google Shape;282;p22"/>
          <p:cNvSpPr/>
          <p:nvPr/>
        </p:nvSpPr>
        <p:spPr>
          <a:xfrm>
            <a:off x="3271266" y="1645920"/>
            <a:ext cx="2777400" cy="342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3" name="Google Shape;283;p22"/>
          <p:cNvSpPr/>
          <p:nvPr/>
        </p:nvSpPr>
        <p:spPr>
          <a:xfrm>
            <a:off x="3271266" y="1680210"/>
            <a:ext cx="2777400" cy="29148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4" name="Google Shape;284;p22"/>
          <p:cNvSpPr/>
          <p:nvPr/>
        </p:nvSpPr>
        <p:spPr>
          <a:xfrm>
            <a:off x="3477006" y="1783080"/>
            <a:ext cx="685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2400"/>
              <a:buFont typeface="Open Sans"/>
              <a:buNone/>
            </a:pPr>
            <a:r>
              <a:rPr lang="en-GB" sz="2400">
                <a:solidFill>
                  <a:srgbClr val="C8102E"/>
                </a:solidFill>
                <a:latin typeface="Open Sans"/>
                <a:ea typeface="Open Sans"/>
                <a:cs typeface="Open Sans"/>
                <a:sym typeface="Open Sans"/>
              </a:rPr>
              <a:t>#2</a:t>
            </a:r>
            <a:endParaRPr sz="2400">
              <a:solidFill>
                <a:schemeClr val="dk1"/>
              </a:solidFill>
              <a:latin typeface="Calibri"/>
              <a:ea typeface="Calibri"/>
              <a:cs typeface="Calibri"/>
              <a:sym typeface="Calibri"/>
            </a:endParaRPr>
          </a:p>
        </p:txBody>
      </p:sp>
      <p:sp>
        <p:nvSpPr>
          <p:cNvPr id="285" name="Google Shape;285;p22"/>
          <p:cNvSpPr/>
          <p:nvPr/>
        </p:nvSpPr>
        <p:spPr>
          <a:xfrm>
            <a:off x="3477006" y="2228850"/>
            <a:ext cx="23661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700"/>
              <a:buFont typeface="Open Sans"/>
              <a:buNone/>
            </a:pPr>
            <a:r>
              <a:rPr b="1" lang="en-GB" sz="1700">
                <a:solidFill>
                  <a:srgbClr val="1B2A4A"/>
                </a:solidFill>
                <a:latin typeface="Open Sans"/>
                <a:ea typeface="Open Sans"/>
                <a:cs typeface="Open Sans"/>
                <a:sym typeface="Open Sans"/>
              </a:rPr>
              <a:t>Negation flips the original meaning</a:t>
            </a:r>
            <a:endParaRPr sz="1700">
              <a:solidFill>
                <a:schemeClr val="dk1"/>
              </a:solidFill>
              <a:latin typeface="Calibri"/>
              <a:ea typeface="Calibri"/>
              <a:cs typeface="Calibri"/>
              <a:sym typeface="Calibri"/>
            </a:endParaRPr>
          </a:p>
        </p:txBody>
      </p:sp>
      <p:sp>
        <p:nvSpPr>
          <p:cNvPr id="286" name="Google Shape;286;p22"/>
          <p:cNvSpPr/>
          <p:nvPr/>
        </p:nvSpPr>
        <p:spPr>
          <a:xfrm>
            <a:off x="3477006" y="2674620"/>
            <a:ext cx="2366100" cy="823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B2A4A"/>
              </a:buClr>
              <a:buSzPts val="1300"/>
              <a:buFont typeface="Open Sans"/>
              <a:buNone/>
            </a:pPr>
            <a:r>
              <a:rPr i="1" lang="en-GB" sz="1600">
                <a:solidFill>
                  <a:srgbClr val="1B2A4A"/>
                </a:solidFill>
                <a:latin typeface="Open Sans"/>
                <a:ea typeface="Open Sans"/>
                <a:cs typeface="Open Sans"/>
                <a:sym typeface="Open Sans"/>
              </a:rPr>
              <a:t>“Not what I expected — actually really nice in person!”</a:t>
            </a:r>
            <a:endParaRPr sz="1600">
              <a:solidFill>
                <a:schemeClr val="dk1"/>
              </a:solidFill>
              <a:latin typeface="Calibri"/>
              <a:ea typeface="Calibri"/>
              <a:cs typeface="Calibri"/>
              <a:sym typeface="Calibri"/>
            </a:endParaRPr>
          </a:p>
        </p:txBody>
      </p:sp>
      <p:sp>
        <p:nvSpPr>
          <p:cNvPr id="287" name="Google Shape;287;p22"/>
          <p:cNvSpPr/>
          <p:nvPr/>
        </p:nvSpPr>
        <p:spPr>
          <a:xfrm>
            <a:off x="3477012" y="3619439"/>
            <a:ext cx="2366100" cy="51090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333D4D"/>
              </a:buClr>
              <a:buSzPts val="1000"/>
              <a:buFont typeface="Open Sans"/>
              <a:buNone/>
            </a:pPr>
            <a:r>
              <a:rPr lang="en-GB" sz="1000">
                <a:solidFill>
                  <a:srgbClr val="333D4D"/>
                </a:solidFill>
                <a:latin typeface="Open Sans"/>
                <a:ea typeface="Open Sans"/>
                <a:cs typeface="Open Sans"/>
                <a:sym typeface="Open Sans"/>
              </a:rPr>
              <a:t>‘not’ inverts the sentiment of the next phrase. Word-counting misses this.</a:t>
            </a:r>
            <a:endParaRPr sz="1000">
              <a:solidFill>
                <a:schemeClr val="dk1"/>
              </a:solidFill>
              <a:latin typeface="Calibri"/>
              <a:ea typeface="Calibri"/>
              <a:cs typeface="Calibri"/>
              <a:sym typeface="Calibri"/>
            </a:endParaRPr>
          </a:p>
        </p:txBody>
      </p:sp>
      <p:sp>
        <p:nvSpPr>
          <p:cNvPr id="288" name="Google Shape;288;p22"/>
          <p:cNvSpPr/>
          <p:nvPr/>
        </p:nvSpPr>
        <p:spPr>
          <a:xfrm>
            <a:off x="3271266" y="4251960"/>
            <a:ext cx="2777400" cy="342900"/>
          </a:xfrm>
          <a:prstGeom prst="rect">
            <a:avLst/>
          </a:prstGeom>
          <a:solidFill>
            <a:srgbClr val="F4F5F7"/>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9" name="Google Shape;289;p22"/>
          <p:cNvSpPr/>
          <p:nvPr/>
        </p:nvSpPr>
        <p:spPr>
          <a:xfrm>
            <a:off x="3310137" y="4251950"/>
            <a:ext cx="26997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900"/>
              <a:buFont typeface="Open Sans"/>
              <a:buNone/>
            </a:pPr>
            <a:r>
              <a:rPr lang="en-GB" sz="900">
                <a:solidFill>
                  <a:srgbClr val="C8102E"/>
                </a:solidFill>
                <a:latin typeface="Open Sans"/>
                <a:ea typeface="Open Sans"/>
                <a:cs typeface="Open Sans"/>
                <a:sym typeface="Open Sans"/>
              </a:rPr>
              <a:t>Result:</a:t>
            </a:r>
            <a:r>
              <a:rPr b="1" lang="en-GB" sz="900">
                <a:solidFill>
                  <a:srgbClr val="C8102E"/>
                </a:solidFill>
                <a:latin typeface="Open Sans"/>
                <a:ea typeface="Open Sans"/>
                <a:cs typeface="Open Sans"/>
                <a:sym typeface="Open Sans"/>
              </a:rPr>
              <a:t xml:space="preserve"> Rules tag NEUTRAL or NEGATIVE.</a:t>
            </a:r>
            <a:endParaRPr sz="900">
              <a:solidFill>
                <a:schemeClr val="dk1"/>
              </a:solidFill>
              <a:latin typeface="Calibri"/>
              <a:ea typeface="Calibri"/>
              <a:cs typeface="Calibri"/>
              <a:sym typeface="Calibri"/>
            </a:endParaRPr>
          </a:p>
        </p:txBody>
      </p:sp>
      <p:sp>
        <p:nvSpPr>
          <p:cNvPr id="290" name="Google Shape;290;p22"/>
          <p:cNvSpPr/>
          <p:nvPr/>
        </p:nvSpPr>
        <p:spPr>
          <a:xfrm>
            <a:off x="6131052" y="1645920"/>
            <a:ext cx="2777400" cy="342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1" name="Google Shape;291;p22"/>
          <p:cNvSpPr/>
          <p:nvPr/>
        </p:nvSpPr>
        <p:spPr>
          <a:xfrm>
            <a:off x="6131052" y="1680210"/>
            <a:ext cx="2777400" cy="29148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2" name="Google Shape;292;p22"/>
          <p:cNvSpPr/>
          <p:nvPr/>
        </p:nvSpPr>
        <p:spPr>
          <a:xfrm>
            <a:off x="6336792" y="1783080"/>
            <a:ext cx="685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2400"/>
              <a:buFont typeface="Open Sans"/>
              <a:buNone/>
            </a:pPr>
            <a:r>
              <a:rPr lang="en-GB" sz="2400">
                <a:solidFill>
                  <a:srgbClr val="C8102E"/>
                </a:solidFill>
                <a:latin typeface="Open Sans"/>
                <a:ea typeface="Open Sans"/>
                <a:cs typeface="Open Sans"/>
                <a:sym typeface="Open Sans"/>
              </a:rPr>
              <a:t>#3</a:t>
            </a:r>
            <a:endParaRPr sz="2400">
              <a:solidFill>
                <a:schemeClr val="dk1"/>
              </a:solidFill>
              <a:latin typeface="Calibri"/>
              <a:ea typeface="Calibri"/>
              <a:cs typeface="Calibri"/>
              <a:sym typeface="Calibri"/>
            </a:endParaRPr>
          </a:p>
        </p:txBody>
      </p:sp>
      <p:sp>
        <p:nvSpPr>
          <p:cNvPr id="293" name="Google Shape;293;p22"/>
          <p:cNvSpPr/>
          <p:nvPr/>
        </p:nvSpPr>
        <p:spPr>
          <a:xfrm>
            <a:off x="6336792" y="2228850"/>
            <a:ext cx="23661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700"/>
              <a:buFont typeface="Open Sans"/>
              <a:buNone/>
            </a:pPr>
            <a:r>
              <a:rPr b="1" lang="en-GB" sz="1700">
                <a:solidFill>
                  <a:srgbClr val="1B2A4A"/>
                </a:solidFill>
                <a:latin typeface="Open Sans"/>
                <a:ea typeface="Open Sans"/>
                <a:cs typeface="Open Sans"/>
                <a:sym typeface="Open Sans"/>
              </a:rPr>
              <a:t>Endless maintenance work</a:t>
            </a:r>
            <a:endParaRPr sz="1700">
              <a:solidFill>
                <a:schemeClr val="dk1"/>
              </a:solidFill>
              <a:latin typeface="Calibri"/>
              <a:ea typeface="Calibri"/>
              <a:cs typeface="Calibri"/>
              <a:sym typeface="Calibri"/>
            </a:endParaRPr>
          </a:p>
        </p:txBody>
      </p:sp>
      <p:sp>
        <p:nvSpPr>
          <p:cNvPr id="294" name="Google Shape;294;p22"/>
          <p:cNvSpPr/>
          <p:nvPr/>
        </p:nvSpPr>
        <p:spPr>
          <a:xfrm>
            <a:off x="6336800" y="2674625"/>
            <a:ext cx="2445900" cy="823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B2A4A"/>
              </a:buClr>
              <a:buSzPts val="1300"/>
              <a:buFont typeface="Open Sans"/>
              <a:buNone/>
            </a:pPr>
            <a:r>
              <a:rPr i="1" lang="en-GB" sz="1600">
                <a:solidFill>
                  <a:srgbClr val="1B2A4A"/>
                </a:solidFill>
                <a:latin typeface="Open Sans"/>
                <a:ea typeface="Open Sans"/>
                <a:cs typeface="Open Sans"/>
                <a:sym typeface="Open Sans"/>
              </a:rPr>
              <a:t>Every new review brings new edge cases you didn’t plan for.</a:t>
            </a:r>
            <a:endParaRPr sz="1600">
              <a:solidFill>
                <a:schemeClr val="dk1"/>
              </a:solidFill>
              <a:latin typeface="Calibri"/>
              <a:ea typeface="Calibri"/>
              <a:cs typeface="Calibri"/>
              <a:sym typeface="Calibri"/>
            </a:endParaRPr>
          </a:p>
        </p:txBody>
      </p:sp>
      <p:sp>
        <p:nvSpPr>
          <p:cNvPr id="295" name="Google Shape;295;p22"/>
          <p:cNvSpPr/>
          <p:nvPr/>
        </p:nvSpPr>
        <p:spPr>
          <a:xfrm>
            <a:off x="6336799" y="3619439"/>
            <a:ext cx="2366100" cy="51090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333D4D"/>
              </a:buClr>
              <a:buSzPts val="1000"/>
              <a:buFont typeface="Open Sans"/>
              <a:buNone/>
            </a:pPr>
            <a:r>
              <a:rPr lang="en-GB" sz="1000">
                <a:solidFill>
                  <a:srgbClr val="333D4D"/>
                </a:solidFill>
                <a:latin typeface="Open Sans"/>
                <a:ea typeface="Open Sans"/>
                <a:cs typeface="Open Sans"/>
                <a:sym typeface="Open Sans"/>
              </a:rPr>
              <a:t>Your rule list grows 10 → 100 → 1,000 — and conflicts start.</a:t>
            </a:r>
            <a:endParaRPr sz="1000">
              <a:solidFill>
                <a:schemeClr val="dk1"/>
              </a:solidFill>
              <a:latin typeface="Calibri"/>
              <a:ea typeface="Calibri"/>
              <a:cs typeface="Calibri"/>
              <a:sym typeface="Calibri"/>
            </a:endParaRPr>
          </a:p>
        </p:txBody>
      </p:sp>
      <p:sp>
        <p:nvSpPr>
          <p:cNvPr id="296" name="Google Shape;296;p22"/>
          <p:cNvSpPr/>
          <p:nvPr/>
        </p:nvSpPr>
        <p:spPr>
          <a:xfrm>
            <a:off x="6131052" y="4251960"/>
            <a:ext cx="2777400" cy="342900"/>
          </a:xfrm>
          <a:prstGeom prst="rect">
            <a:avLst/>
          </a:prstGeom>
          <a:solidFill>
            <a:srgbClr val="F4F5F7"/>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7" name="Google Shape;297;p22"/>
          <p:cNvSpPr/>
          <p:nvPr/>
        </p:nvSpPr>
        <p:spPr>
          <a:xfrm>
            <a:off x="6336792" y="4251960"/>
            <a:ext cx="23661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900"/>
              <a:buFont typeface="Open Sans"/>
              <a:buNone/>
            </a:pPr>
            <a:r>
              <a:rPr lang="en-GB" sz="900">
                <a:solidFill>
                  <a:srgbClr val="C8102E"/>
                </a:solidFill>
                <a:latin typeface="Open Sans"/>
                <a:ea typeface="Open Sans"/>
                <a:cs typeface="Open Sans"/>
                <a:sym typeface="Open Sans"/>
              </a:rPr>
              <a:t xml:space="preserve">Result: </a:t>
            </a:r>
            <a:r>
              <a:rPr b="1" lang="en-GB" sz="900">
                <a:solidFill>
                  <a:srgbClr val="C8102E"/>
                </a:solidFill>
                <a:latin typeface="Open Sans"/>
                <a:ea typeface="Open Sans"/>
                <a:cs typeface="Open Sans"/>
                <a:sym typeface="Open Sans"/>
              </a:rPr>
              <a:t>Maintenance cost balloons.</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sp>
        <p:nvSpPr>
          <p:cNvPr id="303" name="Google Shape;303;p23"/>
          <p:cNvSpPr/>
          <p:nvPr/>
        </p:nvSpPr>
        <p:spPr>
          <a:xfrm>
            <a:off x="0" y="0"/>
            <a:ext cx="9143700" cy="377100"/>
          </a:xfrm>
          <a:prstGeom prst="rect">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4" name="Google Shape;304;p23"/>
          <p:cNvSpPr/>
          <p:nvPr/>
        </p:nvSpPr>
        <p:spPr>
          <a:xfrm>
            <a:off x="274320" y="0"/>
            <a:ext cx="68580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Approach 2: Machine Learning</a:t>
            </a:r>
            <a:endParaRPr sz="1300">
              <a:solidFill>
                <a:schemeClr val="dk1"/>
              </a:solidFill>
              <a:latin typeface="Calibri"/>
              <a:ea typeface="Calibri"/>
              <a:cs typeface="Calibri"/>
              <a:sym typeface="Calibri"/>
            </a:endParaRPr>
          </a:p>
        </p:txBody>
      </p:sp>
      <p:sp>
        <p:nvSpPr>
          <p:cNvPr id="305" name="Google Shape;305;p23"/>
          <p:cNvSpPr/>
          <p:nvPr/>
        </p:nvSpPr>
        <p:spPr>
          <a:xfrm>
            <a:off x="0" y="0"/>
            <a:ext cx="54900" cy="51435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6" name="Google Shape;306;p23"/>
          <p:cNvSpPr/>
          <p:nvPr/>
        </p:nvSpPr>
        <p:spPr>
          <a:xfrm>
            <a:off x="411480" y="582930"/>
            <a:ext cx="54864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800"/>
              <a:buFont typeface="Open Sans"/>
              <a:buNone/>
            </a:pPr>
            <a:r>
              <a:rPr b="1" lang="en-GB" sz="800">
                <a:solidFill>
                  <a:srgbClr val="C8102E"/>
                </a:solidFill>
                <a:latin typeface="Open Sans"/>
                <a:ea typeface="Open Sans"/>
                <a:cs typeface="Open Sans"/>
                <a:sym typeface="Open Sans"/>
              </a:rPr>
              <a:t>VIII.  THE PARADIGM FLIP</a:t>
            </a:r>
            <a:endParaRPr sz="800">
              <a:solidFill>
                <a:schemeClr val="dk1"/>
              </a:solidFill>
              <a:latin typeface="Calibri"/>
              <a:ea typeface="Calibri"/>
              <a:cs typeface="Calibri"/>
              <a:sym typeface="Calibri"/>
            </a:endParaRPr>
          </a:p>
        </p:txBody>
      </p:sp>
      <p:sp>
        <p:nvSpPr>
          <p:cNvPr id="307" name="Google Shape;307;p23"/>
          <p:cNvSpPr/>
          <p:nvPr/>
        </p:nvSpPr>
        <p:spPr>
          <a:xfrm>
            <a:off x="411480" y="822960"/>
            <a:ext cx="8229600" cy="548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B2A4A"/>
              </a:buClr>
              <a:buSzPts val="2100"/>
              <a:buFont typeface="Open Sans"/>
              <a:buNone/>
            </a:pPr>
            <a:r>
              <a:rPr lang="en-GB" sz="2100">
                <a:solidFill>
                  <a:srgbClr val="1B2A4A"/>
                </a:solidFill>
                <a:latin typeface="Open Sans"/>
                <a:ea typeface="Open Sans"/>
                <a:cs typeface="Open Sans"/>
                <a:sym typeface="Open Sans"/>
              </a:rPr>
              <a:t>Stop writing rules. Start providing examples.</a:t>
            </a:r>
            <a:endParaRPr sz="2100">
              <a:solidFill>
                <a:schemeClr val="dk1"/>
              </a:solidFill>
              <a:latin typeface="Calibri"/>
              <a:ea typeface="Calibri"/>
              <a:cs typeface="Calibri"/>
              <a:sym typeface="Calibri"/>
            </a:endParaRPr>
          </a:p>
        </p:txBody>
      </p:sp>
      <p:sp>
        <p:nvSpPr>
          <p:cNvPr id="308" name="Google Shape;308;p23"/>
          <p:cNvSpPr/>
          <p:nvPr/>
        </p:nvSpPr>
        <p:spPr>
          <a:xfrm>
            <a:off x="411480" y="1645920"/>
            <a:ext cx="4080600" cy="34200"/>
          </a:xfrm>
          <a:prstGeom prst="rect">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9" name="Google Shape;309;p23"/>
          <p:cNvSpPr/>
          <p:nvPr/>
        </p:nvSpPr>
        <p:spPr>
          <a:xfrm>
            <a:off x="411480" y="1680210"/>
            <a:ext cx="4080600" cy="22974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0" name="Google Shape;310;p23"/>
          <p:cNvSpPr/>
          <p:nvPr/>
        </p:nvSpPr>
        <p:spPr>
          <a:xfrm>
            <a:off x="582930" y="1783080"/>
            <a:ext cx="37377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900"/>
              <a:buFont typeface="Open Sans"/>
              <a:buNone/>
            </a:pPr>
            <a:r>
              <a:rPr b="1" lang="en-GB" sz="900">
                <a:solidFill>
                  <a:srgbClr val="1B2A4A"/>
                </a:solidFill>
                <a:latin typeface="Open Sans"/>
                <a:ea typeface="Open Sans"/>
                <a:cs typeface="Open Sans"/>
                <a:sym typeface="Open Sans"/>
              </a:rPr>
              <a:t>TRADITIONAL PROGRAMMING</a:t>
            </a:r>
            <a:endParaRPr sz="900">
              <a:solidFill>
                <a:schemeClr val="dk1"/>
              </a:solidFill>
              <a:latin typeface="Calibri"/>
              <a:ea typeface="Calibri"/>
              <a:cs typeface="Calibri"/>
              <a:sym typeface="Calibri"/>
            </a:endParaRPr>
          </a:p>
        </p:txBody>
      </p:sp>
      <p:sp>
        <p:nvSpPr>
          <p:cNvPr id="311" name="Google Shape;311;p23"/>
          <p:cNvSpPr/>
          <p:nvPr/>
        </p:nvSpPr>
        <p:spPr>
          <a:xfrm>
            <a:off x="582930" y="2091690"/>
            <a:ext cx="3737700" cy="754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B2A4A"/>
              </a:buClr>
              <a:buSzPts val="1700"/>
              <a:buFont typeface="Open Sans"/>
              <a:buNone/>
            </a:pPr>
            <a:r>
              <a:rPr b="1" lang="en-GB" sz="1700">
                <a:solidFill>
                  <a:srgbClr val="1B2A4A"/>
                </a:solidFill>
                <a:latin typeface="Open Sans"/>
                <a:ea typeface="Open Sans"/>
                <a:cs typeface="Open Sans"/>
                <a:sym typeface="Open Sans"/>
              </a:rPr>
              <a:t>You write the rules.</a:t>
            </a:r>
            <a:endParaRPr sz="1700">
              <a:solidFill>
                <a:schemeClr val="dk1"/>
              </a:solidFill>
              <a:latin typeface="Calibri"/>
              <a:ea typeface="Calibri"/>
              <a:cs typeface="Calibri"/>
              <a:sym typeface="Calibri"/>
            </a:endParaRPr>
          </a:p>
          <a:p>
            <a:pPr indent="0" lvl="0" marL="0" marR="0" rtl="0" algn="l">
              <a:spcBef>
                <a:spcPts val="0"/>
              </a:spcBef>
              <a:spcAft>
                <a:spcPts val="0"/>
              </a:spcAft>
              <a:buClr>
                <a:srgbClr val="1B2A4A"/>
              </a:buClr>
              <a:buSzPts val="1700"/>
              <a:buFont typeface="Open Sans"/>
              <a:buNone/>
            </a:pPr>
            <a:r>
              <a:rPr b="1" lang="en-GB" sz="1700">
                <a:solidFill>
                  <a:srgbClr val="1B2A4A"/>
                </a:solidFill>
                <a:latin typeface="Open Sans"/>
                <a:ea typeface="Open Sans"/>
                <a:cs typeface="Open Sans"/>
                <a:sym typeface="Open Sans"/>
              </a:rPr>
              <a:t>Computer follows them.</a:t>
            </a:r>
            <a:endParaRPr sz="1700">
              <a:solidFill>
                <a:schemeClr val="dk1"/>
              </a:solidFill>
              <a:latin typeface="Calibri"/>
              <a:ea typeface="Calibri"/>
              <a:cs typeface="Calibri"/>
              <a:sym typeface="Calibri"/>
            </a:endParaRPr>
          </a:p>
        </p:txBody>
      </p:sp>
      <p:sp>
        <p:nvSpPr>
          <p:cNvPr id="312" name="Google Shape;312;p23"/>
          <p:cNvSpPr/>
          <p:nvPr/>
        </p:nvSpPr>
        <p:spPr>
          <a:xfrm>
            <a:off x="582930" y="3017520"/>
            <a:ext cx="3737700" cy="823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2C5697"/>
              </a:buClr>
              <a:buSzPts val="1300"/>
              <a:buFont typeface="Open Sans"/>
              <a:buNone/>
            </a:pPr>
            <a:r>
              <a:rPr b="1" lang="en-GB" sz="1300">
                <a:solidFill>
                  <a:srgbClr val="2C5697"/>
                </a:solidFill>
                <a:latin typeface="Open Sans"/>
                <a:ea typeface="Open Sans"/>
                <a:cs typeface="Open Sans"/>
                <a:sym typeface="Open Sans"/>
              </a:rPr>
              <a:t xml:space="preserve">INPUT   </a:t>
            </a:r>
            <a:r>
              <a:rPr lang="en-GB" sz="1300">
                <a:solidFill>
                  <a:srgbClr val="333D4D"/>
                </a:solidFill>
                <a:latin typeface="Open Sans"/>
                <a:ea typeface="Open Sans"/>
                <a:cs typeface="Open Sans"/>
                <a:sym typeface="Open Sans"/>
              </a:rPr>
              <a:t>rules + data</a:t>
            </a:r>
            <a:br>
              <a:rPr lang="en-GB" sz="1300">
                <a:solidFill>
                  <a:srgbClr val="333D4D"/>
                </a:solidFill>
                <a:latin typeface="Open Sans"/>
                <a:ea typeface="Open Sans"/>
                <a:cs typeface="Open Sans"/>
                <a:sym typeface="Open Sans"/>
              </a:rPr>
            </a:br>
            <a:r>
              <a:rPr b="1" lang="en-GB" sz="1300">
                <a:solidFill>
                  <a:srgbClr val="2C5697"/>
                </a:solidFill>
                <a:latin typeface="Open Sans"/>
                <a:ea typeface="Open Sans"/>
                <a:cs typeface="Open Sans"/>
                <a:sym typeface="Open Sans"/>
              </a:rPr>
              <a:t xml:space="preserve">OUTPUT  </a:t>
            </a:r>
            <a:r>
              <a:rPr lang="en-GB" sz="1300">
                <a:solidFill>
                  <a:srgbClr val="333D4D"/>
                </a:solidFill>
                <a:latin typeface="Open Sans"/>
                <a:ea typeface="Open Sans"/>
                <a:cs typeface="Open Sans"/>
                <a:sym typeface="Open Sans"/>
              </a:rPr>
              <a:t>deterministic (fixed) result</a:t>
            </a:r>
            <a:endParaRPr sz="1300">
              <a:solidFill>
                <a:schemeClr val="dk1"/>
              </a:solidFill>
              <a:latin typeface="Calibri"/>
              <a:ea typeface="Calibri"/>
              <a:cs typeface="Calibri"/>
              <a:sym typeface="Calibri"/>
            </a:endParaRPr>
          </a:p>
        </p:txBody>
      </p:sp>
      <p:sp>
        <p:nvSpPr>
          <p:cNvPr id="313" name="Google Shape;313;p23"/>
          <p:cNvSpPr/>
          <p:nvPr/>
        </p:nvSpPr>
        <p:spPr>
          <a:xfrm>
            <a:off x="4629150" y="1645920"/>
            <a:ext cx="4080600" cy="342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4" name="Google Shape;314;p23"/>
          <p:cNvSpPr/>
          <p:nvPr/>
        </p:nvSpPr>
        <p:spPr>
          <a:xfrm>
            <a:off x="4629150" y="1680210"/>
            <a:ext cx="4080600" cy="22974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5" name="Google Shape;315;p23"/>
          <p:cNvSpPr/>
          <p:nvPr/>
        </p:nvSpPr>
        <p:spPr>
          <a:xfrm>
            <a:off x="4800600" y="1783080"/>
            <a:ext cx="37377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900"/>
              <a:buFont typeface="Open Sans"/>
              <a:buNone/>
            </a:pPr>
            <a:r>
              <a:rPr b="1" lang="en-GB" sz="900">
                <a:solidFill>
                  <a:srgbClr val="C8102E"/>
                </a:solidFill>
                <a:latin typeface="Open Sans"/>
                <a:ea typeface="Open Sans"/>
                <a:cs typeface="Open Sans"/>
                <a:sym typeface="Open Sans"/>
              </a:rPr>
              <a:t>MACHINE LEARNING</a:t>
            </a:r>
            <a:endParaRPr sz="900">
              <a:solidFill>
                <a:schemeClr val="dk1"/>
              </a:solidFill>
              <a:latin typeface="Calibri"/>
              <a:ea typeface="Calibri"/>
              <a:cs typeface="Calibri"/>
              <a:sym typeface="Calibri"/>
            </a:endParaRPr>
          </a:p>
        </p:txBody>
      </p:sp>
      <p:sp>
        <p:nvSpPr>
          <p:cNvPr id="316" name="Google Shape;316;p23"/>
          <p:cNvSpPr/>
          <p:nvPr/>
        </p:nvSpPr>
        <p:spPr>
          <a:xfrm>
            <a:off x="4800600" y="2091690"/>
            <a:ext cx="3737700" cy="754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B2A4A"/>
              </a:buClr>
              <a:buSzPts val="1700"/>
              <a:buFont typeface="Open Sans"/>
              <a:buNone/>
            </a:pPr>
            <a:r>
              <a:rPr b="1" lang="en-GB" sz="1700">
                <a:solidFill>
                  <a:srgbClr val="1B2A4A"/>
                </a:solidFill>
                <a:latin typeface="Open Sans"/>
                <a:ea typeface="Open Sans"/>
                <a:cs typeface="Open Sans"/>
                <a:sym typeface="Open Sans"/>
              </a:rPr>
              <a:t>You provide the examples.</a:t>
            </a:r>
            <a:endParaRPr sz="1700">
              <a:solidFill>
                <a:schemeClr val="dk1"/>
              </a:solidFill>
              <a:latin typeface="Calibri"/>
              <a:ea typeface="Calibri"/>
              <a:cs typeface="Calibri"/>
              <a:sym typeface="Calibri"/>
            </a:endParaRPr>
          </a:p>
          <a:p>
            <a:pPr indent="0" lvl="0" marL="0" marR="0" rtl="0" algn="l">
              <a:spcBef>
                <a:spcPts val="0"/>
              </a:spcBef>
              <a:spcAft>
                <a:spcPts val="0"/>
              </a:spcAft>
              <a:buClr>
                <a:srgbClr val="1B2A4A"/>
              </a:buClr>
              <a:buSzPts val="1700"/>
              <a:buFont typeface="Open Sans"/>
              <a:buNone/>
            </a:pPr>
            <a:r>
              <a:rPr b="1" lang="en-GB" sz="1700">
                <a:solidFill>
                  <a:srgbClr val="1B2A4A"/>
                </a:solidFill>
                <a:latin typeface="Open Sans"/>
                <a:ea typeface="Open Sans"/>
                <a:cs typeface="Open Sans"/>
                <a:sym typeface="Open Sans"/>
              </a:rPr>
              <a:t>Computer discovers the rules.</a:t>
            </a:r>
            <a:endParaRPr sz="1700">
              <a:solidFill>
                <a:schemeClr val="dk1"/>
              </a:solidFill>
              <a:latin typeface="Calibri"/>
              <a:ea typeface="Calibri"/>
              <a:cs typeface="Calibri"/>
              <a:sym typeface="Calibri"/>
            </a:endParaRPr>
          </a:p>
        </p:txBody>
      </p:sp>
      <p:sp>
        <p:nvSpPr>
          <p:cNvPr id="317" name="Google Shape;317;p23"/>
          <p:cNvSpPr/>
          <p:nvPr/>
        </p:nvSpPr>
        <p:spPr>
          <a:xfrm>
            <a:off x="4800600" y="3017520"/>
            <a:ext cx="3737700" cy="823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C8102E"/>
              </a:buClr>
              <a:buSzPts val="1300"/>
              <a:buFont typeface="Open Sans"/>
              <a:buNone/>
            </a:pPr>
            <a:r>
              <a:rPr b="1" lang="en-GB" sz="1300">
                <a:solidFill>
                  <a:srgbClr val="C8102E"/>
                </a:solidFill>
                <a:latin typeface="Open Sans"/>
                <a:ea typeface="Open Sans"/>
                <a:cs typeface="Open Sans"/>
                <a:sym typeface="Open Sans"/>
              </a:rPr>
              <a:t xml:space="preserve">INPUT   </a:t>
            </a:r>
            <a:r>
              <a:rPr lang="en-GB" sz="1300">
                <a:solidFill>
                  <a:srgbClr val="333D4D"/>
                </a:solidFill>
                <a:latin typeface="Open Sans"/>
                <a:ea typeface="Open Sans"/>
                <a:cs typeface="Open Sans"/>
                <a:sym typeface="Open Sans"/>
              </a:rPr>
              <a:t>examples (data + correct answers)</a:t>
            </a:r>
            <a:br>
              <a:rPr lang="en-GB" sz="1300">
                <a:solidFill>
                  <a:srgbClr val="333D4D"/>
                </a:solidFill>
                <a:latin typeface="Open Sans"/>
                <a:ea typeface="Open Sans"/>
                <a:cs typeface="Open Sans"/>
                <a:sym typeface="Open Sans"/>
              </a:rPr>
            </a:br>
            <a:r>
              <a:rPr b="1" lang="en-GB" sz="1300">
                <a:solidFill>
                  <a:srgbClr val="C8102E"/>
                </a:solidFill>
                <a:latin typeface="Open Sans"/>
                <a:ea typeface="Open Sans"/>
                <a:cs typeface="Open Sans"/>
                <a:sym typeface="Open Sans"/>
              </a:rPr>
              <a:t xml:space="preserve">OUTPUT  </a:t>
            </a:r>
            <a:r>
              <a:rPr lang="en-GB" sz="1300">
                <a:solidFill>
                  <a:srgbClr val="333D4D"/>
                </a:solidFill>
                <a:latin typeface="Open Sans"/>
                <a:ea typeface="Open Sans"/>
                <a:cs typeface="Open Sans"/>
                <a:sym typeface="Open Sans"/>
              </a:rPr>
              <a:t>prediction + confidence score</a:t>
            </a:r>
            <a:endParaRPr sz="1300">
              <a:solidFill>
                <a:schemeClr val="dk1"/>
              </a:solidFill>
              <a:latin typeface="Calibri"/>
              <a:ea typeface="Calibri"/>
              <a:cs typeface="Calibri"/>
              <a:sym typeface="Calibri"/>
            </a:endParaRPr>
          </a:p>
        </p:txBody>
      </p:sp>
      <p:sp>
        <p:nvSpPr>
          <p:cNvPr id="318" name="Google Shape;318;p23"/>
          <p:cNvSpPr/>
          <p:nvPr/>
        </p:nvSpPr>
        <p:spPr>
          <a:xfrm>
            <a:off x="411480" y="4073387"/>
            <a:ext cx="8318700" cy="754500"/>
          </a:xfrm>
          <a:prstGeom prst="rect">
            <a:avLst/>
          </a:prstGeom>
          <a:solidFill>
            <a:srgbClr val="F4F5F7"/>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9" name="Google Shape;319;p23"/>
          <p:cNvSpPr/>
          <p:nvPr/>
        </p:nvSpPr>
        <p:spPr>
          <a:xfrm>
            <a:off x="411480" y="4073387"/>
            <a:ext cx="34200" cy="7545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0" name="Google Shape;320;p23"/>
          <p:cNvSpPr/>
          <p:nvPr/>
        </p:nvSpPr>
        <p:spPr>
          <a:xfrm>
            <a:off x="582930" y="4183380"/>
            <a:ext cx="7955400" cy="61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400"/>
              <a:buFont typeface="Open Sans"/>
              <a:buNone/>
            </a:pPr>
            <a:r>
              <a:rPr i="1" lang="en-GB" sz="1400">
                <a:solidFill>
                  <a:srgbClr val="1B2A4A"/>
                </a:solidFill>
                <a:latin typeface="Open Sans"/>
                <a:ea typeface="Open Sans"/>
                <a:cs typeface="Open Sans"/>
                <a:sym typeface="Open Sans"/>
              </a:rPr>
              <a:t xml:space="preserve">“In traditional programming, you write the </a:t>
            </a:r>
            <a:r>
              <a:rPr b="1" i="1" lang="en-GB" sz="1400">
                <a:solidFill>
                  <a:srgbClr val="1B2A4A"/>
                </a:solidFill>
                <a:latin typeface="Open Sans"/>
                <a:ea typeface="Open Sans"/>
                <a:cs typeface="Open Sans"/>
                <a:sym typeface="Open Sans"/>
              </a:rPr>
              <a:t>rules</a:t>
            </a:r>
            <a:r>
              <a:rPr i="1" lang="en-GB" sz="1400">
                <a:solidFill>
                  <a:srgbClr val="1B2A4A"/>
                </a:solidFill>
                <a:latin typeface="Open Sans"/>
                <a:ea typeface="Open Sans"/>
                <a:cs typeface="Open Sans"/>
                <a:sym typeface="Open Sans"/>
              </a:rPr>
              <a:t xml:space="preserve">. In ML, you write the </a:t>
            </a:r>
            <a:r>
              <a:rPr b="1" i="1" lang="en-GB" sz="1400">
                <a:solidFill>
                  <a:srgbClr val="C8102E"/>
                </a:solidFill>
                <a:latin typeface="Open Sans"/>
                <a:ea typeface="Open Sans"/>
                <a:cs typeface="Open Sans"/>
                <a:sym typeface="Open Sans"/>
              </a:rPr>
              <a:t>examples</a:t>
            </a:r>
            <a:r>
              <a:rPr i="1" lang="en-GB" sz="1400">
                <a:solidFill>
                  <a:srgbClr val="1B2A4A"/>
                </a:solidFill>
                <a:latin typeface="Open Sans"/>
                <a:ea typeface="Open Sans"/>
                <a:cs typeface="Open Sans"/>
                <a:sym typeface="Open Sans"/>
              </a:rPr>
              <a:t xml:space="preserve"> — and the computer </a:t>
            </a:r>
            <a:r>
              <a:rPr i="1" lang="en-GB">
                <a:solidFill>
                  <a:srgbClr val="1B2A4A"/>
                </a:solidFill>
                <a:latin typeface="Open Sans"/>
                <a:ea typeface="Open Sans"/>
                <a:cs typeface="Open Sans"/>
                <a:sym typeface="Open Sans"/>
              </a:rPr>
              <a:t>figures out the rules for you.</a:t>
            </a:r>
            <a:r>
              <a:rPr i="1" lang="en-GB" sz="1400">
                <a:solidFill>
                  <a:srgbClr val="1B2A4A"/>
                </a:solidFill>
                <a:latin typeface="Open Sans"/>
                <a:ea typeface="Open Sans"/>
                <a:cs typeface="Open Sans"/>
                <a:sym typeface="Open Sans"/>
              </a:rPr>
              <a:t> And often you don’t even train it yourself — pre-trained models let you reuse examples someone else already learned from.”</a:t>
            </a:r>
            <a:endParaRPr sz="14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50" name="Shape 350"/>
        <p:cNvGrpSpPr/>
        <p:nvPr/>
      </p:nvGrpSpPr>
      <p:grpSpPr>
        <a:xfrm>
          <a:off x="0" y="0"/>
          <a:ext cx="0" cy="0"/>
          <a:chOff x="0" y="0"/>
          <a:chExt cx="0" cy="0"/>
        </a:xfrm>
      </p:grpSpPr>
      <p:sp>
        <p:nvSpPr>
          <p:cNvPr id="351" name="Google Shape;351;p25"/>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2" name="Google Shape;352;p25"/>
          <p:cNvSpPr/>
          <p:nvPr/>
        </p:nvSpPr>
        <p:spPr>
          <a:xfrm>
            <a:off x="411480" y="480060"/>
            <a:ext cx="1509000" cy="342900"/>
          </a:xfrm>
          <a:prstGeom prst="roundRect">
            <a:avLst>
              <a:gd fmla="val 50000" name="adj"/>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3" name="Google Shape;353;p25"/>
          <p:cNvSpPr/>
          <p:nvPr/>
        </p:nvSpPr>
        <p:spPr>
          <a:xfrm>
            <a:off x="411480" y="480060"/>
            <a:ext cx="150900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Open Sans"/>
              <a:buNone/>
            </a:pPr>
            <a:r>
              <a:rPr b="1" lang="en-GB" sz="1000">
                <a:solidFill>
                  <a:srgbClr val="FFFFFF"/>
                </a:solidFill>
                <a:latin typeface="Open Sans"/>
                <a:ea typeface="Open Sans"/>
                <a:cs typeface="Open Sans"/>
                <a:sym typeface="Open Sans"/>
              </a:rPr>
              <a:t>CODE-ALONG</a:t>
            </a:r>
            <a:endParaRPr sz="1000">
              <a:solidFill>
                <a:schemeClr val="dk1"/>
              </a:solidFill>
              <a:latin typeface="Calibri"/>
              <a:ea typeface="Calibri"/>
              <a:cs typeface="Calibri"/>
              <a:sym typeface="Calibri"/>
            </a:endParaRPr>
          </a:p>
        </p:txBody>
      </p:sp>
      <p:sp>
        <p:nvSpPr>
          <p:cNvPr id="354" name="Google Shape;354;p25"/>
          <p:cNvSpPr/>
          <p:nvPr/>
        </p:nvSpPr>
        <p:spPr>
          <a:xfrm>
            <a:off x="1988820" y="480060"/>
            <a:ext cx="27432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000"/>
              <a:buFont typeface="Open Sans"/>
              <a:buNone/>
            </a:pPr>
            <a:r>
              <a:rPr b="1" lang="en-GB" sz="1000">
                <a:solidFill>
                  <a:srgbClr val="FFFFFF"/>
                </a:solidFill>
                <a:latin typeface="Open Sans"/>
                <a:ea typeface="Open Sans"/>
                <a:cs typeface="Open Sans"/>
                <a:sym typeface="Open Sans"/>
              </a:rPr>
              <a:t>HANDS-ON</a:t>
            </a:r>
            <a:endParaRPr sz="1000">
              <a:solidFill>
                <a:schemeClr val="dk1"/>
              </a:solidFill>
              <a:latin typeface="Calibri"/>
              <a:ea typeface="Calibri"/>
              <a:cs typeface="Calibri"/>
              <a:sym typeface="Calibri"/>
            </a:endParaRPr>
          </a:p>
        </p:txBody>
      </p:sp>
      <p:sp>
        <p:nvSpPr>
          <p:cNvPr id="355" name="Google Shape;355;p25"/>
          <p:cNvSpPr/>
          <p:nvPr/>
        </p:nvSpPr>
        <p:spPr>
          <a:xfrm>
            <a:off x="411480" y="1165860"/>
            <a:ext cx="8229600" cy="480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2000"/>
              <a:buFont typeface="Consolas"/>
              <a:buNone/>
            </a:pPr>
            <a:r>
              <a:rPr lang="en-GB" sz="2000">
                <a:solidFill>
                  <a:schemeClr val="lt1"/>
                </a:solidFill>
                <a:latin typeface="Consolas"/>
                <a:ea typeface="Consolas"/>
                <a:cs typeface="Consolas"/>
                <a:sym typeface="Consolas"/>
              </a:rPr>
              <a:t>Open:</a:t>
            </a:r>
            <a:r>
              <a:rPr b="1" lang="en-GB" sz="2000">
                <a:solidFill>
                  <a:schemeClr val="accent6"/>
                </a:solidFill>
                <a:latin typeface="Consolas"/>
                <a:ea typeface="Consolas"/>
                <a:cs typeface="Consolas"/>
                <a:sym typeface="Consolas"/>
              </a:rPr>
              <a:t xml:space="preserve">  </a:t>
            </a:r>
            <a:r>
              <a:rPr b="1" lang="en-GB" sz="2000">
                <a:solidFill>
                  <a:srgbClr val="00FF00"/>
                </a:solidFill>
                <a:latin typeface="Consolas"/>
                <a:ea typeface="Consolas"/>
                <a:cs typeface="Consolas"/>
                <a:sym typeface="Consolas"/>
              </a:rPr>
              <a:t>02_what_is_ml.ipynb</a:t>
            </a:r>
            <a:endParaRPr sz="2000">
              <a:solidFill>
                <a:srgbClr val="00FF00"/>
              </a:solidFill>
              <a:latin typeface="Calibri"/>
              <a:ea typeface="Calibri"/>
              <a:cs typeface="Calibri"/>
              <a:sym typeface="Calibri"/>
            </a:endParaRPr>
          </a:p>
        </p:txBody>
      </p:sp>
      <p:sp>
        <p:nvSpPr>
          <p:cNvPr id="356" name="Google Shape;356;p25"/>
          <p:cNvSpPr/>
          <p:nvPr/>
        </p:nvSpPr>
        <p:spPr>
          <a:xfrm>
            <a:off x="411480" y="1851660"/>
            <a:ext cx="82296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700"/>
              <a:buFont typeface="Open Sans"/>
              <a:buNone/>
            </a:pPr>
            <a:r>
              <a:rPr b="1" lang="en-GB" sz="1700">
                <a:solidFill>
                  <a:srgbClr val="FFFFFF"/>
                </a:solidFill>
                <a:latin typeface="Open Sans"/>
                <a:ea typeface="Open Sans"/>
                <a:cs typeface="Open Sans"/>
                <a:sym typeface="Open Sans"/>
              </a:rPr>
              <a:t>What you'll do</a:t>
            </a:r>
            <a:endParaRPr sz="1700">
              <a:solidFill>
                <a:schemeClr val="dk1"/>
              </a:solidFill>
              <a:latin typeface="Calibri"/>
              <a:ea typeface="Calibri"/>
              <a:cs typeface="Calibri"/>
              <a:sym typeface="Calibri"/>
            </a:endParaRPr>
          </a:p>
        </p:txBody>
      </p:sp>
      <p:sp>
        <p:nvSpPr>
          <p:cNvPr id="357" name="Google Shape;357;p25"/>
          <p:cNvSpPr/>
          <p:nvPr/>
        </p:nvSpPr>
        <p:spPr>
          <a:xfrm>
            <a:off x="411480" y="2297430"/>
            <a:ext cx="308700" cy="308700"/>
          </a:xfrm>
          <a:prstGeom prst="ellipse">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8" name="Google Shape;358;p25"/>
          <p:cNvSpPr/>
          <p:nvPr/>
        </p:nvSpPr>
        <p:spPr>
          <a:xfrm>
            <a:off x="411480" y="2297430"/>
            <a:ext cx="308700" cy="308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1</a:t>
            </a:r>
            <a:endParaRPr sz="1300">
              <a:solidFill>
                <a:schemeClr val="dk1"/>
              </a:solidFill>
              <a:latin typeface="Calibri"/>
              <a:ea typeface="Calibri"/>
              <a:cs typeface="Calibri"/>
              <a:sym typeface="Calibri"/>
            </a:endParaRPr>
          </a:p>
        </p:txBody>
      </p:sp>
      <p:sp>
        <p:nvSpPr>
          <p:cNvPr id="359" name="Google Shape;359;p25"/>
          <p:cNvSpPr/>
          <p:nvPr/>
        </p:nvSpPr>
        <p:spPr>
          <a:xfrm>
            <a:off x="822960" y="2263140"/>
            <a:ext cx="7818000" cy="41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300"/>
              <a:buFont typeface="Open Sans"/>
              <a:buNone/>
            </a:pPr>
            <a:r>
              <a:rPr lang="en-GB" sz="1300">
                <a:solidFill>
                  <a:srgbClr val="FFFFFF"/>
                </a:solidFill>
                <a:latin typeface="Open Sans"/>
                <a:ea typeface="Open Sans"/>
                <a:cs typeface="Open Sans"/>
                <a:sym typeface="Open Sans"/>
              </a:rPr>
              <a:t>Run the rule-based sentiment function on 5 reviews — see exactly where it fails.</a:t>
            </a:r>
            <a:endParaRPr sz="1300">
              <a:solidFill>
                <a:schemeClr val="dk1"/>
              </a:solidFill>
              <a:latin typeface="Calibri"/>
              <a:ea typeface="Calibri"/>
              <a:cs typeface="Calibri"/>
              <a:sym typeface="Calibri"/>
            </a:endParaRPr>
          </a:p>
        </p:txBody>
      </p:sp>
      <p:sp>
        <p:nvSpPr>
          <p:cNvPr id="360" name="Google Shape;360;p25"/>
          <p:cNvSpPr/>
          <p:nvPr/>
        </p:nvSpPr>
        <p:spPr>
          <a:xfrm>
            <a:off x="411480" y="2743200"/>
            <a:ext cx="308700" cy="308700"/>
          </a:xfrm>
          <a:prstGeom prst="ellipse">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1" name="Google Shape;361;p25"/>
          <p:cNvSpPr/>
          <p:nvPr/>
        </p:nvSpPr>
        <p:spPr>
          <a:xfrm>
            <a:off x="411480" y="2743200"/>
            <a:ext cx="308700" cy="308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2</a:t>
            </a:r>
            <a:endParaRPr sz="1300">
              <a:solidFill>
                <a:schemeClr val="dk1"/>
              </a:solidFill>
              <a:latin typeface="Calibri"/>
              <a:ea typeface="Calibri"/>
              <a:cs typeface="Calibri"/>
              <a:sym typeface="Calibri"/>
            </a:endParaRPr>
          </a:p>
        </p:txBody>
      </p:sp>
      <p:sp>
        <p:nvSpPr>
          <p:cNvPr id="362" name="Google Shape;362;p25"/>
          <p:cNvSpPr/>
          <p:nvPr/>
        </p:nvSpPr>
        <p:spPr>
          <a:xfrm>
            <a:off x="822960" y="2708910"/>
            <a:ext cx="7818000" cy="41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300"/>
              <a:buFont typeface="Open Sans"/>
              <a:buNone/>
            </a:pPr>
            <a:r>
              <a:rPr lang="en-GB" sz="1300">
                <a:solidFill>
                  <a:srgbClr val="FFFFFF"/>
                </a:solidFill>
                <a:latin typeface="Open Sans"/>
                <a:ea typeface="Open Sans"/>
                <a:cs typeface="Open Sans"/>
                <a:sym typeface="Open Sans"/>
              </a:rPr>
              <a:t>Load a pre-trained sentiment model and re-run on the same 5 reviews.</a:t>
            </a:r>
            <a:endParaRPr sz="1300">
              <a:solidFill>
                <a:schemeClr val="dk1"/>
              </a:solidFill>
              <a:latin typeface="Calibri"/>
              <a:ea typeface="Calibri"/>
              <a:cs typeface="Calibri"/>
              <a:sym typeface="Calibri"/>
            </a:endParaRPr>
          </a:p>
        </p:txBody>
      </p:sp>
      <p:sp>
        <p:nvSpPr>
          <p:cNvPr id="363" name="Google Shape;363;p25"/>
          <p:cNvSpPr/>
          <p:nvPr/>
        </p:nvSpPr>
        <p:spPr>
          <a:xfrm>
            <a:off x="411480" y="3188970"/>
            <a:ext cx="308700" cy="308700"/>
          </a:xfrm>
          <a:prstGeom prst="ellipse">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4" name="Google Shape;364;p25"/>
          <p:cNvSpPr/>
          <p:nvPr/>
        </p:nvSpPr>
        <p:spPr>
          <a:xfrm>
            <a:off x="411480" y="3188970"/>
            <a:ext cx="308700" cy="308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3</a:t>
            </a:r>
            <a:endParaRPr sz="1300">
              <a:solidFill>
                <a:schemeClr val="dk1"/>
              </a:solidFill>
              <a:latin typeface="Calibri"/>
              <a:ea typeface="Calibri"/>
              <a:cs typeface="Calibri"/>
              <a:sym typeface="Calibri"/>
            </a:endParaRPr>
          </a:p>
        </p:txBody>
      </p:sp>
      <p:sp>
        <p:nvSpPr>
          <p:cNvPr id="365" name="Google Shape;365;p25"/>
          <p:cNvSpPr/>
          <p:nvPr/>
        </p:nvSpPr>
        <p:spPr>
          <a:xfrm>
            <a:off x="822960" y="3154680"/>
            <a:ext cx="7818000" cy="41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300"/>
              <a:buFont typeface="Open Sans"/>
              <a:buNone/>
            </a:pPr>
            <a:r>
              <a:rPr lang="en-GB" sz="1300">
                <a:solidFill>
                  <a:srgbClr val="FFFFFF"/>
                </a:solidFill>
                <a:latin typeface="Open Sans"/>
                <a:ea typeface="Open Sans"/>
                <a:cs typeface="Open Sans"/>
                <a:sym typeface="Open Sans"/>
              </a:rPr>
              <a:t>Notice the confidence score — and what it signals about ambiguous reviews.</a:t>
            </a:r>
            <a:endParaRPr sz="1300">
              <a:solidFill>
                <a:schemeClr val="dk1"/>
              </a:solidFill>
              <a:latin typeface="Calibri"/>
              <a:ea typeface="Calibri"/>
              <a:cs typeface="Calibri"/>
              <a:sym typeface="Calibri"/>
            </a:endParaRPr>
          </a:p>
        </p:txBody>
      </p:sp>
      <p:sp>
        <p:nvSpPr>
          <p:cNvPr id="366" name="Google Shape;366;p25"/>
          <p:cNvSpPr/>
          <p:nvPr/>
        </p:nvSpPr>
        <p:spPr>
          <a:xfrm>
            <a:off x="411480" y="3909060"/>
            <a:ext cx="8318700" cy="685800"/>
          </a:xfrm>
          <a:prstGeom prst="rect">
            <a:avLst/>
          </a:prstGeom>
          <a:solidFill>
            <a:srgbClr val="1E3054"/>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7" name="Google Shape;367;p25"/>
          <p:cNvSpPr/>
          <p:nvPr/>
        </p:nvSpPr>
        <p:spPr>
          <a:xfrm>
            <a:off x="617220" y="3909060"/>
            <a:ext cx="548400"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8102E"/>
              </a:buClr>
              <a:buSzPts val="2700"/>
              <a:buFont typeface="Open Sans"/>
              <a:buNone/>
            </a:pPr>
            <a:r>
              <a:rPr lang="en-GB" sz="2700">
                <a:solidFill>
                  <a:srgbClr val="C8102E"/>
                </a:solidFill>
                <a:latin typeface="Open Sans"/>
                <a:ea typeface="Open Sans"/>
                <a:cs typeface="Open Sans"/>
                <a:sym typeface="Open Sans"/>
              </a:rPr>
              <a:t>⏱</a:t>
            </a:r>
            <a:endParaRPr sz="2700">
              <a:solidFill>
                <a:schemeClr val="dk1"/>
              </a:solidFill>
              <a:latin typeface="Calibri"/>
              <a:ea typeface="Calibri"/>
              <a:cs typeface="Calibri"/>
              <a:sym typeface="Calibri"/>
            </a:endParaRPr>
          </a:p>
        </p:txBody>
      </p:sp>
      <p:sp>
        <p:nvSpPr>
          <p:cNvPr id="368" name="Google Shape;368;p25"/>
          <p:cNvSpPr/>
          <p:nvPr/>
        </p:nvSpPr>
        <p:spPr>
          <a:xfrm>
            <a:off x="1234440" y="3909060"/>
            <a:ext cx="735870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700"/>
              <a:buFont typeface="Open Sans"/>
              <a:buNone/>
            </a:pPr>
            <a:r>
              <a:rPr b="1" lang="en-GB" sz="1700">
                <a:solidFill>
                  <a:srgbClr val="FFFFFF"/>
                </a:solidFill>
                <a:latin typeface="Open Sans"/>
                <a:ea typeface="Open Sans"/>
                <a:cs typeface="Open Sans"/>
                <a:sym typeface="Open Sans"/>
              </a:rPr>
              <a:t>30 minutes</a:t>
            </a:r>
            <a:r>
              <a:rPr lang="en-GB" sz="1300">
                <a:solidFill>
                  <a:srgbClr val="FFFFFF"/>
                </a:solidFill>
                <a:latin typeface="Open Sans"/>
                <a:ea typeface="Open Sans"/>
                <a:cs typeface="Open Sans"/>
                <a:sym typeface="Open Sans"/>
              </a:rPr>
              <a:t xml:space="preserve">    ·    Stop at the 🟡 Extension marker    ·    Extension is self-paced after class</a:t>
            </a:r>
            <a:endParaRPr sz="17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2" name="Shape 382"/>
        <p:cNvGrpSpPr/>
        <p:nvPr/>
      </p:nvGrpSpPr>
      <p:grpSpPr>
        <a:xfrm>
          <a:off x="0" y="0"/>
          <a:ext cx="0" cy="0"/>
          <a:chOff x="0" y="0"/>
          <a:chExt cx="0" cy="0"/>
        </a:xfrm>
      </p:grpSpPr>
      <p:sp>
        <p:nvSpPr>
          <p:cNvPr id="383" name="Google Shape;383;p27"/>
          <p:cNvSpPr/>
          <p:nvPr/>
        </p:nvSpPr>
        <p:spPr>
          <a:xfrm>
            <a:off x="0" y="0"/>
            <a:ext cx="9143700" cy="377100"/>
          </a:xfrm>
          <a:prstGeom prst="rect">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4" name="Google Shape;384;p27"/>
          <p:cNvSpPr/>
          <p:nvPr/>
        </p:nvSpPr>
        <p:spPr>
          <a:xfrm>
            <a:off x="274320" y="0"/>
            <a:ext cx="68580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Category 1: Supervised Learning</a:t>
            </a:r>
            <a:endParaRPr sz="1300">
              <a:solidFill>
                <a:schemeClr val="dk1"/>
              </a:solidFill>
              <a:latin typeface="Calibri"/>
              <a:ea typeface="Calibri"/>
              <a:cs typeface="Calibri"/>
              <a:sym typeface="Calibri"/>
            </a:endParaRPr>
          </a:p>
        </p:txBody>
      </p:sp>
      <p:sp>
        <p:nvSpPr>
          <p:cNvPr id="385" name="Google Shape;385;p27"/>
          <p:cNvSpPr/>
          <p:nvPr/>
        </p:nvSpPr>
        <p:spPr>
          <a:xfrm>
            <a:off x="0" y="0"/>
            <a:ext cx="54900" cy="51435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6" name="Google Shape;386;p27"/>
          <p:cNvSpPr/>
          <p:nvPr/>
        </p:nvSpPr>
        <p:spPr>
          <a:xfrm>
            <a:off x="411480" y="582930"/>
            <a:ext cx="54864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800"/>
              <a:buFont typeface="Open Sans"/>
              <a:buNone/>
            </a:pPr>
            <a:r>
              <a:rPr b="1" lang="en-GB" sz="800">
                <a:solidFill>
                  <a:srgbClr val="C8102E"/>
                </a:solidFill>
                <a:latin typeface="Open Sans"/>
                <a:ea typeface="Open Sans"/>
                <a:cs typeface="Open Sans"/>
                <a:sym typeface="Open Sans"/>
              </a:rPr>
              <a:t>X.  THREE CATEGORIES OF ML</a:t>
            </a:r>
            <a:endParaRPr sz="800">
              <a:solidFill>
                <a:schemeClr val="dk1"/>
              </a:solidFill>
              <a:latin typeface="Calibri"/>
              <a:ea typeface="Calibri"/>
              <a:cs typeface="Calibri"/>
              <a:sym typeface="Calibri"/>
            </a:endParaRPr>
          </a:p>
        </p:txBody>
      </p:sp>
      <p:sp>
        <p:nvSpPr>
          <p:cNvPr id="387" name="Google Shape;387;p27"/>
          <p:cNvSpPr/>
          <p:nvPr/>
        </p:nvSpPr>
        <p:spPr>
          <a:xfrm>
            <a:off x="411480" y="857250"/>
            <a:ext cx="891600" cy="274200"/>
          </a:xfrm>
          <a:prstGeom prst="rect">
            <a:avLst/>
          </a:prstGeom>
          <a:solidFill>
            <a:srgbClr val="2C5697"/>
          </a:solidFill>
          <a:ln cap="flat" cmpd="sng" w="9525">
            <a:solidFill>
              <a:srgbClr val="2C5697"/>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8" name="Google Shape;388;p27"/>
          <p:cNvSpPr/>
          <p:nvPr/>
        </p:nvSpPr>
        <p:spPr>
          <a:xfrm>
            <a:off x="411480" y="857250"/>
            <a:ext cx="891600" cy="274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#1</a:t>
            </a:r>
            <a:endParaRPr sz="1300">
              <a:solidFill>
                <a:schemeClr val="dk1"/>
              </a:solidFill>
              <a:latin typeface="Calibri"/>
              <a:ea typeface="Calibri"/>
              <a:cs typeface="Calibri"/>
              <a:sym typeface="Calibri"/>
            </a:endParaRPr>
          </a:p>
        </p:txBody>
      </p:sp>
      <p:sp>
        <p:nvSpPr>
          <p:cNvPr id="389" name="Google Shape;389;p27"/>
          <p:cNvSpPr/>
          <p:nvPr/>
        </p:nvSpPr>
        <p:spPr>
          <a:xfrm>
            <a:off x="1371600" y="788670"/>
            <a:ext cx="7543800" cy="41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2400"/>
              <a:buFont typeface="Open Sans"/>
              <a:buNone/>
            </a:pPr>
            <a:r>
              <a:rPr lang="en-GB" sz="2400">
                <a:solidFill>
                  <a:srgbClr val="1B2A4A"/>
                </a:solidFill>
                <a:latin typeface="Open Sans"/>
                <a:ea typeface="Open Sans"/>
                <a:cs typeface="Open Sans"/>
                <a:sym typeface="Open Sans"/>
              </a:rPr>
              <a:t>Supervised Learning</a:t>
            </a:r>
            <a:endParaRPr sz="2400">
              <a:solidFill>
                <a:schemeClr val="dk1"/>
              </a:solidFill>
              <a:latin typeface="Calibri"/>
              <a:ea typeface="Calibri"/>
              <a:cs typeface="Calibri"/>
              <a:sym typeface="Calibri"/>
            </a:endParaRPr>
          </a:p>
        </p:txBody>
      </p:sp>
      <p:sp>
        <p:nvSpPr>
          <p:cNvPr id="390" name="Google Shape;390;p27"/>
          <p:cNvSpPr/>
          <p:nvPr/>
        </p:nvSpPr>
        <p:spPr>
          <a:xfrm>
            <a:off x="411480" y="1371600"/>
            <a:ext cx="8318700" cy="891600"/>
          </a:xfrm>
          <a:prstGeom prst="rect">
            <a:avLst/>
          </a:prstGeom>
          <a:solidFill>
            <a:srgbClr val="F4F5F7"/>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1" name="Google Shape;391;p27"/>
          <p:cNvSpPr/>
          <p:nvPr/>
        </p:nvSpPr>
        <p:spPr>
          <a:xfrm>
            <a:off x="411480" y="1371600"/>
            <a:ext cx="34200" cy="891600"/>
          </a:xfrm>
          <a:prstGeom prst="rect">
            <a:avLst/>
          </a:prstGeom>
          <a:solidFill>
            <a:srgbClr val="2C5697"/>
          </a:solidFill>
          <a:ln cap="flat" cmpd="sng" w="9525">
            <a:solidFill>
              <a:srgbClr val="2C5697"/>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2" name="Google Shape;392;p27"/>
          <p:cNvSpPr/>
          <p:nvPr/>
        </p:nvSpPr>
        <p:spPr>
          <a:xfrm>
            <a:off x="582930" y="1440180"/>
            <a:ext cx="79554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C5697"/>
              </a:buClr>
              <a:buSzPts val="900"/>
              <a:buFont typeface="Open Sans"/>
              <a:buNone/>
            </a:pPr>
            <a:r>
              <a:rPr b="1" lang="en-GB" sz="900">
                <a:solidFill>
                  <a:srgbClr val="2C5697"/>
                </a:solidFill>
                <a:latin typeface="Open Sans"/>
                <a:ea typeface="Open Sans"/>
                <a:cs typeface="Open Sans"/>
                <a:sym typeface="Open Sans"/>
              </a:rPr>
              <a:t>PLAIN ENGLISH</a:t>
            </a:r>
            <a:endParaRPr sz="900">
              <a:solidFill>
                <a:schemeClr val="dk1"/>
              </a:solidFill>
              <a:latin typeface="Calibri"/>
              <a:ea typeface="Calibri"/>
              <a:cs typeface="Calibri"/>
              <a:sym typeface="Calibri"/>
            </a:endParaRPr>
          </a:p>
        </p:txBody>
      </p:sp>
      <p:sp>
        <p:nvSpPr>
          <p:cNvPr id="393" name="Google Shape;393;p27"/>
          <p:cNvSpPr/>
          <p:nvPr/>
        </p:nvSpPr>
        <p:spPr>
          <a:xfrm>
            <a:off x="582930" y="1645920"/>
            <a:ext cx="7955400" cy="58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B2A4A"/>
              </a:buClr>
              <a:buSzPts val="1300"/>
              <a:buFont typeface="Open Sans"/>
              <a:buNone/>
            </a:pPr>
            <a:r>
              <a:rPr i="1" lang="en-GB" sz="1300">
                <a:solidFill>
                  <a:srgbClr val="1B2A4A"/>
                </a:solidFill>
                <a:latin typeface="Open Sans"/>
                <a:ea typeface="Open Sans"/>
                <a:cs typeface="Open Sans"/>
                <a:sym typeface="Open Sans"/>
              </a:rPr>
              <a:t>You give the model input data and the correct answers. It learns patterns to predict answers for new, unseen data.</a:t>
            </a:r>
            <a:endParaRPr sz="1300">
              <a:solidFill>
                <a:schemeClr val="dk1"/>
              </a:solidFill>
              <a:latin typeface="Calibri"/>
              <a:ea typeface="Calibri"/>
              <a:cs typeface="Calibri"/>
              <a:sym typeface="Calibri"/>
            </a:endParaRPr>
          </a:p>
        </p:txBody>
      </p:sp>
      <p:sp>
        <p:nvSpPr>
          <p:cNvPr id="394" name="Google Shape;394;p27"/>
          <p:cNvSpPr/>
          <p:nvPr/>
        </p:nvSpPr>
        <p:spPr>
          <a:xfrm>
            <a:off x="411475" y="2468877"/>
            <a:ext cx="3737700" cy="34200"/>
          </a:xfrm>
          <a:prstGeom prst="rect">
            <a:avLst/>
          </a:prstGeom>
          <a:solidFill>
            <a:srgbClr val="2C5697"/>
          </a:solidFill>
          <a:ln cap="flat" cmpd="sng" w="9525">
            <a:solidFill>
              <a:srgbClr val="2C5697"/>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5" name="Google Shape;395;p27"/>
          <p:cNvSpPr/>
          <p:nvPr/>
        </p:nvSpPr>
        <p:spPr>
          <a:xfrm>
            <a:off x="411475" y="2503175"/>
            <a:ext cx="3737700" cy="22290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6" name="Google Shape;396;p27"/>
          <p:cNvSpPr/>
          <p:nvPr/>
        </p:nvSpPr>
        <p:spPr>
          <a:xfrm>
            <a:off x="582930" y="2606040"/>
            <a:ext cx="37377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C5697"/>
              </a:buClr>
              <a:buSzPts val="900"/>
              <a:buFont typeface="Open Sans"/>
              <a:buNone/>
            </a:pPr>
            <a:r>
              <a:rPr b="1" lang="en-GB" sz="900">
                <a:solidFill>
                  <a:srgbClr val="2C5697"/>
                </a:solidFill>
                <a:latin typeface="Open Sans"/>
                <a:ea typeface="Open Sans"/>
                <a:cs typeface="Open Sans"/>
                <a:sym typeface="Open Sans"/>
              </a:rPr>
              <a:t>REAL-WORLD ANALOGY</a:t>
            </a:r>
            <a:endParaRPr sz="900">
              <a:solidFill>
                <a:schemeClr val="dk1"/>
              </a:solidFill>
              <a:latin typeface="Calibri"/>
              <a:ea typeface="Calibri"/>
              <a:cs typeface="Calibri"/>
              <a:sym typeface="Calibri"/>
            </a:endParaRPr>
          </a:p>
        </p:txBody>
      </p:sp>
      <p:sp>
        <p:nvSpPr>
          <p:cNvPr id="397" name="Google Shape;397;p27"/>
          <p:cNvSpPr/>
          <p:nvPr/>
        </p:nvSpPr>
        <p:spPr>
          <a:xfrm>
            <a:off x="582925" y="2914650"/>
            <a:ext cx="3496200" cy="168030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A student studying past exam papers with answer keys. After practicing lots of questions, they learn the patterns and can solve brand-new questions on their own.</a:t>
            </a:r>
            <a:endParaRPr sz="1300">
              <a:solidFill>
                <a:schemeClr val="dk1"/>
              </a:solidFill>
              <a:latin typeface="Calibri"/>
              <a:ea typeface="Calibri"/>
              <a:cs typeface="Calibri"/>
              <a:sym typeface="Calibri"/>
            </a:endParaRPr>
          </a:p>
        </p:txBody>
      </p:sp>
      <p:sp>
        <p:nvSpPr>
          <p:cNvPr id="398" name="Google Shape;398;p27"/>
          <p:cNvSpPr/>
          <p:nvPr/>
        </p:nvSpPr>
        <p:spPr>
          <a:xfrm>
            <a:off x="4400550" y="2468875"/>
            <a:ext cx="4329600" cy="34200"/>
          </a:xfrm>
          <a:prstGeom prst="rect">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9" name="Google Shape;399;p27"/>
          <p:cNvSpPr/>
          <p:nvPr/>
        </p:nvSpPr>
        <p:spPr>
          <a:xfrm>
            <a:off x="4400550" y="2503175"/>
            <a:ext cx="4329600" cy="22290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0" name="Google Shape;400;p27"/>
          <p:cNvSpPr/>
          <p:nvPr/>
        </p:nvSpPr>
        <p:spPr>
          <a:xfrm>
            <a:off x="4572000" y="2606040"/>
            <a:ext cx="37377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900"/>
              <a:buFont typeface="Open Sans"/>
              <a:buNone/>
            </a:pPr>
            <a:r>
              <a:rPr b="1" lang="en-GB" sz="900">
                <a:solidFill>
                  <a:srgbClr val="1B2A4A"/>
                </a:solidFill>
                <a:latin typeface="Open Sans"/>
                <a:ea typeface="Open Sans"/>
                <a:cs typeface="Open Sans"/>
                <a:sym typeface="Open Sans"/>
              </a:rPr>
              <a:t>BUSINESS USE CASES</a:t>
            </a:r>
            <a:endParaRPr sz="900">
              <a:solidFill>
                <a:schemeClr val="dk1"/>
              </a:solidFill>
              <a:latin typeface="Calibri"/>
              <a:ea typeface="Calibri"/>
              <a:cs typeface="Calibri"/>
              <a:sym typeface="Calibri"/>
            </a:endParaRPr>
          </a:p>
        </p:txBody>
      </p:sp>
      <p:sp>
        <p:nvSpPr>
          <p:cNvPr id="401" name="Google Shape;401;p27"/>
          <p:cNvSpPr/>
          <p:nvPr/>
        </p:nvSpPr>
        <p:spPr>
          <a:xfrm>
            <a:off x="4572000" y="2914650"/>
            <a:ext cx="4158300" cy="1817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Customer churn prediction</a:t>
            </a:r>
            <a:endParaRPr sz="1300">
              <a:solidFill>
                <a:schemeClr val="dk1"/>
              </a:solidFill>
              <a:latin typeface="Calibri"/>
              <a:ea typeface="Calibri"/>
              <a:cs typeface="Calibri"/>
              <a:sym typeface="Calibri"/>
            </a:endParaRPr>
          </a:p>
          <a:p>
            <a:pPr indent="0" lvl="0" marL="0" marR="0" rtl="0" algn="l">
              <a:spcBef>
                <a:spcPts val="50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Fraud detection</a:t>
            </a:r>
            <a:endParaRPr sz="1300">
              <a:solidFill>
                <a:schemeClr val="dk1"/>
              </a:solidFill>
              <a:latin typeface="Calibri"/>
              <a:ea typeface="Calibri"/>
              <a:cs typeface="Calibri"/>
              <a:sym typeface="Calibri"/>
            </a:endParaRPr>
          </a:p>
          <a:p>
            <a:pPr indent="0" lvl="0" marL="0" marR="0" rtl="0" algn="l">
              <a:spcBef>
                <a:spcPts val="50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Demand forecasting</a:t>
            </a:r>
            <a:endParaRPr sz="1300">
              <a:solidFill>
                <a:schemeClr val="dk1"/>
              </a:solidFill>
              <a:latin typeface="Calibri"/>
              <a:ea typeface="Calibri"/>
              <a:cs typeface="Calibri"/>
              <a:sym typeface="Calibri"/>
            </a:endParaRPr>
          </a:p>
          <a:p>
            <a:pPr indent="0" lvl="0" marL="0" marR="0" rtl="0" algn="l">
              <a:spcBef>
                <a:spcPts val="50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Sentiment and text classification</a:t>
            </a:r>
            <a:endParaRPr sz="1300">
              <a:solidFill>
                <a:schemeClr val="dk1"/>
              </a:solidFill>
              <a:latin typeface="Calibri"/>
              <a:ea typeface="Calibri"/>
              <a:cs typeface="Calibri"/>
              <a:sym typeface="Calibri"/>
            </a:endParaRPr>
          </a:p>
          <a:p>
            <a:pPr indent="0" lvl="0" marL="0" marR="0" rtl="0" algn="l">
              <a:spcBef>
                <a:spcPts val="50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xml:space="preserve">•  Medical risk </a:t>
            </a:r>
            <a:r>
              <a:rPr lang="en-GB" sz="1300">
                <a:solidFill>
                  <a:srgbClr val="333D4D"/>
                </a:solidFill>
                <a:latin typeface="Open Sans"/>
                <a:ea typeface="Open Sans"/>
                <a:cs typeface="Open Sans"/>
                <a:sym typeface="Open Sans"/>
              </a:rPr>
              <a:t>assessment</a:t>
            </a:r>
            <a:endParaRPr sz="1300">
              <a:solidFill>
                <a:schemeClr val="dk1"/>
              </a:solidFill>
              <a:latin typeface="Calibri"/>
              <a:ea typeface="Calibri"/>
              <a:cs typeface="Calibri"/>
              <a:sym typeface="Calibri"/>
            </a:endParaRPr>
          </a:p>
          <a:p>
            <a:pPr indent="0" lvl="0" marL="0" marR="0" rtl="0" algn="l">
              <a:spcBef>
                <a:spcPts val="50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xml:space="preserve">•  Image labelling </a:t>
            </a:r>
            <a:r>
              <a:rPr lang="en-GB" sz="1300">
                <a:solidFill>
                  <a:srgbClr val="333D4D"/>
                </a:solidFill>
                <a:latin typeface="Open Sans"/>
                <a:ea typeface="Open Sans"/>
                <a:cs typeface="Open Sans"/>
                <a:sym typeface="Open Sans"/>
              </a:rPr>
              <a:t>(e.g. telling cats apart from dogs)</a:t>
            </a:r>
            <a:endParaRPr sz="13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6" name="Shape 406"/>
        <p:cNvGrpSpPr/>
        <p:nvPr/>
      </p:nvGrpSpPr>
      <p:grpSpPr>
        <a:xfrm>
          <a:off x="0" y="0"/>
          <a:ext cx="0" cy="0"/>
          <a:chOff x="0" y="0"/>
          <a:chExt cx="0" cy="0"/>
        </a:xfrm>
      </p:grpSpPr>
      <p:sp>
        <p:nvSpPr>
          <p:cNvPr id="407" name="Google Shape;407;p28"/>
          <p:cNvSpPr/>
          <p:nvPr/>
        </p:nvSpPr>
        <p:spPr>
          <a:xfrm>
            <a:off x="0" y="0"/>
            <a:ext cx="9143700" cy="377100"/>
          </a:xfrm>
          <a:prstGeom prst="rect">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8" name="Google Shape;408;p28"/>
          <p:cNvSpPr/>
          <p:nvPr/>
        </p:nvSpPr>
        <p:spPr>
          <a:xfrm>
            <a:off x="274320" y="0"/>
            <a:ext cx="68580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Category 2: Unsupervised Learning</a:t>
            </a:r>
            <a:endParaRPr sz="1300">
              <a:solidFill>
                <a:schemeClr val="dk1"/>
              </a:solidFill>
              <a:latin typeface="Calibri"/>
              <a:ea typeface="Calibri"/>
              <a:cs typeface="Calibri"/>
              <a:sym typeface="Calibri"/>
            </a:endParaRPr>
          </a:p>
        </p:txBody>
      </p:sp>
      <p:sp>
        <p:nvSpPr>
          <p:cNvPr id="409" name="Google Shape;409;p28"/>
          <p:cNvSpPr/>
          <p:nvPr/>
        </p:nvSpPr>
        <p:spPr>
          <a:xfrm>
            <a:off x="0" y="0"/>
            <a:ext cx="54900" cy="51435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0" name="Google Shape;410;p28"/>
          <p:cNvSpPr/>
          <p:nvPr/>
        </p:nvSpPr>
        <p:spPr>
          <a:xfrm>
            <a:off x="411480" y="582930"/>
            <a:ext cx="54864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800"/>
              <a:buFont typeface="Open Sans"/>
              <a:buNone/>
            </a:pPr>
            <a:r>
              <a:rPr b="1" lang="en-GB" sz="800">
                <a:solidFill>
                  <a:srgbClr val="C8102E"/>
                </a:solidFill>
                <a:latin typeface="Open Sans"/>
                <a:ea typeface="Open Sans"/>
                <a:cs typeface="Open Sans"/>
                <a:sym typeface="Open Sans"/>
              </a:rPr>
              <a:t>XI.  THREE CATEGORIES OF ML</a:t>
            </a:r>
            <a:endParaRPr sz="800">
              <a:solidFill>
                <a:schemeClr val="dk1"/>
              </a:solidFill>
              <a:latin typeface="Calibri"/>
              <a:ea typeface="Calibri"/>
              <a:cs typeface="Calibri"/>
              <a:sym typeface="Calibri"/>
            </a:endParaRPr>
          </a:p>
        </p:txBody>
      </p:sp>
      <p:sp>
        <p:nvSpPr>
          <p:cNvPr id="411" name="Google Shape;411;p28"/>
          <p:cNvSpPr/>
          <p:nvPr/>
        </p:nvSpPr>
        <p:spPr>
          <a:xfrm>
            <a:off x="411480" y="857250"/>
            <a:ext cx="891600" cy="274200"/>
          </a:xfrm>
          <a:prstGeom prst="rect">
            <a:avLst/>
          </a:prstGeom>
          <a:solidFill>
            <a:srgbClr val="6B4C9A"/>
          </a:solidFill>
          <a:ln cap="flat" cmpd="sng" w="9525">
            <a:solidFill>
              <a:srgbClr val="6B4C9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2" name="Google Shape;412;p28"/>
          <p:cNvSpPr/>
          <p:nvPr/>
        </p:nvSpPr>
        <p:spPr>
          <a:xfrm>
            <a:off x="411480" y="857250"/>
            <a:ext cx="891600" cy="274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#2</a:t>
            </a:r>
            <a:endParaRPr sz="1300">
              <a:solidFill>
                <a:schemeClr val="dk1"/>
              </a:solidFill>
              <a:latin typeface="Calibri"/>
              <a:ea typeface="Calibri"/>
              <a:cs typeface="Calibri"/>
              <a:sym typeface="Calibri"/>
            </a:endParaRPr>
          </a:p>
        </p:txBody>
      </p:sp>
      <p:sp>
        <p:nvSpPr>
          <p:cNvPr id="413" name="Google Shape;413;p28"/>
          <p:cNvSpPr/>
          <p:nvPr/>
        </p:nvSpPr>
        <p:spPr>
          <a:xfrm>
            <a:off x="1371600" y="788670"/>
            <a:ext cx="7543800" cy="41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2400"/>
              <a:buFont typeface="Open Sans"/>
              <a:buNone/>
            </a:pPr>
            <a:r>
              <a:rPr lang="en-GB" sz="2400">
                <a:solidFill>
                  <a:srgbClr val="1B2A4A"/>
                </a:solidFill>
                <a:latin typeface="Open Sans"/>
                <a:ea typeface="Open Sans"/>
                <a:cs typeface="Open Sans"/>
                <a:sym typeface="Open Sans"/>
              </a:rPr>
              <a:t>Unsupervised Learning</a:t>
            </a:r>
            <a:endParaRPr sz="2400">
              <a:solidFill>
                <a:schemeClr val="dk1"/>
              </a:solidFill>
              <a:latin typeface="Calibri"/>
              <a:ea typeface="Calibri"/>
              <a:cs typeface="Calibri"/>
              <a:sym typeface="Calibri"/>
            </a:endParaRPr>
          </a:p>
        </p:txBody>
      </p:sp>
      <p:sp>
        <p:nvSpPr>
          <p:cNvPr id="414" name="Google Shape;414;p28"/>
          <p:cNvSpPr/>
          <p:nvPr/>
        </p:nvSpPr>
        <p:spPr>
          <a:xfrm>
            <a:off x="411480" y="1371600"/>
            <a:ext cx="8318700" cy="891600"/>
          </a:xfrm>
          <a:prstGeom prst="rect">
            <a:avLst/>
          </a:prstGeom>
          <a:solidFill>
            <a:srgbClr val="F4F5F7"/>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5" name="Google Shape;415;p28"/>
          <p:cNvSpPr/>
          <p:nvPr/>
        </p:nvSpPr>
        <p:spPr>
          <a:xfrm>
            <a:off x="411480" y="1371600"/>
            <a:ext cx="34200" cy="891600"/>
          </a:xfrm>
          <a:prstGeom prst="rect">
            <a:avLst/>
          </a:prstGeom>
          <a:solidFill>
            <a:srgbClr val="6B4C9A"/>
          </a:solidFill>
          <a:ln cap="flat" cmpd="sng" w="9525">
            <a:solidFill>
              <a:srgbClr val="6B4C9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6" name="Google Shape;416;p28"/>
          <p:cNvSpPr/>
          <p:nvPr/>
        </p:nvSpPr>
        <p:spPr>
          <a:xfrm>
            <a:off x="582930" y="1440180"/>
            <a:ext cx="79554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4C9A"/>
              </a:buClr>
              <a:buSzPts val="900"/>
              <a:buFont typeface="Open Sans"/>
              <a:buNone/>
            </a:pPr>
            <a:r>
              <a:rPr b="1" lang="en-GB" sz="900">
                <a:solidFill>
                  <a:srgbClr val="6B4C9A"/>
                </a:solidFill>
                <a:latin typeface="Open Sans"/>
                <a:ea typeface="Open Sans"/>
                <a:cs typeface="Open Sans"/>
                <a:sym typeface="Open Sans"/>
              </a:rPr>
              <a:t>PLAIN ENGLISH</a:t>
            </a:r>
            <a:endParaRPr sz="900">
              <a:solidFill>
                <a:schemeClr val="dk1"/>
              </a:solidFill>
              <a:latin typeface="Calibri"/>
              <a:ea typeface="Calibri"/>
              <a:cs typeface="Calibri"/>
              <a:sym typeface="Calibri"/>
            </a:endParaRPr>
          </a:p>
        </p:txBody>
      </p:sp>
      <p:sp>
        <p:nvSpPr>
          <p:cNvPr id="417" name="Google Shape;417;p28"/>
          <p:cNvSpPr/>
          <p:nvPr/>
        </p:nvSpPr>
        <p:spPr>
          <a:xfrm>
            <a:off x="582930" y="1645920"/>
            <a:ext cx="7955400" cy="58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B2A4A"/>
              </a:buClr>
              <a:buSzPts val="1300"/>
              <a:buFont typeface="Open Sans"/>
              <a:buNone/>
            </a:pPr>
            <a:r>
              <a:rPr i="1" lang="en-GB" sz="1300">
                <a:solidFill>
                  <a:srgbClr val="1B2A4A"/>
                </a:solidFill>
                <a:latin typeface="Open Sans"/>
                <a:ea typeface="Open Sans"/>
                <a:cs typeface="Open Sans"/>
                <a:sym typeface="Open Sans"/>
              </a:rPr>
              <a:t xml:space="preserve">You </a:t>
            </a:r>
            <a:r>
              <a:rPr i="1" lang="en-GB" sz="1300">
                <a:solidFill>
                  <a:srgbClr val="1B2A4A"/>
                </a:solidFill>
                <a:latin typeface="Open Sans"/>
                <a:ea typeface="Open Sans"/>
                <a:cs typeface="Open Sans"/>
                <a:sym typeface="Open Sans"/>
              </a:rPr>
              <a:t>only give the model raw input data — no correct answers at all. The model finds hidden groups, patterns or unusual data points on its own.</a:t>
            </a:r>
            <a:endParaRPr sz="1300">
              <a:solidFill>
                <a:schemeClr val="dk1"/>
              </a:solidFill>
              <a:latin typeface="Calibri"/>
              <a:ea typeface="Calibri"/>
              <a:cs typeface="Calibri"/>
              <a:sym typeface="Calibri"/>
            </a:endParaRPr>
          </a:p>
        </p:txBody>
      </p:sp>
      <p:sp>
        <p:nvSpPr>
          <p:cNvPr id="418" name="Google Shape;418;p28"/>
          <p:cNvSpPr/>
          <p:nvPr/>
        </p:nvSpPr>
        <p:spPr>
          <a:xfrm>
            <a:off x="411480" y="2468880"/>
            <a:ext cx="4080600" cy="34200"/>
          </a:xfrm>
          <a:prstGeom prst="rect">
            <a:avLst/>
          </a:prstGeom>
          <a:solidFill>
            <a:srgbClr val="6B4C9A"/>
          </a:solidFill>
          <a:ln cap="flat" cmpd="sng" w="9525">
            <a:solidFill>
              <a:srgbClr val="6B4C9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9" name="Google Shape;419;p28"/>
          <p:cNvSpPr/>
          <p:nvPr/>
        </p:nvSpPr>
        <p:spPr>
          <a:xfrm>
            <a:off x="411475" y="2503175"/>
            <a:ext cx="4080600" cy="20919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0" name="Google Shape;420;p28"/>
          <p:cNvSpPr/>
          <p:nvPr/>
        </p:nvSpPr>
        <p:spPr>
          <a:xfrm>
            <a:off x="582930" y="2606040"/>
            <a:ext cx="37377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4C9A"/>
              </a:buClr>
              <a:buSzPts val="900"/>
              <a:buFont typeface="Open Sans"/>
              <a:buNone/>
            </a:pPr>
            <a:r>
              <a:rPr b="1" lang="en-GB" sz="900">
                <a:solidFill>
                  <a:srgbClr val="6B4C9A"/>
                </a:solidFill>
                <a:latin typeface="Open Sans"/>
                <a:ea typeface="Open Sans"/>
                <a:cs typeface="Open Sans"/>
                <a:sym typeface="Open Sans"/>
              </a:rPr>
              <a:t>REAL-WORLD ANALOGY</a:t>
            </a:r>
            <a:endParaRPr sz="900">
              <a:solidFill>
                <a:schemeClr val="dk1"/>
              </a:solidFill>
              <a:latin typeface="Calibri"/>
              <a:ea typeface="Calibri"/>
              <a:cs typeface="Calibri"/>
              <a:sym typeface="Calibri"/>
            </a:endParaRPr>
          </a:p>
        </p:txBody>
      </p:sp>
      <p:sp>
        <p:nvSpPr>
          <p:cNvPr id="421" name="Google Shape;421;p28"/>
          <p:cNvSpPr/>
          <p:nvPr/>
        </p:nvSpPr>
        <p:spPr>
          <a:xfrm>
            <a:off x="582930" y="2914650"/>
            <a:ext cx="3737700" cy="168030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A librarian sorting a box of unmarked books. They group similar books together (romance, mystery, etc.) without anyone telling them the official genres.</a:t>
            </a:r>
            <a:endParaRPr sz="1300">
              <a:solidFill>
                <a:schemeClr val="dk1"/>
              </a:solidFill>
              <a:latin typeface="Calibri"/>
              <a:ea typeface="Calibri"/>
              <a:cs typeface="Calibri"/>
              <a:sym typeface="Calibri"/>
            </a:endParaRPr>
          </a:p>
        </p:txBody>
      </p:sp>
      <p:sp>
        <p:nvSpPr>
          <p:cNvPr id="422" name="Google Shape;422;p28"/>
          <p:cNvSpPr/>
          <p:nvPr/>
        </p:nvSpPr>
        <p:spPr>
          <a:xfrm>
            <a:off x="4629150" y="2468880"/>
            <a:ext cx="4080600" cy="34200"/>
          </a:xfrm>
          <a:prstGeom prst="rect">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3" name="Google Shape;423;p28"/>
          <p:cNvSpPr/>
          <p:nvPr/>
        </p:nvSpPr>
        <p:spPr>
          <a:xfrm>
            <a:off x="4629150" y="2503170"/>
            <a:ext cx="4080600" cy="22290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4" name="Google Shape;424;p28"/>
          <p:cNvSpPr/>
          <p:nvPr/>
        </p:nvSpPr>
        <p:spPr>
          <a:xfrm>
            <a:off x="4800600" y="2606040"/>
            <a:ext cx="37377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900"/>
              <a:buFont typeface="Open Sans"/>
              <a:buNone/>
            </a:pPr>
            <a:r>
              <a:rPr b="1" lang="en-GB" sz="900">
                <a:solidFill>
                  <a:srgbClr val="1B2A4A"/>
                </a:solidFill>
                <a:latin typeface="Open Sans"/>
                <a:ea typeface="Open Sans"/>
                <a:cs typeface="Open Sans"/>
                <a:sym typeface="Open Sans"/>
              </a:rPr>
              <a:t>BUSINESS USE CASES</a:t>
            </a:r>
            <a:endParaRPr sz="900">
              <a:solidFill>
                <a:schemeClr val="dk1"/>
              </a:solidFill>
              <a:latin typeface="Calibri"/>
              <a:ea typeface="Calibri"/>
              <a:cs typeface="Calibri"/>
              <a:sym typeface="Calibri"/>
            </a:endParaRPr>
          </a:p>
        </p:txBody>
      </p:sp>
      <p:sp>
        <p:nvSpPr>
          <p:cNvPr id="425" name="Google Shape;425;p28"/>
          <p:cNvSpPr/>
          <p:nvPr/>
        </p:nvSpPr>
        <p:spPr>
          <a:xfrm>
            <a:off x="4800598" y="2889323"/>
            <a:ext cx="3737700" cy="1576800"/>
          </a:xfrm>
          <a:prstGeom prst="rect">
            <a:avLst/>
          </a:prstGeom>
          <a:noFill/>
          <a:ln>
            <a:noFill/>
          </a:ln>
        </p:spPr>
        <p:txBody>
          <a:bodyPr anchorCtr="0" anchor="t" bIns="34275" lIns="68575" spcFirstLastPara="1" rIns="68575" wrap="square" tIns="34275">
            <a:noAutofit/>
          </a:bodyPr>
          <a:lstStyle/>
          <a:p>
            <a:pPr indent="-180000" lvl="0" marL="180000" marR="0" rtl="0" algn="l">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Grouping customer into segments</a:t>
            </a:r>
            <a:endParaRPr sz="1300">
              <a:solidFill>
                <a:schemeClr val="dk1"/>
              </a:solidFill>
              <a:latin typeface="Calibri"/>
              <a:ea typeface="Calibri"/>
              <a:cs typeface="Calibri"/>
              <a:sym typeface="Calibri"/>
            </a:endParaRPr>
          </a:p>
          <a:p>
            <a:pPr indent="-180000" lvl="0" marL="180000" marR="0" rtl="0" algn="l">
              <a:spcBef>
                <a:spcPts val="50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Anomaly detection in system logs</a:t>
            </a:r>
            <a:endParaRPr sz="1300">
              <a:solidFill>
                <a:schemeClr val="dk1"/>
              </a:solidFill>
              <a:latin typeface="Calibri"/>
              <a:ea typeface="Calibri"/>
              <a:cs typeface="Calibri"/>
              <a:sym typeface="Calibri"/>
            </a:endParaRPr>
          </a:p>
          <a:p>
            <a:pPr indent="-180000" lvl="0" marL="180000" marR="0" rtl="0" algn="l">
              <a:spcBef>
                <a:spcPts val="50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Topic discovery in reviews or support tickets</a:t>
            </a:r>
            <a:endParaRPr sz="1300">
              <a:solidFill>
                <a:schemeClr val="dk1"/>
              </a:solidFill>
              <a:latin typeface="Calibri"/>
              <a:ea typeface="Calibri"/>
              <a:cs typeface="Calibri"/>
              <a:sym typeface="Calibri"/>
            </a:endParaRPr>
          </a:p>
          <a:p>
            <a:pPr indent="-180000" lvl="0" marL="180000" marR="0" rtl="0" algn="l">
              <a:spcBef>
                <a:spcPts val="50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Building recommendation groups</a:t>
            </a:r>
            <a:endParaRPr sz="1300">
              <a:solidFill>
                <a:schemeClr val="dk1"/>
              </a:solidFill>
              <a:latin typeface="Calibri"/>
              <a:ea typeface="Calibri"/>
              <a:cs typeface="Calibri"/>
              <a:sym typeface="Calibri"/>
            </a:endParaRPr>
          </a:p>
          <a:p>
            <a:pPr indent="-180000" lvl="0" marL="180000" marR="0" rtl="0" algn="l">
              <a:spcBef>
                <a:spcPts val="50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xml:space="preserve">•	</a:t>
            </a:r>
            <a:r>
              <a:rPr lang="en-GB" sz="1300">
                <a:solidFill>
                  <a:srgbClr val="333D4D"/>
                </a:solidFill>
                <a:latin typeface="Open Sans"/>
                <a:ea typeface="Open Sans"/>
                <a:cs typeface="Open Sans"/>
                <a:sym typeface="Open Sans"/>
              </a:rPr>
              <a:t>Preparing data for supervised learning models later on</a:t>
            </a:r>
            <a:endParaRPr sz="13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0" name="Shape 430"/>
        <p:cNvGrpSpPr/>
        <p:nvPr/>
      </p:nvGrpSpPr>
      <p:grpSpPr>
        <a:xfrm>
          <a:off x="0" y="0"/>
          <a:ext cx="0" cy="0"/>
          <a:chOff x="0" y="0"/>
          <a:chExt cx="0" cy="0"/>
        </a:xfrm>
      </p:grpSpPr>
      <p:sp>
        <p:nvSpPr>
          <p:cNvPr id="431" name="Google Shape;431;p29"/>
          <p:cNvSpPr/>
          <p:nvPr/>
        </p:nvSpPr>
        <p:spPr>
          <a:xfrm>
            <a:off x="0" y="0"/>
            <a:ext cx="9143700" cy="377100"/>
          </a:xfrm>
          <a:prstGeom prst="rect">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2" name="Google Shape;432;p29"/>
          <p:cNvSpPr/>
          <p:nvPr/>
        </p:nvSpPr>
        <p:spPr>
          <a:xfrm>
            <a:off x="274320" y="0"/>
            <a:ext cx="68580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Category 3: Reinforcement Learning</a:t>
            </a:r>
            <a:endParaRPr sz="1300">
              <a:solidFill>
                <a:schemeClr val="dk1"/>
              </a:solidFill>
              <a:latin typeface="Calibri"/>
              <a:ea typeface="Calibri"/>
              <a:cs typeface="Calibri"/>
              <a:sym typeface="Calibri"/>
            </a:endParaRPr>
          </a:p>
        </p:txBody>
      </p:sp>
      <p:sp>
        <p:nvSpPr>
          <p:cNvPr id="433" name="Google Shape;433;p29"/>
          <p:cNvSpPr/>
          <p:nvPr/>
        </p:nvSpPr>
        <p:spPr>
          <a:xfrm>
            <a:off x="0" y="0"/>
            <a:ext cx="54900" cy="51435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4" name="Google Shape;434;p29"/>
          <p:cNvSpPr/>
          <p:nvPr/>
        </p:nvSpPr>
        <p:spPr>
          <a:xfrm>
            <a:off x="411480" y="582930"/>
            <a:ext cx="54864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800"/>
              <a:buFont typeface="Open Sans"/>
              <a:buNone/>
            </a:pPr>
            <a:r>
              <a:rPr b="1" lang="en-GB" sz="800">
                <a:solidFill>
                  <a:srgbClr val="C8102E"/>
                </a:solidFill>
                <a:latin typeface="Open Sans"/>
                <a:ea typeface="Open Sans"/>
                <a:cs typeface="Open Sans"/>
                <a:sym typeface="Open Sans"/>
              </a:rPr>
              <a:t>XII.  THREE CATEGORIES OF ML</a:t>
            </a:r>
            <a:endParaRPr sz="800">
              <a:solidFill>
                <a:schemeClr val="dk1"/>
              </a:solidFill>
              <a:latin typeface="Calibri"/>
              <a:ea typeface="Calibri"/>
              <a:cs typeface="Calibri"/>
              <a:sym typeface="Calibri"/>
            </a:endParaRPr>
          </a:p>
        </p:txBody>
      </p:sp>
      <p:sp>
        <p:nvSpPr>
          <p:cNvPr id="435" name="Google Shape;435;p29"/>
          <p:cNvSpPr/>
          <p:nvPr/>
        </p:nvSpPr>
        <p:spPr>
          <a:xfrm>
            <a:off x="411480" y="857250"/>
            <a:ext cx="891600" cy="274200"/>
          </a:xfrm>
          <a:prstGeom prst="rect">
            <a:avLst/>
          </a:prstGeom>
          <a:solidFill>
            <a:srgbClr val="C2410C"/>
          </a:solidFill>
          <a:ln cap="flat" cmpd="sng" w="9525">
            <a:solidFill>
              <a:srgbClr val="C2410C"/>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6" name="Google Shape;436;p29"/>
          <p:cNvSpPr/>
          <p:nvPr/>
        </p:nvSpPr>
        <p:spPr>
          <a:xfrm>
            <a:off x="411480" y="857250"/>
            <a:ext cx="891600" cy="274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#3</a:t>
            </a:r>
            <a:endParaRPr sz="1300">
              <a:solidFill>
                <a:schemeClr val="dk1"/>
              </a:solidFill>
              <a:latin typeface="Calibri"/>
              <a:ea typeface="Calibri"/>
              <a:cs typeface="Calibri"/>
              <a:sym typeface="Calibri"/>
            </a:endParaRPr>
          </a:p>
        </p:txBody>
      </p:sp>
      <p:sp>
        <p:nvSpPr>
          <p:cNvPr id="437" name="Google Shape;437;p29"/>
          <p:cNvSpPr/>
          <p:nvPr/>
        </p:nvSpPr>
        <p:spPr>
          <a:xfrm>
            <a:off x="1371600" y="788670"/>
            <a:ext cx="7543800" cy="41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2400"/>
              <a:buFont typeface="Open Sans"/>
              <a:buNone/>
            </a:pPr>
            <a:r>
              <a:rPr lang="en-GB" sz="2400">
                <a:solidFill>
                  <a:srgbClr val="1B2A4A"/>
                </a:solidFill>
                <a:latin typeface="Open Sans"/>
                <a:ea typeface="Open Sans"/>
                <a:cs typeface="Open Sans"/>
                <a:sym typeface="Open Sans"/>
              </a:rPr>
              <a:t>Reinforcement Learning</a:t>
            </a:r>
            <a:endParaRPr sz="2400">
              <a:solidFill>
                <a:schemeClr val="dk1"/>
              </a:solidFill>
              <a:latin typeface="Calibri"/>
              <a:ea typeface="Calibri"/>
              <a:cs typeface="Calibri"/>
              <a:sym typeface="Calibri"/>
            </a:endParaRPr>
          </a:p>
        </p:txBody>
      </p:sp>
      <p:sp>
        <p:nvSpPr>
          <p:cNvPr id="438" name="Google Shape;438;p29"/>
          <p:cNvSpPr/>
          <p:nvPr/>
        </p:nvSpPr>
        <p:spPr>
          <a:xfrm>
            <a:off x="411480" y="1371600"/>
            <a:ext cx="8318700" cy="891600"/>
          </a:xfrm>
          <a:prstGeom prst="rect">
            <a:avLst/>
          </a:prstGeom>
          <a:solidFill>
            <a:srgbClr val="F4F5F7"/>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9" name="Google Shape;439;p29"/>
          <p:cNvSpPr/>
          <p:nvPr/>
        </p:nvSpPr>
        <p:spPr>
          <a:xfrm>
            <a:off x="411480" y="1371600"/>
            <a:ext cx="34200" cy="891600"/>
          </a:xfrm>
          <a:prstGeom prst="rect">
            <a:avLst/>
          </a:prstGeom>
          <a:solidFill>
            <a:srgbClr val="C2410C"/>
          </a:solidFill>
          <a:ln cap="flat" cmpd="sng" w="9525">
            <a:solidFill>
              <a:srgbClr val="C2410C"/>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0" name="Google Shape;440;p29"/>
          <p:cNvSpPr/>
          <p:nvPr/>
        </p:nvSpPr>
        <p:spPr>
          <a:xfrm>
            <a:off x="582930" y="1440180"/>
            <a:ext cx="79554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2410C"/>
              </a:buClr>
              <a:buSzPts val="900"/>
              <a:buFont typeface="Open Sans"/>
              <a:buNone/>
            </a:pPr>
            <a:r>
              <a:rPr b="1" lang="en-GB" sz="900">
                <a:solidFill>
                  <a:srgbClr val="C2410C"/>
                </a:solidFill>
                <a:latin typeface="Open Sans"/>
                <a:ea typeface="Open Sans"/>
                <a:cs typeface="Open Sans"/>
                <a:sym typeface="Open Sans"/>
              </a:rPr>
              <a:t>PLAIN ENGLISH</a:t>
            </a:r>
            <a:endParaRPr sz="900">
              <a:solidFill>
                <a:schemeClr val="dk1"/>
              </a:solidFill>
              <a:latin typeface="Calibri"/>
              <a:ea typeface="Calibri"/>
              <a:cs typeface="Calibri"/>
              <a:sym typeface="Calibri"/>
            </a:endParaRPr>
          </a:p>
        </p:txBody>
      </p:sp>
      <p:sp>
        <p:nvSpPr>
          <p:cNvPr id="441" name="Google Shape;441;p29"/>
          <p:cNvSpPr/>
          <p:nvPr/>
        </p:nvSpPr>
        <p:spPr>
          <a:xfrm>
            <a:off x="582930" y="1645920"/>
            <a:ext cx="7955400" cy="58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B2A4A"/>
              </a:buClr>
              <a:buSzPts val="1300"/>
              <a:buFont typeface="Open Sans"/>
              <a:buNone/>
            </a:pPr>
            <a:r>
              <a:rPr i="1" lang="en-GB" sz="1300">
                <a:solidFill>
                  <a:srgbClr val="1B2A4A"/>
                </a:solidFill>
                <a:latin typeface="Open Sans"/>
                <a:ea typeface="Open Sans"/>
                <a:cs typeface="Open Sans"/>
                <a:sym typeface="Open Sans"/>
              </a:rPr>
              <a:t>An AI agent acts within an environment. It gets rewards for good actions and penalties for bad ones. Over time, it learns the best way to act through trial and error.</a:t>
            </a:r>
            <a:endParaRPr sz="1300">
              <a:solidFill>
                <a:schemeClr val="dk1"/>
              </a:solidFill>
              <a:latin typeface="Calibri"/>
              <a:ea typeface="Calibri"/>
              <a:cs typeface="Calibri"/>
              <a:sym typeface="Calibri"/>
            </a:endParaRPr>
          </a:p>
        </p:txBody>
      </p:sp>
      <p:grpSp>
        <p:nvGrpSpPr>
          <p:cNvPr id="442" name="Google Shape;442;p29"/>
          <p:cNvGrpSpPr/>
          <p:nvPr/>
        </p:nvGrpSpPr>
        <p:grpSpPr>
          <a:xfrm>
            <a:off x="411480" y="2468880"/>
            <a:ext cx="4080600" cy="2263290"/>
            <a:chOff x="411480" y="2468880"/>
            <a:chExt cx="4080600" cy="2263290"/>
          </a:xfrm>
        </p:grpSpPr>
        <p:sp>
          <p:nvSpPr>
            <p:cNvPr id="443" name="Google Shape;443;p29"/>
            <p:cNvSpPr/>
            <p:nvPr/>
          </p:nvSpPr>
          <p:spPr>
            <a:xfrm>
              <a:off x="411480" y="2468880"/>
              <a:ext cx="4080600" cy="34200"/>
            </a:xfrm>
            <a:prstGeom prst="rect">
              <a:avLst/>
            </a:prstGeom>
            <a:solidFill>
              <a:srgbClr val="C2410C"/>
            </a:solidFill>
            <a:ln cap="flat" cmpd="sng" w="9525">
              <a:solidFill>
                <a:srgbClr val="C2410C"/>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4" name="Google Shape;444;p29"/>
            <p:cNvSpPr/>
            <p:nvPr/>
          </p:nvSpPr>
          <p:spPr>
            <a:xfrm>
              <a:off x="411480" y="2503170"/>
              <a:ext cx="4080600" cy="22290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5" name="Google Shape;445;p29"/>
            <p:cNvSpPr/>
            <p:nvPr/>
          </p:nvSpPr>
          <p:spPr>
            <a:xfrm>
              <a:off x="582930" y="2606040"/>
              <a:ext cx="37377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2410C"/>
                </a:buClr>
                <a:buSzPts val="900"/>
                <a:buFont typeface="Open Sans"/>
                <a:buNone/>
              </a:pPr>
              <a:r>
                <a:rPr b="1" lang="en-GB" sz="900">
                  <a:solidFill>
                    <a:srgbClr val="C2410C"/>
                  </a:solidFill>
                  <a:latin typeface="Open Sans"/>
                  <a:ea typeface="Open Sans"/>
                  <a:cs typeface="Open Sans"/>
                  <a:sym typeface="Open Sans"/>
                </a:rPr>
                <a:t>REAL-WORLD ANALOGY</a:t>
              </a:r>
              <a:endParaRPr sz="900">
                <a:solidFill>
                  <a:schemeClr val="dk1"/>
                </a:solidFill>
                <a:latin typeface="Calibri"/>
                <a:ea typeface="Calibri"/>
                <a:cs typeface="Calibri"/>
                <a:sym typeface="Calibri"/>
              </a:endParaRPr>
            </a:p>
          </p:txBody>
        </p:sp>
        <p:sp>
          <p:nvSpPr>
            <p:cNvPr id="446" name="Google Shape;446;p29"/>
            <p:cNvSpPr/>
            <p:nvPr/>
          </p:nvSpPr>
          <p:spPr>
            <a:xfrm>
              <a:off x="582930" y="2914650"/>
              <a:ext cx="3737700" cy="168030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Training a dog with treats. Sit correctly→ treat. Bark at the mailman → no treat. Over time the dog learns which actions pay off.</a:t>
              </a:r>
              <a:endParaRPr sz="1300">
                <a:solidFill>
                  <a:schemeClr val="dk1"/>
                </a:solidFill>
                <a:latin typeface="Calibri"/>
                <a:ea typeface="Calibri"/>
                <a:cs typeface="Calibri"/>
                <a:sym typeface="Calibri"/>
              </a:endParaRPr>
            </a:p>
          </p:txBody>
        </p:sp>
      </p:grpSp>
      <p:sp>
        <p:nvSpPr>
          <p:cNvPr id="447" name="Google Shape;447;p29"/>
          <p:cNvSpPr/>
          <p:nvPr/>
        </p:nvSpPr>
        <p:spPr>
          <a:xfrm>
            <a:off x="4629150" y="2468880"/>
            <a:ext cx="4080600" cy="34200"/>
          </a:xfrm>
          <a:prstGeom prst="rect">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8" name="Google Shape;448;p29"/>
          <p:cNvSpPr/>
          <p:nvPr/>
        </p:nvSpPr>
        <p:spPr>
          <a:xfrm>
            <a:off x="4629150" y="2503170"/>
            <a:ext cx="4080600" cy="22290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9" name="Google Shape;449;p29"/>
          <p:cNvSpPr/>
          <p:nvPr/>
        </p:nvSpPr>
        <p:spPr>
          <a:xfrm>
            <a:off x="4800600" y="2606040"/>
            <a:ext cx="37377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900"/>
              <a:buFont typeface="Open Sans"/>
              <a:buNone/>
            </a:pPr>
            <a:r>
              <a:rPr b="1" lang="en-GB" sz="900">
                <a:solidFill>
                  <a:srgbClr val="1B2A4A"/>
                </a:solidFill>
                <a:latin typeface="Open Sans"/>
                <a:ea typeface="Open Sans"/>
                <a:cs typeface="Open Sans"/>
                <a:sym typeface="Open Sans"/>
              </a:rPr>
              <a:t>BUSINESS USE CASES</a:t>
            </a:r>
            <a:endParaRPr sz="900">
              <a:solidFill>
                <a:schemeClr val="dk1"/>
              </a:solidFill>
              <a:latin typeface="Calibri"/>
              <a:ea typeface="Calibri"/>
              <a:cs typeface="Calibri"/>
              <a:sym typeface="Calibri"/>
            </a:endParaRPr>
          </a:p>
        </p:txBody>
      </p:sp>
      <p:sp>
        <p:nvSpPr>
          <p:cNvPr id="450" name="Google Shape;450;p29"/>
          <p:cNvSpPr/>
          <p:nvPr/>
        </p:nvSpPr>
        <p:spPr>
          <a:xfrm>
            <a:off x="4800600" y="2914650"/>
            <a:ext cx="3737700" cy="168030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AlphaGo, chess-playing AIs</a:t>
            </a:r>
            <a:endParaRPr sz="1300">
              <a:solidFill>
                <a:schemeClr val="dk1"/>
              </a:solidFill>
              <a:latin typeface="Calibri"/>
              <a:ea typeface="Calibri"/>
              <a:cs typeface="Calibri"/>
              <a:sym typeface="Calibri"/>
            </a:endParaRPr>
          </a:p>
          <a:p>
            <a:pPr indent="0" lvl="0" marL="0" marR="0" rtl="0" algn="l">
              <a:lnSpc>
                <a:spcPct val="115000"/>
              </a:lnSpc>
              <a:spcBef>
                <a:spcPts val="50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Robot control (warehouse pick-and-pack)</a:t>
            </a:r>
            <a:endParaRPr sz="1300">
              <a:solidFill>
                <a:schemeClr val="dk1"/>
              </a:solidFill>
              <a:latin typeface="Calibri"/>
              <a:ea typeface="Calibri"/>
              <a:cs typeface="Calibri"/>
              <a:sym typeface="Calibri"/>
            </a:endParaRPr>
          </a:p>
          <a:p>
            <a:pPr indent="0" lvl="0" marL="0" marR="0" rtl="0" algn="l">
              <a:lnSpc>
                <a:spcPct val="115000"/>
              </a:lnSpc>
              <a:spcBef>
                <a:spcPts val="50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Large recommendation systems</a:t>
            </a:r>
            <a:endParaRPr sz="1300">
              <a:solidFill>
                <a:schemeClr val="dk1"/>
              </a:solidFill>
              <a:latin typeface="Calibri"/>
              <a:ea typeface="Calibri"/>
              <a:cs typeface="Calibri"/>
              <a:sym typeface="Calibri"/>
            </a:endParaRPr>
          </a:p>
          <a:p>
            <a:pPr indent="0" lvl="0" marL="0" marR="0" rtl="0" algn="l">
              <a:lnSpc>
                <a:spcPct val="115000"/>
              </a:lnSpc>
              <a:spcBef>
                <a:spcPts val="500"/>
              </a:spcBef>
              <a:spcAft>
                <a:spcPts val="0"/>
              </a:spcAft>
              <a:buClr>
                <a:srgbClr val="333D4D"/>
              </a:buClr>
              <a:buSzPts val="1300"/>
              <a:buFont typeface="Open Sans"/>
              <a:buNone/>
            </a:pPr>
            <a:r>
              <a:rPr lang="en-GB" sz="1300">
                <a:solidFill>
                  <a:srgbClr val="333D4D"/>
                </a:solidFill>
                <a:latin typeface="Open Sans"/>
                <a:ea typeface="Open Sans"/>
                <a:cs typeface="Open Sans"/>
                <a:sym typeface="Open Sans"/>
              </a:rPr>
              <a:t>•  RLHF training for modern LLMs</a:t>
            </a:r>
            <a:endParaRPr sz="13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8" name="Shape 478"/>
        <p:cNvGrpSpPr/>
        <p:nvPr/>
      </p:nvGrpSpPr>
      <p:grpSpPr>
        <a:xfrm>
          <a:off x="0" y="0"/>
          <a:ext cx="0" cy="0"/>
          <a:chOff x="0" y="0"/>
          <a:chExt cx="0" cy="0"/>
        </a:xfrm>
      </p:grpSpPr>
      <p:sp>
        <p:nvSpPr>
          <p:cNvPr id="479" name="Google Shape;479;p31"/>
          <p:cNvSpPr/>
          <p:nvPr/>
        </p:nvSpPr>
        <p:spPr>
          <a:xfrm>
            <a:off x="0" y="0"/>
            <a:ext cx="9143700" cy="377100"/>
          </a:xfrm>
          <a:prstGeom prst="rect">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0" name="Google Shape;480;p31"/>
          <p:cNvSpPr/>
          <p:nvPr/>
        </p:nvSpPr>
        <p:spPr>
          <a:xfrm>
            <a:off x="274320" y="0"/>
            <a:ext cx="68580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The 7-Step ML Workflow</a:t>
            </a:r>
            <a:endParaRPr sz="1300">
              <a:solidFill>
                <a:schemeClr val="dk1"/>
              </a:solidFill>
              <a:latin typeface="Calibri"/>
              <a:ea typeface="Calibri"/>
              <a:cs typeface="Calibri"/>
              <a:sym typeface="Calibri"/>
            </a:endParaRPr>
          </a:p>
        </p:txBody>
      </p:sp>
      <p:sp>
        <p:nvSpPr>
          <p:cNvPr id="481" name="Google Shape;481;p31"/>
          <p:cNvSpPr/>
          <p:nvPr/>
        </p:nvSpPr>
        <p:spPr>
          <a:xfrm>
            <a:off x="0" y="0"/>
            <a:ext cx="54900" cy="51435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2" name="Google Shape;482;p31"/>
          <p:cNvSpPr/>
          <p:nvPr/>
        </p:nvSpPr>
        <p:spPr>
          <a:xfrm>
            <a:off x="411480" y="582930"/>
            <a:ext cx="54864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800"/>
              <a:buFont typeface="Open Sans"/>
              <a:buNone/>
            </a:pPr>
            <a:r>
              <a:rPr b="1" lang="en-GB" sz="800">
                <a:solidFill>
                  <a:srgbClr val="C8102E"/>
                </a:solidFill>
                <a:latin typeface="Open Sans"/>
                <a:ea typeface="Open Sans"/>
                <a:cs typeface="Open Sans"/>
                <a:sym typeface="Open Sans"/>
              </a:rPr>
              <a:t>XIII.  THE MAP EVERY REAL PROJECT FOLLOWS</a:t>
            </a:r>
            <a:endParaRPr sz="800">
              <a:solidFill>
                <a:schemeClr val="dk1"/>
              </a:solidFill>
              <a:latin typeface="Calibri"/>
              <a:ea typeface="Calibri"/>
              <a:cs typeface="Calibri"/>
              <a:sym typeface="Calibri"/>
            </a:endParaRPr>
          </a:p>
        </p:txBody>
      </p:sp>
      <p:sp>
        <p:nvSpPr>
          <p:cNvPr id="483" name="Google Shape;483;p31"/>
          <p:cNvSpPr/>
          <p:nvPr/>
        </p:nvSpPr>
        <p:spPr>
          <a:xfrm>
            <a:off x="411480" y="822960"/>
            <a:ext cx="8229600" cy="548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B2A4A"/>
              </a:buClr>
              <a:buSzPts val="2100"/>
              <a:buFont typeface="Open Sans"/>
              <a:buNone/>
            </a:pPr>
            <a:r>
              <a:rPr lang="en-GB" sz="2100">
                <a:solidFill>
                  <a:srgbClr val="1B2A4A"/>
                </a:solidFill>
                <a:latin typeface="Open Sans"/>
                <a:ea typeface="Open Sans"/>
                <a:cs typeface="Open Sans"/>
                <a:sym typeface="Open Sans"/>
              </a:rPr>
              <a:t>Seven steps. In order. Every time.</a:t>
            </a:r>
            <a:endParaRPr sz="2100">
              <a:solidFill>
                <a:schemeClr val="dk1"/>
              </a:solidFill>
              <a:latin typeface="Calibri"/>
              <a:ea typeface="Calibri"/>
              <a:cs typeface="Calibri"/>
              <a:sym typeface="Calibri"/>
            </a:endParaRPr>
          </a:p>
        </p:txBody>
      </p:sp>
      <p:sp>
        <p:nvSpPr>
          <p:cNvPr id="484" name="Google Shape;484;p31"/>
          <p:cNvSpPr/>
          <p:nvPr/>
        </p:nvSpPr>
        <p:spPr>
          <a:xfrm>
            <a:off x="411480" y="1714500"/>
            <a:ext cx="1153200" cy="411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5" name="Google Shape;485;p31"/>
          <p:cNvSpPr/>
          <p:nvPr/>
        </p:nvSpPr>
        <p:spPr>
          <a:xfrm>
            <a:off x="411480" y="1755648"/>
            <a:ext cx="1153200" cy="27021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6" name="Google Shape;486;p31"/>
          <p:cNvSpPr/>
          <p:nvPr/>
        </p:nvSpPr>
        <p:spPr>
          <a:xfrm>
            <a:off x="514350" y="1851660"/>
            <a:ext cx="94740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4100"/>
              <a:buFont typeface="Open Sans"/>
              <a:buNone/>
            </a:pPr>
            <a:r>
              <a:rPr lang="en-GB" sz="4100">
                <a:solidFill>
                  <a:srgbClr val="C8102E"/>
                </a:solidFill>
                <a:latin typeface="Open Sans"/>
                <a:ea typeface="Open Sans"/>
                <a:cs typeface="Open Sans"/>
                <a:sym typeface="Open Sans"/>
              </a:rPr>
              <a:t>1</a:t>
            </a:r>
            <a:endParaRPr sz="4100">
              <a:solidFill>
                <a:schemeClr val="dk1"/>
              </a:solidFill>
              <a:latin typeface="Calibri"/>
              <a:ea typeface="Calibri"/>
              <a:cs typeface="Calibri"/>
              <a:sym typeface="Calibri"/>
            </a:endParaRPr>
          </a:p>
        </p:txBody>
      </p:sp>
      <p:sp>
        <p:nvSpPr>
          <p:cNvPr id="487" name="Google Shape;487;p31"/>
          <p:cNvSpPr/>
          <p:nvPr/>
        </p:nvSpPr>
        <p:spPr>
          <a:xfrm>
            <a:off x="514350" y="2537460"/>
            <a:ext cx="9474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400"/>
              <a:buFont typeface="Open Sans"/>
              <a:buNone/>
            </a:pPr>
            <a:r>
              <a:rPr b="1" lang="en-GB" sz="1400">
                <a:solidFill>
                  <a:srgbClr val="1B2A4A"/>
                </a:solidFill>
                <a:latin typeface="Open Sans"/>
                <a:ea typeface="Open Sans"/>
                <a:cs typeface="Open Sans"/>
                <a:sym typeface="Open Sans"/>
              </a:rPr>
              <a:t>Frame</a:t>
            </a:r>
            <a:endParaRPr sz="1400">
              <a:solidFill>
                <a:schemeClr val="dk1"/>
              </a:solidFill>
              <a:latin typeface="Calibri"/>
              <a:ea typeface="Calibri"/>
              <a:cs typeface="Calibri"/>
              <a:sym typeface="Calibri"/>
            </a:endParaRPr>
          </a:p>
        </p:txBody>
      </p:sp>
      <p:sp>
        <p:nvSpPr>
          <p:cNvPr id="488" name="Google Shape;488;p31"/>
          <p:cNvSpPr/>
          <p:nvPr/>
        </p:nvSpPr>
        <p:spPr>
          <a:xfrm>
            <a:off x="514350" y="2880360"/>
            <a:ext cx="947400" cy="1509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333D4D"/>
              </a:buClr>
              <a:buSzPts val="1000"/>
              <a:buFont typeface="Open Sans"/>
              <a:buNone/>
            </a:pPr>
            <a:r>
              <a:rPr lang="en-GB" sz="1000">
                <a:solidFill>
                  <a:srgbClr val="333D4D"/>
                </a:solidFill>
                <a:latin typeface="Open Sans"/>
                <a:ea typeface="Open Sans"/>
                <a:cs typeface="Open Sans"/>
                <a:sym typeface="Open Sans"/>
              </a:rPr>
              <a:t>Question · success metric · who acts</a:t>
            </a:r>
            <a:endParaRPr sz="1000">
              <a:solidFill>
                <a:schemeClr val="dk1"/>
              </a:solidFill>
              <a:latin typeface="Calibri"/>
              <a:ea typeface="Calibri"/>
              <a:cs typeface="Calibri"/>
              <a:sym typeface="Calibri"/>
            </a:endParaRPr>
          </a:p>
        </p:txBody>
      </p:sp>
      <p:sp>
        <p:nvSpPr>
          <p:cNvPr id="489" name="Google Shape;489;p31"/>
          <p:cNvSpPr/>
          <p:nvPr/>
        </p:nvSpPr>
        <p:spPr>
          <a:xfrm>
            <a:off x="1605752" y="1714500"/>
            <a:ext cx="1153200" cy="411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0" name="Google Shape;490;p31"/>
          <p:cNvSpPr/>
          <p:nvPr/>
        </p:nvSpPr>
        <p:spPr>
          <a:xfrm>
            <a:off x="1605752" y="1755648"/>
            <a:ext cx="1153200" cy="27021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1" name="Google Shape;491;p31"/>
          <p:cNvSpPr/>
          <p:nvPr/>
        </p:nvSpPr>
        <p:spPr>
          <a:xfrm>
            <a:off x="1708622" y="1851660"/>
            <a:ext cx="94740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4100"/>
              <a:buFont typeface="Open Sans"/>
              <a:buNone/>
            </a:pPr>
            <a:r>
              <a:rPr lang="en-GB" sz="4100">
                <a:solidFill>
                  <a:srgbClr val="C8102E"/>
                </a:solidFill>
                <a:latin typeface="Open Sans"/>
                <a:ea typeface="Open Sans"/>
                <a:cs typeface="Open Sans"/>
                <a:sym typeface="Open Sans"/>
              </a:rPr>
              <a:t>2</a:t>
            </a:r>
            <a:endParaRPr sz="4100">
              <a:solidFill>
                <a:schemeClr val="dk1"/>
              </a:solidFill>
              <a:latin typeface="Calibri"/>
              <a:ea typeface="Calibri"/>
              <a:cs typeface="Calibri"/>
              <a:sym typeface="Calibri"/>
            </a:endParaRPr>
          </a:p>
        </p:txBody>
      </p:sp>
      <p:sp>
        <p:nvSpPr>
          <p:cNvPr id="492" name="Google Shape;492;p31"/>
          <p:cNvSpPr/>
          <p:nvPr/>
        </p:nvSpPr>
        <p:spPr>
          <a:xfrm>
            <a:off x="1708622" y="2537460"/>
            <a:ext cx="9474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400"/>
              <a:buFont typeface="Open Sans"/>
              <a:buNone/>
            </a:pPr>
            <a:r>
              <a:rPr b="1" lang="en-GB" sz="1400">
                <a:solidFill>
                  <a:srgbClr val="1B2A4A"/>
                </a:solidFill>
                <a:latin typeface="Open Sans"/>
                <a:ea typeface="Open Sans"/>
                <a:cs typeface="Open Sans"/>
                <a:sym typeface="Open Sans"/>
              </a:rPr>
              <a:t>Collect</a:t>
            </a:r>
            <a:endParaRPr sz="1400">
              <a:solidFill>
                <a:schemeClr val="dk1"/>
              </a:solidFill>
              <a:latin typeface="Calibri"/>
              <a:ea typeface="Calibri"/>
              <a:cs typeface="Calibri"/>
              <a:sym typeface="Calibri"/>
            </a:endParaRPr>
          </a:p>
        </p:txBody>
      </p:sp>
      <p:sp>
        <p:nvSpPr>
          <p:cNvPr id="493" name="Google Shape;493;p31"/>
          <p:cNvSpPr/>
          <p:nvPr/>
        </p:nvSpPr>
        <p:spPr>
          <a:xfrm>
            <a:off x="1708622" y="2880360"/>
            <a:ext cx="947400" cy="1509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333D4D"/>
              </a:buClr>
              <a:buSzPts val="1000"/>
              <a:buFont typeface="Open Sans"/>
              <a:buNone/>
            </a:pPr>
            <a:r>
              <a:rPr lang="en-GB" sz="1000">
                <a:solidFill>
                  <a:srgbClr val="333D4D"/>
                </a:solidFill>
                <a:latin typeface="Open Sans"/>
                <a:ea typeface="Open Sans"/>
                <a:cs typeface="Open Sans"/>
                <a:sym typeface="Open Sans"/>
              </a:rPr>
              <a:t>Where does the data live?</a:t>
            </a:r>
            <a:endParaRPr sz="1000">
              <a:solidFill>
                <a:schemeClr val="dk1"/>
              </a:solidFill>
              <a:latin typeface="Calibri"/>
              <a:ea typeface="Calibri"/>
              <a:cs typeface="Calibri"/>
              <a:sym typeface="Calibri"/>
            </a:endParaRPr>
          </a:p>
        </p:txBody>
      </p:sp>
      <p:sp>
        <p:nvSpPr>
          <p:cNvPr id="494" name="Google Shape;494;p31"/>
          <p:cNvSpPr/>
          <p:nvPr/>
        </p:nvSpPr>
        <p:spPr>
          <a:xfrm>
            <a:off x="2800024" y="1714500"/>
            <a:ext cx="1153200" cy="411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5" name="Google Shape;495;p31"/>
          <p:cNvSpPr/>
          <p:nvPr/>
        </p:nvSpPr>
        <p:spPr>
          <a:xfrm>
            <a:off x="2800024" y="1755648"/>
            <a:ext cx="1153200" cy="27021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6" name="Google Shape;496;p31"/>
          <p:cNvSpPr/>
          <p:nvPr/>
        </p:nvSpPr>
        <p:spPr>
          <a:xfrm>
            <a:off x="2902894" y="1851660"/>
            <a:ext cx="94740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4100"/>
              <a:buFont typeface="Open Sans"/>
              <a:buNone/>
            </a:pPr>
            <a:r>
              <a:rPr lang="en-GB" sz="4100">
                <a:solidFill>
                  <a:srgbClr val="C8102E"/>
                </a:solidFill>
                <a:latin typeface="Open Sans"/>
                <a:ea typeface="Open Sans"/>
                <a:cs typeface="Open Sans"/>
                <a:sym typeface="Open Sans"/>
              </a:rPr>
              <a:t>3</a:t>
            </a:r>
            <a:endParaRPr sz="4100">
              <a:solidFill>
                <a:schemeClr val="dk1"/>
              </a:solidFill>
              <a:latin typeface="Calibri"/>
              <a:ea typeface="Calibri"/>
              <a:cs typeface="Calibri"/>
              <a:sym typeface="Calibri"/>
            </a:endParaRPr>
          </a:p>
        </p:txBody>
      </p:sp>
      <p:sp>
        <p:nvSpPr>
          <p:cNvPr id="497" name="Google Shape;497;p31"/>
          <p:cNvSpPr/>
          <p:nvPr/>
        </p:nvSpPr>
        <p:spPr>
          <a:xfrm>
            <a:off x="2902894" y="2537460"/>
            <a:ext cx="9474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400"/>
              <a:buFont typeface="Open Sans"/>
              <a:buNone/>
            </a:pPr>
            <a:r>
              <a:rPr b="1" lang="en-GB" sz="1400">
                <a:solidFill>
                  <a:srgbClr val="1B2A4A"/>
                </a:solidFill>
                <a:latin typeface="Open Sans"/>
                <a:ea typeface="Open Sans"/>
                <a:cs typeface="Open Sans"/>
                <a:sym typeface="Open Sans"/>
              </a:rPr>
              <a:t>Clean</a:t>
            </a:r>
            <a:endParaRPr sz="1400">
              <a:solidFill>
                <a:schemeClr val="dk1"/>
              </a:solidFill>
              <a:latin typeface="Calibri"/>
              <a:ea typeface="Calibri"/>
              <a:cs typeface="Calibri"/>
              <a:sym typeface="Calibri"/>
            </a:endParaRPr>
          </a:p>
        </p:txBody>
      </p:sp>
      <p:sp>
        <p:nvSpPr>
          <p:cNvPr id="498" name="Google Shape;498;p31"/>
          <p:cNvSpPr/>
          <p:nvPr/>
        </p:nvSpPr>
        <p:spPr>
          <a:xfrm>
            <a:off x="2902894" y="2880360"/>
            <a:ext cx="947400" cy="1509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333D4D"/>
              </a:buClr>
              <a:buSzPts val="1000"/>
              <a:buFont typeface="Open Sans"/>
              <a:buNone/>
            </a:pPr>
            <a:r>
              <a:rPr lang="en-GB" sz="1000">
                <a:solidFill>
                  <a:srgbClr val="333D4D"/>
                </a:solidFill>
                <a:latin typeface="Open Sans"/>
                <a:ea typeface="Open Sans"/>
                <a:cs typeface="Open Sans"/>
                <a:sym typeface="Open Sans"/>
              </a:rPr>
              <a:t>Missing · duplicates · bias</a:t>
            </a:r>
            <a:endParaRPr sz="1000">
              <a:solidFill>
                <a:schemeClr val="dk1"/>
              </a:solidFill>
              <a:latin typeface="Calibri"/>
              <a:ea typeface="Calibri"/>
              <a:cs typeface="Calibri"/>
              <a:sym typeface="Calibri"/>
            </a:endParaRPr>
          </a:p>
        </p:txBody>
      </p:sp>
      <p:sp>
        <p:nvSpPr>
          <p:cNvPr id="499" name="Google Shape;499;p31"/>
          <p:cNvSpPr/>
          <p:nvPr/>
        </p:nvSpPr>
        <p:spPr>
          <a:xfrm>
            <a:off x="3994295" y="1714500"/>
            <a:ext cx="1153200" cy="41100"/>
          </a:xfrm>
          <a:prstGeom prst="rect">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0" name="Google Shape;500;p31"/>
          <p:cNvSpPr/>
          <p:nvPr/>
        </p:nvSpPr>
        <p:spPr>
          <a:xfrm>
            <a:off x="3994295" y="1755648"/>
            <a:ext cx="1153200" cy="27021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1" name="Google Shape;501;p31"/>
          <p:cNvSpPr/>
          <p:nvPr/>
        </p:nvSpPr>
        <p:spPr>
          <a:xfrm>
            <a:off x="4097165" y="1851660"/>
            <a:ext cx="94740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4100"/>
              <a:buFont typeface="Open Sans"/>
              <a:buNone/>
            </a:pPr>
            <a:r>
              <a:rPr lang="en-GB" sz="4100">
                <a:solidFill>
                  <a:srgbClr val="1B2A4A"/>
                </a:solidFill>
                <a:latin typeface="Open Sans"/>
                <a:ea typeface="Open Sans"/>
                <a:cs typeface="Open Sans"/>
                <a:sym typeface="Open Sans"/>
              </a:rPr>
              <a:t>4</a:t>
            </a:r>
            <a:endParaRPr sz="4100">
              <a:solidFill>
                <a:schemeClr val="dk1"/>
              </a:solidFill>
              <a:latin typeface="Calibri"/>
              <a:ea typeface="Calibri"/>
              <a:cs typeface="Calibri"/>
              <a:sym typeface="Calibri"/>
            </a:endParaRPr>
          </a:p>
        </p:txBody>
      </p:sp>
      <p:sp>
        <p:nvSpPr>
          <p:cNvPr id="502" name="Google Shape;502;p31"/>
          <p:cNvSpPr/>
          <p:nvPr/>
        </p:nvSpPr>
        <p:spPr>
          <a:xfrm>
            <a:off x="4097165" y="2537460"/>
            <a:ext cx="9474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400"/>
              <a:buFont typeface="Open Sans"/>
              <a:buNone/>
            </a:pPr>
            <a:r>
              <a:rPr b="1" lang="en-GB" sz="1400">
                <a:solidFill>
                  <a:srgbClr val="1B2A4A"/>
                </a:solidFill>
                <a:latin typeface="Open Sans"/>
                <a:ea typeface="Open Sans"/>
                <a:cs typeface="Open Sans"/>
                <a:sym typeface="Open Sans"/>
              </a:rPr>
              <a:t>Train</a:t>
            </a:r>
            <a:endParaRPr sz="1400">
              <a:solidFill>
                <a:schemeClr val="dk1"/>
              </a:solidFill>
              <a:latin typeface="Calibri"/>
              <a:ea typeface="Calibri"/>
              <a:cs typeface="Calibri"/>
              <a:sym typeface="Calibri"/>
            </a:endParaRPr>
          </a:p>
        </p:txBody>
      </p:sp>
      <p:sp>
        <p:nvSpPr>
          <p:cNvPr id="503" name="Google Shape;503;p31"/>
          <p:cNvSpPr/>
          <p:nvPr/>
        </p:nvSpPr>
        <p:spPr>
          <a:xfrm>
            <a:off x="4097165" y="2880360"/>
            <a:ext cx="947400" cy="1509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333D4D"/>
              </a:buClr>
              <a:buSzPts val="1000"/>
              <a:buFont typeface="Open Sans"/>
              <a:buNone/>
            </a:pPr>
            <a:r>
              <a:rPr lang="en-GB" sz="1000">
                <a:solidFill>
                  <a:srgbClr val="333D4D"/>
                </a:solidFill>
                <a:latin typeface="Open Sans"/>
                <a:ea typeface="Open Sans"/>
                <a:cs typeface="Open Sans"/>
                <a:sym typeface="Open Sans"/>
              </a:rPr>
              <a:t>Fit or reuse a model</a:t>
            </a:r>
            <a:endParaRPr sz="1000">
              <a:solidFill>
                <a:schemeClr val="dk1"/>
              </a:solidFill>
              <a:latin typeface="Calibri"/>
              <a:ea typeface="Calibri"/>
              <a:cs typeface="Calibri"/>
              <a:sym typeface="Calibri"/>
            </a:endParaRPr>
          </a:p>
        </p:txBody>
      </p:sp>
      <p:sp>
        <p:nvSpPr>
          <p:cNvPr id="504" name="Google Shape;504;p31"/>
          <p:cNvSpPr/>
          <p:nvPr/>
        </p:nvSpPr>
        <p:spPr>
          <a:xfrm>
            <a:off x="5188567" y="1714500"/>
            <a:ext cx="1153200" cy="41100"/>
          </a:xfrm>
          <a:prstGeom prst="rect">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5" name="Google Shape;505;p31"/>
          <p:cNvSpPr/>
          <p:nvPr/>
        </p:nvSpPr>
        <p:spPr>
          <a:xfrm>
            <a:off x="5188567" y="1755648"/>
            <a:ext cx="1153200" cy="27021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6" name="Google Shape;506;p31"/>
          <p:cNvSpPr/>
          <p:nvPr/>
        </p:nvSpPr>
        <p:spPr>
          <a:xfrm>
            <a:off x="5291437" y="1851660"/>
            <a:ext cx="94740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4100"/>
              <a:buFont typeface="Open Sans"/>
              <a:buNone/>
            </a:pPr>
            <a:r>
              <a:rPr lang="en-GB" sz="4100">
                <a:solidFill>
                  <a:srgbClr val="1B2A4A"/>
                </a:solidFill>
                <a:latin typeface="Open Sans"/>
                <a:ea typeface="Open Sans"/>
                <a:cs typeface="Open Sans"/>
                <a:sym typeface="Open Sans"/>
              </a:rPr>
              <a:t>5</a:t>
            </a:r>
            <a:endParaRPr sz="4100">
              <a:solidFill>
                <a:schemeClr val="dk1"/>
              </a:solidFill>
              <a:latin typeface="Calibri"/>
              <a:ea typeface="Calibri"/>
              <a:cs typeface="Calibri"/>
              <a:sym typeface="Calibri"/>
            </a:endParaRPr>
          </a:p>
        </p:txBody>
      </p:sp>
      <p:sp>
        <p:nvSpPr>
          <p:cNvPr id="507" name="Google Shape;507;p31"/>
          <p:cNvSpPr/>
          <p:nvPr/>
        </p:nvSpPr>
        <p:spPr>
          <a:xfrm>
            <a:off x="5291437" y="2537460"/>
            <a:ext cx="9474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400"/>
              <a:buFont typeface="Open Sans"/>
              <a:buNone/>
            </a:pPr>
            <a:r>
              <a:rPr b="1" lang="en-GB" sz="1400">
                <a:solidFill>
                  <a:srgbClr val="1B2A4A"/>
                </a:solidFill>
                <a:latin typeface="Open Sans"/>
                <a:ea typeface="Open Sans"/>
                <a:cs typeface="Open Sans"/>
                <a:sym typeface="Open Sans"/>
              </a:rPr>
              <a:t>Evaluate</a:t>
            </a:r>
            <a:endParaRPr sz="1400">
              <a:solidFill>
                <a:schemeClr val="dk1"/>
              </a:solidFill>
              <a:latin typeface="Calibri"/>
              <a:ea typeface="Calibri"/>
              <a:cs typeface="Calibri"/>
              <a:sym typeface="Calibri"/>
            </a:endParaRPr>
          </a:p>
        </p:txBody>
      </p:sp>
      <p:sp>
        <p:nvSpPr>
          <p:cNvPr id="508" name="Google Shape;508;p31"/>
          <p:cNvSpPr/>
          <p:nvPr/>
        </p:nvSpPr>
        <p:spPr>
          <a:xfrm>
            <a:off x="5291437" y="2880360"/>
            <a:ext cx="947400" cy="1509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333D4D"/>
              </a:buClr>
              <a:buSzPts val="1000"/>
              <a:buFont typeface="Open Sans"/>
              <a:buNone/>
            </a:pPr>
            <a:r>
              <a:rPr lang="en-GB" sz="1000">
                <a:solidFill>
                  <a:srgbClr val="333D4D"/>
                </a:solidFill>
                <a:latin typeface="Open Sans"/>
                <a:ea typeface="Open Sans"/>
                <a:cs typeface="Open Sans"/>
                <a:sym typeface="Open Sans"/>
              </a:rPr>
              <a:t>Hold-out test · where wrong</a:t>
            </a:r>
            <a:endParaRPr sz="1000">
              <a:solidFill>
                <a:schemeClr val="dk1"/>
              </a:solidFill>
              <a:latin typeface="Calibri"/>
              <a:ea typeface="Calibri"/>
              <a:cs typeface="Calibri"/>
              <a:sym typeface="Calibri"/>
            </a:endParaRPr>
          </a:p>
        </p:txBody>
      </p:sp>
      <p:sp>
        <p:nvSpPr>
          <p:cNvPr id="509" name="Google Shape;509;p31"/>
          <p:cNvSpPr/>
          <p:nvPr/>
        </p:nvSpPr>
        <p:spPr>
          <a:xfrm>
            <a:off x="6382838" y="1714500"/>
            <a:ext cx="1153200" cy="41100"/>
          </a:xfrm>
          <a:prstGeom prst="rect">
            <a:avLst/>
          </a:prstGeom>
          <a:solidFill>
            <a:srgbClr val="2C5697"/>
          </a:solidFill>
          <a:ln cap="flat" cmpd="sng" w="9525">
            <a:solidFill>
              <a:srgbClr val="2C5697"/>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0" name="Google Shape;510;p31"/>
          <p:cNvSpPr/>
          <p:nvPr/>
        </p:nvSpPr>
        <p:spPr>
          <a:xfrm>
            <a:off x="6382838" y="1755648"/>
            <a:ext cx="1153200" cy="27021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1" name="Google Shape;511;p31"/>
          <p:cNvSpPr/>
          <p:nvPr/>
        </p:nvSpPr>
        <p:spPr>
          <a:xfrm>
            <a:off x="6485708" y="1851660"/>
            <a:ext cx="94740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C5697"/>
              </a:buClr>
              <a:buSzPts val="4100"/>
              <a:buFont typeface="Open Sans"/>
              <a:buNone/>
            </a:pPr>
            <a:r>
              <a:rPr lang="en-GB" sz="4100">
                <a:solidFill>
                  <a:srgbClr val="2C5697"/>
                </a:solidFill>
                <a:latin typeface="Open Sans"/>
                <a:ea typeface="Open Sans"/>
                <a:cs typeface="Open Sans"/>
                <a:sym typeface="Open Sans"/>
              </a:rPr>
              <a:t>6</a:t>
            </a:r>
            <a:endParaRPr sz="4100">
              <a:solidFill>
                <a:schemeClr val="dk1"/>
              </a:solidFill>
              <a:latin typeface="Calibri"/>
              <a:ea typeface="Calibri"/>
              <a:cs typeface="Calibri"/>
              <a:sym typeface="Calibri"/>
            </a:endParaRPr>
          </a:p>
        </p:txBody>
      </p:sp>
      <p:sp>
        <p:nvSpPr>
          <p:cNvPr id="512" name="Google Shape;512;p31"/>
          <p:cNvSpPr/>
          <p:nvPr/>
        </p:nvSpPr>
        <p:spPr>
          <a:xfrm>
            <a:off x="6485708" y="2537460"/>
            <a:ext cx="9474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400"/>
              <a:buFont typeface="Open Sans"/>
              <a:buNone/>
            </a:pPr>
            <a:r>
              <a:rPr b="1" lang="en-GB" sz="1400">
                <a:solidFill>
                  <a:srgbClr val="1B2A4A"/>
                </a:solidFill>
                <a:latin typeface="Open Sans"/>
                <a:ea typeface="Open Sans"/>
                <a:cs typeface="Open Sans"/>
                <a:sym typeface="Open Sans"/>
              </a:rPr>
              <a:t>Deploy</a:t>
            </a:r>
            <a:endParaRPr sz="1400">
              <a:solidFill>
                <a:schemeClr val="dk1"/>
              </a:solidFill>
              <a:latin typeface="Calibri"/>
              <a:ea typeface="Calibri"/>
              <a:cs typeface="Calibri"/>
              <a:sym typeface="Calibri"/>
            </a:endParaRPr>
          </a:p>
        </p:txBody>
      </p:sp>
      <p:sp>
        <p:nvSpPr>
          <p:cNvPr id="513" name="Google Shape;513;p31"/>
          <p:cNvSpPr/>
          <p:nvPr/>
        </p:nvSpPr>
        <p:spPr>
          <a:xfrm>
            <a:off x="6485708" y="2880360"/>
            <a:ext cx="947400" cy="1509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333D4D"/>
              </a:buClr>
              <a:buSzPts val="1000"/>
              <a:buFont typeface="Open Sans"/>
              <a:buNone/>
            </a:pPr>
            <a:r>
              <a:rPr lang="en-GB" sz="1000">
                <a:solidFill>
                  <a:srgbClr val="333D4D"/>
                </a:solidFill>
                <a:latin typeface="Open Sans"/>
                <a:ea typeface="Open Sans"/>
                <a:cs typeface="Open Sans"/>
                <a:sym typeface="Open Sans"/>
              </a:rPr>
              <a:t>Pipeline · dashboard · API</a:t>
            </a:r>
            <a:endParaRPr sz="1000">
              <a:solidFill>
                <a:schemeClr val="dk1"/>
              </a:solidFill>
              <a:latin typeface="Calibri"/>
              <a:ea typeface="Calibri"/>
              <a:cs typeface="Calibri"/>
              <a:sym typeface="Calibri"/>
            </a:endParaRPr>
          </a:p>
        </p:txBody>
      </p:sp>
      <p:sp>
        <p:nvSpPr>
          <p:cNvPr id="514" name="Google Shape;514;p31"/>
          <p:cNvSpPr/>
          <p:nvPr/>
        </p:nvSpPr>
        <p:spPr>
          <a:xfrm>
            <a:off x="7577111" y="1714500"/>
            <a:ext cx="1153200" cy="41100"/>
          </a:xfrm>
          <a:prstGeom prst="rect">
            <a:avLst/>
          </a:prstGeom>
          <a:solidFill>
            <a:srgbClr val="2C5697"/>
          </a:solidFill>
          <a:ln cap="flat" cmpd="sng" w="9525">
            <a:solidFill>
              <a:srgbClr val="2C5697"/>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5" name="Google Shape;515;p31"/>
          <p:cNvSpPr/>
          <p:nvPr/>
        </p:nvSpPr>
        <p:spPr>
          <a:xfrm>
            <a:off x="7577111" y="1755648"/>
            <a:ext cx="1153200" cy="27021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6" name="Google Shape;516;p31"/>
          <p:cNvSpPr/>
          <p:nvPr/>
        </p:nvSpPr>
        <p:spPr>
          <a:xfrm>
            <a:off x="7679981" y="1851660"/>
            <a:ext cx="94740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C5697"/>
              </a:buClr>
              <a:buSzPts val="4100"/>
              <a:buFont typeface="Open Sans"/>
              <a:buNone/>
            </a:pPr>
            <a:r>
              <a:rPr lang="en-GB" sz="4100">
                <a:solidFill>
                  <a:srgbClr val="2C5697"/>
                </a:solidFill>
                <a:latin typeface="Open Sans"/>
                <a:ea typeface="Open Sans"/>
                <a:cs typeface="Open Sans"/>
                <a:sym typeface="Open Sans"/>
              </a:rPr>
              <a:t>7</a:t>
            </a:r>
            <a:endParaRPr sz="4100">
              <a:solidFill>
                <a:schemeClr val="dk1"/>
              </a:solidFill>
              <a:latin typeface="Calibri"/>
              <a:ea typeface="Calibri"/>
              <a:cs typeface="Calibri"/>
              <a:sym typeface="Calibri"/>
            </a:endParaRPr>
          </a:p>
        </p:txBody>
      </p:sp>
      <p:sp>
        <p:nvSpPr>
          <p:cNvPr id="517" name="Google Shape;517;p31"/>
          <p:cNvSpPr/>
          <p:nvPr/>
        </p:nvSpPr>
        <p:spPr>
          <a:xfrm>
            <a:off x="7679981" y="2537460"/>
            <a:ext cx="9474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400"/>
              <a:buFont typeface="Open Sans"/>
              <a:buNone/>
            </a:pPr>
            <a:r>
              <a:rPr b="1" lang="en-GB" sz="1400">
                <a:solidFill>
                  <a:srgbClr val="1B2A4A"/>
                </a:solidFill>
                <a:latin typeface="Open Sans"/>
                <a:ea typeface="Open Sans"/>
                <a:cs typeface="Open Sans"/>
                <a:sym typeface="Open Sans"/>
              </a:rPr>
              <a:t>Monitor</a:t>
            </a:r>
            <a:endParaRPr sz="1400">
              <a:solidFill>
                <a:schemeClr val="dk1"/>
              </a:solidFill>
              <a:latin typeface="Calibri"/>
              <a:ea typeface="Calibri"/>
              <a:cs typeface="Calibri"/>
              <a:sym typeface="Calibri"/>
            </a:endParaRPr>
          </a:p>
        </p:txBody>
      </p:sp>
      <p:sp>
        <p:nvSpPr>
          <p:cNvPr id="518" name="Google Shape;518;p31"/>
          <p:cNvSpPr/>
          <p:nvPr/>
        </p:nvSpPr>
        <p:spPr>
          <a:xfrm>
            <a:off x="7679981" y="2880360"/>
            <a:ext cx="947400" cy="1509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333D4D"/>
              </a:buClr>
              <a:buSzPts val="1000"/>
              <a:buFont typeface="Open Sans"/>
              <a:buNone/>
            </a:pPr>
            <a:r>
              <a:rPr lang="en-GB" sz="1000">
                <a:solidFill>
                  <a:srgbClr val="333D4D"/>
                </a:solidFill>
                <a:latin typeface="Open Sans"/>
                <a:ea typeface="Open Sans"/>
                <a:cs typeface="Open Sans"/>
                <a:sym typeface="Open Sans"/>
              </a:rPr>
              <a:t>The world changes; models decay</a:t>
            </a:r>
            <a:endParaRPr sz="1000">
              <a:solidFill>
                <a:schemeClr val="dk1"/>
              </a:solidFill>
              <a:latin typeface="Calibri"/>
              <a:ea typeface="Calibri"/>
              <a:cs typeface="Calibri"/>
              <a:sym typeface="Calibri"/>
            </a:endParaRPr>
          </a:p>
        </p:txBody>
      </p:sp>
      <p:sp>
        <p:nvSpPr>
          <p:cNvPr id="519" name="Google Shape;519;p31"/>
          <p:cNvSpPr/>
          <p:nvPr/>
        </p:nvSpPr>
        <p:spPr>
          <a:xfrm>
            <a:off x="411480" y="4594860"/>
            <a:ext cx="8318700" cy="2400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8102E"/>
              </a:buClr>
              <a:buSzPts val="1000"/>
              <a:buFont typeface="Open Sans"/>
              <a:buNone/>
            </a:pPr>
            <a:r>
              <a:rPr b="1" lang="en-GB" sz="1000">
                <a:solidFill>
                  <a:srgbClr val="C8102E"/>
                </a:solidFill>
                <a:latin typeface="Open Sans"/>
                <a:ea typeface="Open Sans"/>
                <a:cs typeface="Open Sans"/>
                <a:sym typeface="Open Sans"/>
              </a:rPr>
              <a:t xml:space="preserve">■ </a:t>
            </a:r>
            <a:r>
              <a:rPr b="1" lang="en-GB" sz="1000">
                <a:solidFill>
                  <a:srgbClr val="5F6B7A"/>
                </a:solidFill>
                <a:latin typeface="Open Sans"/>
                <a:ea typeface="Open Sans"/>
                <a:cs typeface="Open Sans"/>
                <a:sym typeface="Open Sans"/>
              </a:rPr>
              <a:t xml:space="preserve">Frame · Collect · Clean (≈65%)        </a:t>
            </a:r>
            <a:r>
              <a:rPr b="1" lang="en-GB" sz="1000">
                <a:solidFill>
                  <a:srgbClr val="1B2A4A"/>
                </a:solidFill>
                <a:latin typeface="Open Sans"/>
                <a:ea typeface="Open Sans"/>
                <a:cs typeface="Open Sans"/>
                <a:sym typeface="Open Sans"/>
              </a:rPr>
              <a:t xml:space="preserve">■ </a:t>
            </a:r>
            <a:r>
              <a:rPr b="1" lang="en-GB" sz="1000">
                <a:solidFill>
                  <a:srgbClr val="5F6B7A"/>
                </a:solidFill>
                <a:latin typeface="Open Sans"/>
                <a:ea typeface="Open Sans"/>
                <a:cs typeface="Open Sans"/>
                <a:sym typeface="Open Sans"/>
              </a:rPr>
              <a:t xml:space="preserve">Train · Evaluate (≈18%)        </a:t>
            </a:r>
            <a:r>
              <a:rPr b="1" lang="en-GB" sz="1000">
                <a:solidFill>
                  <a:srgbClr val="2C5697"/>
                </a:solidFill>
                <a:latin typeface="Open Sans"/>
                <a:ea typeface="Open Sans"/>
                <a:cs typeface="Open Sans"/>
                <a:sym typeface="Open Sans"/>
              </a:rPr>
              <a:t xml:space="preserve">■ </a:t>
            </a:r>
            <a:r>
              <a:rPr b="1" lang="en-GB" sz="1000">
                <a:solidFill>
                  <a:srgbClr val="5F6B7A"/>
                </a:solidFill>
                <a:latin typeface="Open Sans"/>
                <a:ea typeface="Open Sans"/>
                <a:cs typeface="Open Sans"/>
                <a:sym typeface="Open Sans"/>
              </a:rPr>
              <a:t>Deploy · Monitor (≈17%)</a:t>
            </a:r>
            <a:endParaRPr sz="10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4" name="Shape 564"/>
        <p:cNvGrpSpPr/>
        <p:nvPr/>
      </p:nvGrpSpPr>
      <p:grpSpPr>
        <a:xfrm>
          <a:off x="0" y="0"/>
          <a:ext cx="0" cy="0"/>
          <a:chOff x="0" y="0"/>
          <a:chExt cx="0" cy="0"/>
        </a:xfrm>
      </p:grpSpPr>
      <p:sp>
        <p:nvSpPr>
          <p:cNvPr id="565" name="Google Shape;565;p34"/>
          <p:cNvSpPr/>
          <p:nvPr/>
        </p:nvSpPr>
        <p:spPr>
          <a:xfrm>
            <a:off x="0" y="0"/>
            <a:ext cx="9143700" cy="377100"/>
          </a:xfrm>
          <a:prstGeom prst="rect">
            <a:avLst/>
          </a:prstGeom>
          <a:solidFill>
            <a:srgbClr val="1B2A4A"/>
          </a:solidFill>
          <a:ln cap="flat" cmpd="sng" w="9525">
            <a:solidFill>
              <a:srgbClr val="1B2A4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6" name="Google Shape;566;p34"/>
          <p:cNvSpPr/>
          <p:nvPr/>
        </p:nvSpPr>
        <p:spPr>
          <a:xfrm>
            <a:off x="274320" y="0"/>
            <a:ext cx="68580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300"/>
              <a:buFont typeface="Open Sans"/>
              <a:buNone/>
            </a:pPr>
            <a:r>
              <a:rPr b="1" lang="en-GB" sz="1300">
                <a:solidFill>
                  <a:srgbClr val="FFFFFF"/>
                </a:solidFill>
                <a:latin typeface="Open Sans"/>
                <a:ea typeface="Open Sans"/>
                <a:cs typeface="Open Sans"/>
                <a:sym typeface="Open Sans"/>
              </a:rPr>
              <a:t>Step 1 Is Where Projects Live or Die</a:t>
            </a:r>
            <a:endParaRPr sz="1300">
              <a:solidFill>
                <a:schemeClr val="dk1"/>
              </a:solidFill>
              <a:latin typeface="Calibri"/>
              <a:ea typeface="Calibri"/>
              <a:cs typeface="Calibri"/>
              <a:sym typeface="Calibri"/>
            </a:endParaRPr>
          </a:p>
        </p:txBody>
      </p:sp>
      <p:sp>
        <p:nvSpPr>
          <p:cNvPr id="567" name="Google Shape;567;p34"/>
          <p:cNvSpPr/>
          <p:nvPr/>
        </p:nvSpPr>
        <p:spPr>
          <a:xfrm>
            <a:off x="0" y="0"/>
            <a:ext cx="54900" cy="51435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8" name="Google Shape;568;p34"/>
          <p:cNvSpPr/>
          <p:nvPr/>
        </p:nvSpPr>
        <p:spPr>
          <a:xfrm>
            <a:off x="411480" y="582930"/>
            <a:ext cx="54864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800"/>
              <a:buFont typeface="Open Sans"/>
              <a:buNone/>
            </a:pPr>
            <a:r>
              <a:rPr b="1" lang="en-GB" sz="800">
                <a:solidFill>
                  <a:srgbClr val="C8102E"/>
                </a:solidFill>
                <a:latin typeface="Open Sans"/>
                <a:ea typeface="Open Sans"/>
                <a:cs typeface="Open Sans"/>
                <a:sym typeface="Open Sans"/>
              </a:rPr>
              <a:t>XVI.  FRAMING IS THE ONLY STEP YOU CAN'T SKIP AND RECOVER FROM</a:t>
            </a:r>
            <a:endParaRPr sz="800">
              <a:solidFill>
                <a:schemeClr val="dk1"/>
              </a:solidFill>
              <a:latin typeface="Calibri"/>
              <a:ea typeface="Calibri"/>
              <a:cs typeface="Calibri"/>
              <a:sym typeface="Calibri"/>
            </a:endParaRPr>
          </a:p>
        </p:txBody>
      </p:sp>
      <p:sp>
        <p:nvSpPr>
          <p:cNvPr id="569" name="Google Shape;569;p34"/>
          <p:cNvSpPr/>
          <p:nvPr/>
        </p:nvSpPr>
        <p:spPr>
          <a:xfrm>
            <a:off x="411480" y="857250"/>
            <a:ext cx="8318700" cy="11661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B2A4A"/>
              </a:buClr>
              <a:buSzPts val="2400"/>
              <a:buFont typeface="Open Sans"/>
              <a:buNone/>
            </a:pPr>
            <a:r>
              <a:rPr i="1" lang="en-GB" sz="2400">
                <a:solidFill>
                  <a:srgbClr val="1B2A4A"/>
                </a:solidFill>
                <a:latin typeface="Open Sans"/>
                <a:ea typeface="Open Sans"/>
                <a:cs typeface="Open Sans"/>
                <a:sym typeface="Open Sans"/>
              </a:rPr>
              <a:t>“A beautifully trained model that solves the</a:t>
            </a:r>
            <a:br>
              <a:rPr i="1" lang="en-GB" sz="2400">
                <a:solidFill>
                  <a:srgbClr val="1B2A4A"/>
                </a:solidFill>
                <a:latin typeface="Open Sans"/>
                <a:ea typeface="Open Sans"/>
                <a:cs typeface="Open Sans"/>
                <a:sym typeface="Open Sans"/>
              </a:rPr>
            </a:br>
            <a:r>
              <a:rPr i="1" lang="en-GB" sz="2400">
                <a:solidFill>
                  <a:srgbClr val="1B2A4A"/>
                </a:solidFill>
                <a:latin typeface="Open Sans"/>
                <a:ea typeface="Open Sans"/>
                <a:cs typeface="Open Sans"/>
                <a:sym typeface="Open Sans"/>
              </a:rPr>
              <a:t xml:space="preserve">wrong problem </a:t>
            </a:r>
            <a:r>
              <a:rPr b="1" i="1" lang="en-GB" sz="2400">
                <a:solidFill>
                  <a:srgbClr val="C8102E"/>
                </a:solidFill>
                <a:latin typeface="Open Sans"/>
                <a:ea typeface="Open Sans"/>
                <a:cs typeface="Open Sans"/>
                <a:sym typeface="Open Sans"/>
              </a:rPr>
              <a:t>is worth zero.”</a:t>
            </a:r>
            <a:endParaRPr sz="2400">
              <a:solidFill>
                <a:schemeClr val="dk1"/>
              </a:solidFill>
              <a:latin typeface="Calibri"/>
              <a:ea typeface="Calibri"/>
              <a:cs typeface="Calibri"/>
              <a:sym typeface="Calibri"/>
            </a:endParaRPr>
          </a:p>
        </p:txBody>
      </p:sp>
      <p:sp>
        <p:nvSpPr>
          <p:cNvPr id="570" name="Google Shape;570;p34"/>
          <p:cNvSpPr/>
          <p:nvPr/>
        </p:nvSpPr>
        <p:spPr>
          <a:xfrm>
            <a:off x="411480" y="2091690"/>
            <a:ext cx="83187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F6B7A"/>
              </a:buClr>
              <a:buSzPts val="1300"/>
              <a:buFont typeface="Open Sans"/>
              <a:buNone/>
            </a:pPr>
            <a:r>
              <a:rPr b="1" lang="en-GB" sz="1300">
                <a:solidFill>
                  <a:srgbClr val="5F6B7A"/>
                </a:solidFill>
                <a:latin typeface="Open Sans"/>
                <a:ea typeface="Open Sans"/>
                <a:cs typeface="Open Sans"/>
                <a:sym typeface="Open Sans"/>
              </a:rPr>
              <a:t>The four questions every project must answer BEFORE touching data:</a:t>
            </a:r>
            <a:endParaRPr sz="1300">
              <a:solidFill>
                <a:schemeClr val="dk1"/>
              </a:solidFill>
              <a:latin typeface="Calibri"/>
              <a:ea typeface="Calibri"/>
              <a:cs typeface="Calibri"/>
              <a:sym typeface="Calibri"/>
            </a:endParaRPr>
          </a:p>
        </p:txBody>
      </p:sp>
      <p:sp>
        <p:nvSpPr>
          <p:cNvPr id="571" name="Google Shape;571;p34"/>
          <p:cNvSpPr/>
          <p:nvPr/>
        </p:nvSpPr>
        <p:spPr>
          <a:xfrm>
            <a:off x="411480" y="2434590"/>
            <a:ext cx="4080600" cy="342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2" name="Google Shape;572;p34"/>
          <p:cNvSpPr/>
          <p:nvPr/>
        </p:nvSpPr>
        <p:spPr>
          <a:xfrm>
            <a:off x="411480" y="2468880"/>
            <a:ext cx="4080600" cy="10287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3" name="Google Shape;573;p34"/>
          <p:cNvSpPr/>
          <p:nvPr/>
        </p:nvSpPr>
        <p:spPr>
          <a:xfrm>
            <a:off x="582930" y="2606040"/>
            <a:ext cx="411600" cy="411600"/>
          </a:xfrm>
          <a:prstGeom prst="ellipse">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4" name="Google Shape;574;p34"/>
          <p:cNvSpPr/>
          <p:nvPr/>
        </p:nvSpPr>
        <p:spPr>
          <a:xfrm>
            <a:off x="582930" y="2606040"/>
            <a:ext cx="4116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700"/>
              <a:buFont typeface="Open Sans"/>
              <a:buNone/>
            </a:pPr>
            <a:r>
              <a:rPr b="1" lang="en-GB" sz="1700">
                <a:solidFill>
                  <a:srgbClr val="FFFFFF"/>
                </a:solidFill>
                <a:latin typeface="Open Sans"/>
                <a:ea typeface="Open Sans"/>
                <a:cs typeface="Open Sans"/>
                <a:sym typeface="Open Sans"/>
              </a:rPr>
              <a:t>1</a:t>
            </a:r>
            <a:endParaRPr sz="1700">
              <a:solidFill>
                <a:schemeClr val="dk1"/>
              </a:solidFill>
              <a:latin typeface="Calibri"/>
              <a:ea typeface="Calibri"/>
              <a:cs typeface="Calibri"/>
              <a:sym typeface="Calibri"/>
            </a:endParaRPr>
          </a:p>
        </p:txBody>
      </p:sp>
      <p:sp>
        <p:nvSpPr>
          <p:cNvPr id="575" name="Google Shape;575;p34"/>
          <p:cNvSpPr/>
          <p:nvPr/>
        </p:nvSpPr>
        <p:spPr>
          <a:xfrm>
            <a:off x="1097280" y="2571750"/>
            <a:ext cx="32577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400"/>
              <a:buFont typeface="Open Sans"/>
              <a:buNone/>
            </a:pPr>
            <a:r>
              <a:rPr b="1" lang="en-GB" sz="1400">
                <a:solidFill>
                  <a:srgbClr val="1B2A4A"/>
                </a:solidFill>
                <a:latin typeface="Open Sans"/>
                <a:ea typeface="Open Sans"/>
                <a:cs typeface="Open Sans"/>
                <a:sym typeface="Open Sans"/>
              </a:rPr>
              <a:t>What is the question?</a:t>
            </a:r>
            <a:endParaRPr sz="1400">
              <a:solidFill>
                <a:schemeClr val="dk1"/>
              </a:solidFill>
              <a:latin typeface="Calibri"/>
              <a:ea typeface="Calibri"/>
              <a:cs typeface="Calibri"/>
              <a:sym typeface="Calibri"/>
            </a:endParaRPr>
          </a:p>
        </p:txBody>
      </p:sp>
      <p:sp>
        <p:nvSpPr>
          <p:cNvPr id="576" name="Google Shape;576;p34"/>
          <p:cNvSpPr/>
          <p:nvPr/>
        </p:nvSpPr>
        <p:spPr>
          <a:xfrm>
            <a:off x="1097280" y="2914650"/>
            <a:ext cx="3257700" cy="54840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333D4D"/>
              </a:buClr>
              <a:buSzPts val="1000"/>
              <a:buFont typeface="Open Sans"/>
              <a:buNone/>
            </a:pPr>
            <a:r>
              <a:rPr lang="en-GB" sz="1000">
                <a:solidFill>
                  <a:srgbClr val="333D4D"/>
                </a:solidFill>
                <a:latin typeface="Open Sans"/>
                <a:ea typeface="Open Sans"/>
                <a:cs typeface="Open Sans"/>
                <a:sym typeface="Open Sans"/>
              </a:rPr>
              <a:t>Be precise. ‘Reduce churn’ isn't a question. ‘Predict which customers cancel within 30 days’ is.</a:t>
            </a:r>
            <a:endParaRPr sz="1000">
              <a:solidFill>
                <a:schemeClr val="dk1"/>
              </a:solidFill>
              <a:latin typeface="Calibri"/>
              <a:ea typeface="Calibri"/>
              <a:cs typeface="Calibri"/>
              <a:sym typeface="Calibri"/>
            </a:endParaRPr>
          </a:p>
        </p:txBody>
      </p:sp>
      <p:sp>
        <p:nvSpPr>
          <p:cNvPr id="577" name="Google Shape;577;p34"/>
          <p:cNvSpPr/>
          <p:nvPr/>
        </p:nvSpPr>
        <p:spPr>
          <a:xfrm>
            <a:off x="4629150" y="2434590"/>
            <a:ext cx="4080600" cy="342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8" name="Google Shape;578;p34"/>
          <p:cNvSpPr/>
          <p:nvPr/>
        </p:nvSpPr>
        <p:spPr>
          <a:xfrm>
            <a:off x="4629150" y="2468880"/>
            <a:ext cx="4080600" cy="10287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9" name="Google Shape;579;p34"/>
          <p:cNvSpPr/>
          <p:nvPr/>
        </p:nvSpPr>
        <p:spPr>
          <a:xfrm>
            <a:off x="4800600" y="2606040"/>
            <a:ext cx="411600" cy="411600"/>
          </a:xfrm>
          <a:prstGeom prst="ellipse">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0" name="Google Shape;580;p34"/>
          <p:cNvSpPr/>
          <p:nvPr/>
        </p:nvSpPr>
        <p:spPr>
          <a:xfrm>
            <a:off x="4800600" y="2606040"/>
            <a:ext cx="4116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700"/>
              <a:buFont typeface="Open Sans"/>
              <a:buNone/>
            </a:pPr>
            <a:r>
              <a:rPr b="1" lang="en-GB" sz="1700">
                <a:solidFill>
                  <a:srgbClr val="FFFFFF"/>
                </a:solidFill>
                <a:latin typeface="Open Sans"/>
                <a:ea typeface="Open Sans"/>
                <a:cs typeface="Open Sans"/>
                <a:sym typeface="Open Sans"/>
              </a:rPr>
              <a:t>2</a:t>
            </a:r>
            <a:endParaRPr sz="1700">
              <a:solidFill>
                <a:schemeClr val="dk1"/>
              </a:solidFill>
              <a:latin typeface="Calibri"/>
              <a:ea typeface="Calibri"/>
              <a:cs typeface="Calibri"/>
              <a:sym typeface="Calibri"/>
            </a:endParaRPr>
          </a:p>
        </p:txBody>
      </p:sp>
      <p:sp>
        <p:nvSpPr>
          <p:cNvPr id="581" name="Google Shape;581;p34"/>
          <p:cNvSpPr/>
          <p:nvPr/>
        </p:nvSpPr>
        <p:spPr>
          <a:xfrm>
            <a:off x="5314950" y="2571750"/>
            <a:ext cx="32577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400"/>
              <a:buFont typeface="Open Sans"/>
              <a:buNone/>
            </a:pPr>
            <a:r>
              <a:rPr b="1" lang="en-GB" sz="1400">
                <a:solidFill>
                  <a:srgbClr val="1B2A4A"/>
                </a:solidFill>
                <a:latin typeface="Open Sans"/>
                <a:ea typeface="Open Sans"/>
                <a:cs typeface="Open Sans"/>
                <a:sym typeface="Open Sans"/>
              </a:rPr>
              <a:t>Who acts on the answer?</a:t>
            </a:r>
            <a:endParaRPr sz="1400">
              <a:solidFill>
                <a:schemeClr val="dk1"/>
              </a:solidFill>
              <a:latin typeface="Calibri"/>
              <a:ea typeface="Calibri"/>
              <a:cs typeface="Calibri"/>
              <a:sym typeface="Calibri"/>
            </a:endParaRPr>
          </a:p>
        </p:txBody>
      </p:sp>
      <p:sp>
        <p:nvSpPr>
          <p:cNvPr id="582" name="Google Shape;582;p34"/>
          <p:cNvSpPr/>
          <p:nvPr/>
        </p:nvSpPr>
        <p:spPr>
          <a:xfrm>
            <a:off x="5314950" y="2914650"/>
            <a:ext cx="3257700" cy="54840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333D4D"/>
              </a:buClr>
              <a:buSzPts val="1000"/>
              <a:buFont typeface="Open Sans"/>
              <a:buNone/>
            </a:pPr>
            <a:r>
              <a:rPr lang="en-GB" sz="1000">
                <a:solidFill>
                  <a:srgbClr val="333D4D"/>
                </a:solidFill>
                <a:latin typeface="Open Sans"/>
                <a:ea typeface="Open Sans"/>
                <a:cs typeface="Open Sans"/>
                <a:sym typeface="Open Sans"/>
              </a:rPr>
              <a:t>If nobody acts, no model matters. The action defines what ‘good’ means.</a:t>
            </a:r>
            <a:endParaRPr sz="1000">
              <a:solidFill>
                <a:schemeClr val="dk1"/>
              </a:solidFill>
              <a:latin typeface="Calibri"/>
              <a:ea typeface="Calibri"/>
              <a:cs typeface="Calibri"/>
              <a:sym typeface="Calibri"/>
            </a:endParaRPr>
          </a:p>
        </p:txBody>
      </p:sp>
      <p:sp>
        <p:nvSpPr>
          <p:cNvPr id="583" name="Google Shape;583;p34"/>
          <p:cNvSpPr/>
          <p:nvPr/>
        </p:nvSpPr>
        <p:spPr>
          <a:xfrm>
            <a:off x="411480" y="3600450"/>
            <a:ext cx="4080600" cy="342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4" name="Google Shape;584;p34"/>
          <p:cNvSpPr/>
          <p:nvPr/>
        </p:nvSpPr>
        <p:spPr>
          <a:xfrm>
            <a:off x="411480" y="3634740"/>
            <a:ext cx="4080600" cy="10287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5" name="Google Shape;585;p34"/>
          <p:cNvSpPr/>
          <p:nvPr/>
        </p:nvSpPr>
        <p:spPr>
          <a:xfrm>
            <a:off x="582930" y="3771900"/>
            <a:ext cx="411600" cy="411600"/>
          </a:xfrm>
          <a:prstGeom prst="ellipse">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6" name="Google Shape;586;p34"/>
          <p:cNvSpPr/>
          <p:nvPr/>
        </p:nvSpPr>
        <p:spPr>
          <a:xfrm>
            <a:off x="582930" y="3771900"/>
            <a:ext cx="4116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700"/>
              <a:buFont typeface="Open Sans"/>
              <a:buNone/>
            </a:pPr>
            <a:r>
              <a:rPr b="1" lang="en-GB" sz="1700">
                <a:solidFill>
                  <a:srgbClr val="FFFFFF"/>
                </a:solidFill>
                <a:latin typeface="Open Sans"/>
                <a:ea typeface="Open Sans"/>
                <a:cs typeface="Open Sans"/>
                <a:sym typeface="Open Sans"/>
              </a:rPr>
              <a:t>3</a:t>
            </a:r>
            <a:endParaRPr sz="1700">
              <a:solidFill>
                <a:schemeClr val="dk1"/>
              </a:solidFill>
              <a:latin typeface="Calibri"/>
              <a:ea typeface="Calibri"/>
              <a:cs typeface="Calibri"/>
              <a:sym typeface="Calibri"/>
            </a:endParaRPr>
          </a:p>
        </p:txBody>
      </p:sp>
      <p:sp>
        <p:nvSpPr>
          <p:cNvPr id="587" name="Google Shape;587;p34"/>
          <p:cNvSpPr/>
          <p:nvPr/>
        </p:nvSpPr>
        <p:spPr>
          <a:xfrm>
            <a:off x="1097280" y="3737610"/>
            <a:ext cx="32577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400"/>
              <a:buFont typeface="Open Sans"/>
              <a:buNone/>
            </a:pPr>
            <a:r>
              <a:rPr b="1" lang="en-GB" sz="1400">
                <a:solidFill>
                  <a:srgbClr val="1B2A4A"/>
                </a:solidFill>
                <a:latin typeface="Open Sans"/>
                <a:ea typeface="Open Sans"/>
                <a:cs typeface="Open Sans"/>
                <a:sym typeface="Open Sans"/>
              </a:rPr>
              <a:t>What's the success metric?</a:t>
            </a:r>
            <a:endParaRPr sz="1400">
              <a:solidFill>
                <a:schemeClr val="dk1"/>
              </a:solidFill>
              <a:latin typeface="Calibri"/>
              <a:ea typeface="Calibri"/>
              <a:cs typeface="Calibri"/>
              <a:sym typeface="Calibri"/>
            </a:endParaRPr>
          </a:p>
        </p:txBody>
      </p:sp>
      <p:sp>
        <p:nvSpPr>
          <p:cNvPr id="588" name="Google Shape;588;p34"/>
          <p:cNvSpPr/>
          <p:nvPr/>
        </p:nvSpPr>
        <p:spPr>
          <a:xfrm>
            <a:off x="1097280" y="4080510"/>
            <a:ext cx="3257700" cy="54840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333D4D"/>
              </a:buClr>
              <a:buSzPts val="1000"/>
              <a:buFont typeface="Open Sans"/>
              <a:buNone/>
            </a:pPr>
            <a:r>
              <a:rPr lang="en-GB" sz="1000">
                <a:solidFill>
                  <a:srgbClr val="333D4D"/>
                </a:solidFill>
                <a:latin typeface="Open Sans"/>
                <a:ea typeface="Open Sans"/>
                <a:cs typeface="Open Sans"/>
                <a:sym typeface="Open Sans"/>
              </a:rPr>
              <a:t>Define it before you build. Choose one. Resist adding more later.</a:t>
            </a:r>
            <a:endParaRPr sz="1000">
              <a:solidFill>
                <a:schemeClr val="dk1"/>
              </a:solidFill>
              <a:latin typeface="Calibri"/>
              <a:ea typeface="Calibri"/>
              <a:cs typeface="Calibri"/>
              <a:sym typeface="Calibri"/>
            </a:endParaRPr>
          </a:p>
        </p:txBody>
      </p:sp>
      <p:sp>
        <p:nvSpPr>
          <p:cNvPr id="589" name="Google Shape;589;p34"/>
          <p:cNvSpPr/>
          <p:nvPr/>
        </p:nvSpPr>
        <p:spPr>
          <a:xfrm>
            <a:off x="4629150" y="3600450"/>
            <a:ext cx="4080600" cy="342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0" name="Google Shape;590;p34"/>
          <p:cNvSpPr/>
          <p:nvPr/>
        </p:nvSpPr>
        <p:spPr>
          <a:xfrm>
            <a:off x="4629150" y="3634740"/>
            <a:ext cx="4080600" cy="1028700"/>
          </a:xfrm>
          <a:prstGeom prst="rect">
            <a:avLst/>
          </a:prstGeom>
          <a:solidFill>
            <a:srgbClr val="FFFFFF"/>
          </a:solidFill>
          <a:ln cap="flat" cmpd="sng" w="7150">
            <a:solidFill>
              <a:srgbClr val="DDE1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1" name="Google Shape;591;p34"/>
          <p:cNvSpPr/>
          <p:nvPr/>
        </p:nvSpPr>
        <p:spPr>
          <a:xfrm>
            <a:off x="4800600" y="3771900"/>
            <a:ext cx="411600" cy="411600"/>
          </a:xfrm>
          <a:prstGeom prst="ellipse">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2" name="Google Shape;592;p34"/>
          <p:cNvSpPr/>
          <p:nvPr/>
        </p:nvSpPr>
        <p:spPr>
          <a:xfrm>
            <a:off x="4800600" y="3771900"/>
            <a:ext cx="4116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700"/>
              <a:buFont typeface="Open Sans"/>
              <a:buNone/>
            </a:pPr>
            <a:r>
              <a:rPr b="1" lang="en-GB" sz="1700">
                <a:solidFill>
                  <a:srgbClr val="FFFFFF"/>
                </a:solidFill>
                <a:latin typeface="Open Sans"/>
                <a:ea typeface="Open Sans"/>
                <a:cs typeface="Open Sans"/>
                <a:sym typeface="Open Sans"/>
              </a:rPr>
              <a:t>4</a:t>
            </a:r>
            <a:endParaRPr sz="1700">
              <a:solidFill>
                <a:schemeClr val="dk1"/>
              </a:solidFill>
              <a:latin typeface="Calibri"/>
              <a:ea typeface="Calibri"/>
              <a:cs typeface="Calibri"/>
              <a:sym typeface="Calibri"/>
            </a:endParaRPr>
          </a:p>
        </p:txBody>
      </p:sp>
      <p:sp>
        <p:nvSpPr>
          <p:cNvPr id="593" name="Google Shape;593;p34"/>
          <p:cNvSpPr/>
          <p:nvPr/>
        </p:nvSpPr>
        <p:spPr>
          <a:xfrm>
            <a:off x="5314950" y="3737610"/>
            <a:ext cx="32577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B2A4A"/>
              </a:buClr>
              <a:buSzPts val="1400"/>
              <a:buFont typeface="Open Sans"/>
              <a:buNone/>
            </a:pPr>
            <a:r>
              <a:rPr b="1" lang="en-GB" sz="1400">
                <a:solidFill>
                  <a:srgbClr val="1B2A4A"/>
                </a:solidFill>
                <a:latin typeface="Open Sans"/>
                <a:ea typeface="Open Sans"/>
                <a:cs typeface="Open Sans"/>
                <a:sym typeface="Open Sans"/>
              </a:rPr>
              <a:t>What's the cost of being wrong?</a:t>
            </a:r>
            <a:endParaRPr sz="1400">
              <a:solidFill>
                <a:schemeClr val="dk1"/>
              </a:solidFill>
              <a:latin typeface="Calibri"/>
              <a:ea typeface="Calibri"/>
              <a:cs typeface="Calibri"/>
              <a:sym typeface="Calibri"/>
            </a:endParaRPr>
          </a:p>
        </p:txBody>
      </p:sp>
      <p:sp>
        <p:nvSpPr>
          <p:cNvPr id="594" name="Google Shape;594;p34"/>
          <p:cNvSpPr/>
          <p:nvPr/>
        </p:nvSpPr>
        <p:spPr>
          <a:xfrm>
            <a:off x="5314950" y="4080510"/>
            <a:ext cx="3257700" cy="54840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333D4D"/>
              </a:buClr>
              <a:buSzPts val="1000"/>
              <a:buFont typeface="Open Sans"/>
              <a:buNone/>
            </a:pPr>
            <a:r>
              <a:rPr lang="en-GB" sz="1000">
                <a:solidFill>
                  <a:srgbClr val="333D4D"/>
                </a:solidFill>
                <a:latin typeface="Open Sans"/>
                <a:ea typeface="Open Sans"/>
                <a:cs typeface="Open Sans"/>
                <a:sym typeface="Open Sans"/>
              </a:rPr>
              <a:t>Is a false positive worse than a false negative? Most domains have asymmetric costs.</a:t>
            </a:r>
            <a:endParaRPr sz="10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622" name="Shape 622"/>
        <p:cNvGrpSpPr/>
        <p:nvPr/>
      </p:nvGrpSpPr>
      <p:grpSpPr>
        <a:xfrm>
          <a:off x="0" y="0"/>
          <a:ext cx="0" cy="0"/>
          <a:chOff x="0" y="0"/>
          <a:chExt cx="0" cy="0"/>
        </a:xfrm>
      </p:grpSpPr>
      <p:sp>
        <p:nvSpPr>
          <p:cNvPr id="623" name="Google Shape;623;p36"/>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4" name="Google Shape;624;p36"/>
          <p:cNvSpPr/>
          <p:nvPr/>
        </p:nvSpPr>
        <p:spPr>
          <a:xfrm>
            <a:off x="411480" y="480060"/>
            <a:ext cx="54864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800"/>
              <a:buFont typeface="Open Sans"/>
              <a:buNone/>
            </a:pPr>
            <a:r>
              <a:rPr b="1" lang="en-GB" sz="800">
                <a:solidFill>
                  <a:schemeClr val="lt1"/>
                </a:solidFill>
                <a:latin typeface="Open Sans"/>
                <a:ea typeface="Open Sans"/>
                <a:cs typeface="Open Sans"/>
                <a:sym typeface="Open Sans"/>
              </a:rPr>
              <a:t>BRIDGE TO L02  ·  FRIDAY MORNING</a:t>
            </a:r>
            <a:endParaRPr b="1" sz="800">
              <a:solidFill>
                <a:schemeClr val="lt1"/>
              </a:solidFill>
              <a:latin typeface="Calibri"/>
              <a:ea typeface="Calibri"/>
              <a:cs typeface="Calibri"/>
              <a:sym typeface="Calibri"/>
            </a:endParaRPr>
          </a:p>
        </p:txBody>
      </p:sp>
      <p:sp>
        <p:nvSpPr>
          <p:cNvPr id="625" name="Google Shape;625;p36"/>
          <p:cNvSpPr/>
          <p:nvPr/>
        </p:nvSpPr>
        <p:spPr>
          <a:xfrm>
            <a:off x="411480" y="822960"/>
            <a:ext cx="82296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300"/>
              <a:buFont typeface="Open Sans"/>
              <a:buNone/>
            </a:pPr>
            <a:r>
              <a:rPr i="1" lang="en-GB" sz="1300">
                <a:solidFill>
                  <a:srgbClr val="FFFFFF"/>
                </a:solidFill>
                <a:latin typeface="Open Sans"/>
                <a:ea typeface="Open Sans"/>
                <a:cs typeface="Open Sans"/>
                <a:sym typeface="Open Sans"/>
              </a:rPr>
              <a:t>Priya, after seeing Sarah's numbers…</a:t>
            </a:r>
            <a:endParaRPr sz="1300">
              <a:solidFill>
                <a:schemeClr val="dk1"/>
              </a:solidFill>
              <a:latin typeface="Calibri"/>
              <a:ea typeface="Calibri"/>
              <a:cs typeface="Calibri"/>
              <a:sym typeface="Calibri"/>
            </a:endParaRPr>
          </a:p>
        </p:txBody>
      </p:sp>
      <p:sp>
        <p:nvSpPr>
          <p:cNvPr id="626" name="Google Shape;626;p36"/>
          <p:cNvSpPr/>
          <p:nvPr/>
        </p:nvSpPr>
        <p:spPr>
          <a:xfrm>
            <a:off x="411480" y="1268730"/>
            <a:ext cx="8318700" cy="2400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FFFFFF"/>
              </a:buClr>
              <a:buSzPts val="2100"/>
              <a:buFont typeface="Open Sans"/>
              <a:buNone/>
            </a:pPr>
            <a:r>
              <a:rPr i="1" lang="en-GB" sz="2100">
                <a:solidFill>
                  <a:srgbClr val="FFFFFF"/>
                </a:solidFill>
                <a:latin typeface="Open Sans"/>
                <a:ea typeface="Open Sans"/>
                <a:cs typeface="Open Sans"/>
                <a:sym typeface="Open Sans"/>
              </a:rPr>
              <a:t>“Sarah — the numbers look great.</a:t>
            </a:r>
            <a:br>
              <a:rPr i="1" lang="en-GB" sz="2100">
                <a:solidFill>
                  <a:srgbClr val="FFFFFF"/>
                </a:solidFill>
                <a:latin typeface="Open Sans"/>
                <a:ea typeface="Open Sans"/>
                <a:cs typeface="Open Sans"/>
                <a:sym typeface="Open Sans"/>
              </a:rPr>
            </a:br>
            <a:br>
              <a:rPr i="1" lang="en-GB" sz="2100">
                <a:solidFill>
                  <a:srgbClr val="FFFFFF"/>
                </a:solidFill>
                <a:latin typeface="Open Sans"/>
                <a:ea typeface="Open Sans"/>
                <a:cs typeface="Open Sans"/>
                <a:sym typeface="Open Sans"/>
              </a:rPr>
            </a:br>
            <a:r>
              <a:rPr b="1" i="1" lang="en-GB" sz="2100">
                <a:solidFill>
                  <a:schemeClr val="accent6"/>
                </a:solidFill>
                <a:latin typeface="Open Sans"/>
                <a:ea typeface="Open Sans"/>
                <a:cs typeface="Open Sans"/>
                <a:sym typeface="Open Sans"/>
              </a:rPr>
              <a:t>But HOW SURE are we?</a:t>
            </a:r>
            <a:endParaRPr sz="2100">
              <a:solidFill>
                <a:schemeClr val="accent6"/>
              </a:solidFill>
              <a:latin typeface="Calibri"/>
              <a:ea typeface="Calibri"/>
              <a:cs typeface="Calibri"/>
              <a:sym typeface="Calibri"/>
            </a:endParaRPr>
          </a:p>
          <a:p>
            <a:pPr indent="0" lvl="0" marL="0" marR="0" rtl="0" algn="l">
              <a:spcBef>
                <a:spcPts val="0"/>
              </a:spcBef>
              <a:spcAft>
                <a:spcPts val="0"/>
              </a:spcAft>
              <a:buClr>
                <a:schemeClr val="dk1"/>
              </a:buClr>
              <a:buSzPts val="2100"/>
              <a:buFont typeface="Calibri"/>
              <a:buNone/>
            </a:pPr>
            <a:r>
              <a:t/>
            </a:r>
            <a:endParaRPr sz="21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100"/>
              <a:buFont typeface="Open Sans"/>
              <a:buNone/>
            </a:pPr>
            <a:r>
              <a:rPr i="1" lang="en-GB" sz="2100">
                <a:solidFill>
                  <a:srgbClr val="FFFFFF"/>
                </a:solidFill>
                <a:latin typeface="Open Sans"/>
                <a:ea typeface="Open Sans"/>
                <a:cs typeface="Open Sans"/>
                <a:sym typeface="Open Sans"/>
              </a:rPr>
              <a:t xml:space="preserve">The model labeled every review —- How do we know it isn't </a:t>
            </a:r>
            <a:endParaRPr sz="2100">
              <a:solidFill>
                <a:schemeClr val="dk1"/>
              </a:solidFill>
              <a:latin typeface="Calibri"/>
              <a:ea typeface="Calibri"/>
              <a:cs typeface="Calibri"/>
              <a:sym typeface="Calibri"/>
            </a:endParaRPr>
          </a:p>
          <a:p>
            <a:pPr indent="0" lvl="0" marL="0" marR="0" rtl="0" algn="l">
              <a:spcBef>
                <a:spcPts val="0"/>
              </a:spcBef>
              <a:spcAft>
                <a:spcPts val="0"/>
              </a:spcAft>
              <a:buClr>
                <a:srgbClr val="C8102E"/>
              </a:buClr>
              <a:buSzPts val="2100"/>
              <a:buFont typeface="Open Sans"/>
              <a:buNone/>
            </a:pPr>
            <a:r>
              <a:rPr b="1" i="1" lang="en-GB" sz="2100">
                <a:solidFill>
                  <a:schemeClr val="accent6"/>
                </a:solidFill>
                <a:latin typeface="Open Sans"/>
                <a:ea typeface="Open Sans"/>
                <a:cs typeface="Open Sans"/>
                <a:sym typeface="Open Sans"/>
              </a:rPr>
              <a:t>confidently wrong</a:t>
            </a:r>
            <a:r>
              <a:rPr i="1" lang="en-GB" sz="2100">
                <a:solidFill>
                  <a:srgbClr val="FFFFFF"/>
                </a:solidFill>
                <a:latin typeface="Open Sans"/>
                <a:ea typeface="Open Sans"/>
                <a:cs typeface="Open Sans"/>
                <a:sym typeface="Open Sans"/>
              </a:rPr>
              <a:t xml:space="preserve"> in ways we can't see from this report?”</a:t>
            </a:r>
            <a:endParaRPr sz="2100">
              <a:solidFill>
                <a:schemeClr val="dk1"/>
              </a:solidFill>
              <a:latin typeface="Calibri"/>
              <a:ea typeface="Calibri"/>
              <a:cs typeface="Calibri"/>
              <a:sym typeface="Calibri"/>
            </a:endParaRPr>
          </a:p>
        </p:txBody>
      </p:sp>
      <p:grpSp>
        <p:nvGrpSpPr>
          <p:cNvPr id="627" name="Google Shape;627;p36"/>
          <p:cNvGrpSpPr/>
          <p:nvPr/>
        </p:nvGrpSpPr>
        <p:grpSpPr>
          <a:xfrm>
            <a:off x="412650" y="3586286"/>
            <a:ext cx="8318700" cy="1234272"/>
            <a:chOff x="411480" y="3909060"/>
            <a:chExt cx="8318700" cy="960000"/>
          </a:xfrm>
        </p:grpSpPr>
        <p:sp>
          <p:nvSpPr>
            <p:cNvPr id="628" name="Google Shape;628;p36"/>
            <p:cNvSpPr/>
            <p:nvPr/>
          </p:nvSpPr>
          <p:spPr>
            <a:xfrm>
              <a:off x="411480" y="3909060"/>
              <a:ext cx="8318700" cy="960000"/>
            </a:xfrm>
            <a:prstGeom prst="rect">
              <a:avLst/>
            </a:prstGeom>
            <a:solidFill>
              <a:srgbClr val="1E3054"/>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9" name="Google Shape;629;p36"/>
            <p:cNvSpPr/>
            <p:nvPr/>
          </p:nvSpPr>
          <p:spPr>
            <a:xfrm>
              <a:off x="411480" y="3909060"/>
              <a:ext cx="41100" cy="9600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30" name="Google Shape;630;p36"/>
            <p:cNvSpPr/>
            <p:nvPr/>
          </p:nvSpPr>
          <p:spPr>
            <a:xfrm>
              <a:off x="651510" y="4011930"/>
              <a:ext cx="79758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1000"/>
                <a:buFont typeface="Open Sans"/>
                <a:buNone/>
              </a:pPr>
              <a:r>
                <a:rPr b="1" lang="en-GB" sz="1000">
                  <a:solidFill>
                    <a:schemeClr val="accent6"/>
                  </a:solidFill>
                  <a:latin typeface="Open Sans"/>
                  <a:ea typeface="Open Sans"/>
                  <a:cs typeface="Open Sans"/>
                  <a:sym typeface="Open Sans"/>
                </a:rPr>
                <a:t>LESSON 02  ·  PROBABILITY &amp; STATISTICS</a:t>
              </a:r>
              <a:endParaRPr sz="1000">
                <a:solidFill>
                  <a:schemeClr val="accent6"/>
                </a:solidFill>
                <a:latin typeface="Calibri"/>
                <a:ea typeface="Calibri"/>
                <a:cs typeface="Calibri"/>
                <a:sym typeface="Calibri"/>
              </a:endParaRPr>
            </a:p>
          </p:txBody>
        </p:sp>
        <p:sp>
          <p:nvSpPr>
            <p:cNvPr id="631" name="Google Shape;631;p36"/>
            <p:cNvSpPr/>
            <p:nvPr/>
          </p:nvSpPr>
          <p:spPr>
            <a:xfrm>
              <a:off x="651510" y="4251960"/>
              <a:ext cx="7975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400"/>
                <a:buFont typeface="Open Sans"/>
                <a:buNone/>
              </a:pPr>
              <a:r>
                <a:rPr lang="en-GB" sz="1400">
                  <a:solidFill>
                    <a:srgbClr val="FFFFFF"/>
                  </a:solidFill>
                  <a:latin typeface="Open Sans"/>
                  <a:ea typeface="Open Sans"/>
                  <a:cs typeface="Open Sans"/>
                  <a:sym typeface="Open Sans"/>
                </a:rPr>
                <a:t>Distribution · Confidence Intervals · Hypothesis Testing — all</a:t>
              </a:r>
              <a:r>
                <a:rPr lang="en-GB">
                  <a:solidFill>
                    <a:srgbClr val="FFFFFF"/>
                  </a:solidFill>
                  <a:latin typeface="Open Sans"/>
                  <a:ea typeface="Open Sans"/>
                  <a:cs typeface="Open Sans"/>
                  <a:sym typeface="Open Sans"/>
                </a:rPr>
                <a:t xml:space="preserve"> tools to help Sarah </a:t>
              </a:r>
              <a:r>
                <a:rPr lang="en-GB" sz="1400">
                  <a:solidFill>
                    <a:srgbClr val="FFFFFF"/>
                  </a:solidFill>
                  <a:latin typeface="Open Sans"/>
                  <a:ea typeface="Open Sans"/>
                  <a:cs typeface="Open Sans"/>
                  <a:sym typeface="Open Sans"/>
                </a:rPr>
                <a:t>answer Priy</a:t>
              </a:r>
              <a:r>
                <a:rPr lang="en-GB">
                  <a:solidFill>
                    <a:srgbClr val="FFFFFF"/>
                  </a:solidFill>
                  <a:latin typeface="Open Sans"/>
                  <a:ea typeface="Open Sans"/>
                  <a:cs typeface="Open Sans"/>
                  <a:sym typeface="Open Sans"/>
                </a:rPr>
                <a:t>a’s questions.</a:t>
              </a:r>
              <a:endParaRPr sz="1400">
                <a:solidFill>
                  <a:schemeClr val="dk1"/>
                </a:solidFill>
                <a:latin typeface="Calibri"/>
                <a:ea typeface="Calibri"/>
                <a:cs typeface="Calibri"/>
                <a:sym typeface="Calibri"/>
              </a:endParaRPr>
            </a:p>
          </p:txBody>
        </p:sp>
        <p:sp>
          <p:nvSpPr>
            <p:cNvPr id="632" name="Google Shape;632;p36"/>
            <p:cNvSpPr/>
            <p:nvPr/>
          </p:nvSpPr>
          <p:spPr>
            <a:xfrm>
              <a:off x="651510" y="4560570"/>
              <a:ext cx="79758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300"/>
                <a:buFont typeface="Open Sans"/>
                <a:buNone/>
              </a:pPr>
              <a:r>
                <a:rPr i="1" lang="en-GB" sz="1300">
                  <a:solidFill>
                    <a:srgbClr val="FFFFFF"/>
                  </a:solidFill>
                  <a:latin typeface="Open Sans"/>
                  <a:ea typeface="Open Sans"/>
                  <a:cs typeface="Open Sans"/>
                  <a:sym typeface="Open Sans"/>
                </a:rPr>
                <a:t>Come to L02 ready to dive in!</a:t>
              </a:r>
              <a:endParaRPr sz="1300">
                <a:solidFill>
                  <a:schemeClr val="dk1"/>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38"/>
          <p:cNvSpPr txBox="1"/>
          <p:nvPr>
            <p:ph type="title"/>
          </p:nvPr>
        </p:nvSpPr>
        <p:spPr>
          <a:xfrm>
            <a:off x="376550" y="147875"/>
            <a:ext cx="8310000" cy="7599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GB"/>
              <a:t>End of Lesson - Exit Ticket</a:t>
            </a:r>
            <a:endParaRPr b="1"/>
          </a:p>
        </p:txBody>
      </p:sp>
      <p:pic>
        <p:nvPicPr>
          <p:cNvPr id="663" name="Google Shape;663;p38"/>
          <p:cNvPicPr preferRelativeResize="0"/>
          <p:nvPr/>
        </p:nvPicPr>
        <p:blipFill>
          <a:blip r:embed="rId3">
            <a:alphaModFix/>
          </a:blip>
          <a:stretch>
            <a:fillRect/>
          </a:stretch>
        </p:blipFill>
        <p:spPr>
          <a:xfrm>
            <a:off x="6391250" y="2165525"/>
            <a:ext cx="2719974" cy="2719974"/>
          </a:xfrm>
          <a:prstGeom prst="rect">
            <a:avLst/>
          </a:prstGeom>
          <a:noFill/>
          <a:ln>
            <a:noFill/>
          </a:ln>
        </p:spPr>
      </p:pic>
      <p:sp>
        <p:nvSpPr>
          <p:cNvPr id="664" name="Google Shape;664;p38"/>
          <p:cNvSpPr txBox="1"/>
          <p:nvPr/>
        </p:nvSpPr>
        <p:spPr>
          <a:xfrm>
            <a:off x="376550" y="1589175"/>
            <a:ext cx="71070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400">
                <a:latin typeface="Open Sans"/>
                <a:ea typeface="Open Sans"/>
                <a:cs typeface="Open Sans"/>
                <a:sym typeface="Open Sans"/>
              </a:rPr>
              <a:t>Survey Link</a:t>
            </a:r>
            <a:endParaRPr b="1" sz="2400">
              <a:latin typeface="Open Sans"/>
              <a:ea typeface="Open Sans"/>
              <a:cs typeface="Open Sans"/>
              <a:sym typeface="Open Sans"/>
            </a:endParaRPr>
          </a:p>
          <a:p>
            <a:pPr indent="0" lvl="0" marL="0" rtl="0" algn="ctr">
              <a:spcBef>
                <a:spcPts val="0"/>
              </a:spcBef>
              <a:spcAft>
                <a:spcPts val="0"/>
              </a:spcAft>
              <a:buNone/>
            </a:pPr>
            <a:r>
              <a:t/>
            </a:r>
            <a:endParaRPr sz="2400">
              <a:latin typeface="Open Sans Light"/>
              <a:ea typeface="Open Sans Light"/>
              <a:cs typeface="Open Sans Light"/>
              <a:sym typeface="Open Sans Light"/>
            </a:endParaRPr>
          </a:p>
          <a:p>
            <a:pPr indent="0" lvl="0" marL="0" rtl="0" algn="ctr">
              <a:spcBef>
                <a:spcPts val="0"/>
              </a:spcBef>
              <a:spcAft>
                <a:spcPts val="0"/>
              </a:spcAft>
              <a:buNone/>
            </a:pPr>
            <a:r>
              <a:rPr lang="en-GB" sz="2400">
                <a:latin typeface="Open Sans Light"/>
                <a:ea typeface="Open Sans Light"/>
                <a:cs typeface="Open Sans Light"/>
                <a:sym typeface="Open Sans Light"/>
              </a:rPr>
              <a:t>Slido link will be provided in class</a:t>
            </a:r>
            <a:endParaRPr sz="2400">
              <a:latin typeface="Open Sans Light"/>
              <a:ea typeface="Open Sans Light"/>
              <a:cs typeface="Open Sans Light"/>
              <a:sym typeface="Open Sans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NTU SCTP">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